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193" r:id="rId2"/>
  </p:sldMasterIdLst>
  <p:notesMasterIdLst>
    <p:notesMasterId r:id="rId31"/>
  </p:notesMasterIdLst>
  <p:handoutMasterIdLst>
    <p:handoutMasterId r:id="rId32"/>
  </p:handoutMasterIdLst>
  <p:sldIdLst>
    <p:sldId id="1479" r:id="rId3"/>
    <p:sldId id="2134" r:id="rId4"/>
    <p:sldId id="2135" r:id="rId5"/>
    <p:sldId id="1642" r:id="rId6"/>
    <p:sldId id="1645" r:id="rId7"/>
    <p:sldId id="1648" r:id="rId8"/>
    <p:sldId id="2143" r:id="rId9"/>
    <p:sldId id="2150" r:id="rId10"/>
    <p:sldId id="2151" r:id="rId11"/>
    <p:sldId id="2154" r:id="rId12"/>
    <p:sldId id="2148" r:id="rId13"/>
    <p:sldId id="2149" r:id="rId14"/>
    <p:sldId id="2155" r:id="rId15"/>
    <p:sldId id="2146" r:id="rId16"/>
    <p:sldId id="2145" r:id="rId17"/>
    <p:sldId id="2144" r:id="rId18"/>
    <p:sldId id="2142" r:id="rId19"/>
    <p:sldId id="2136" r:id="rId20"/>
    <p:sldId id="2129" r:id="rId21"/>
    <p:sldId id="1665" r:id="rId22"/>
    <p:sldId id="2139" r:id="rId23"/>
    <p:sldId id="2152" r:id="rId24"/>
    <p:sldId id="2153" r:id="rId25"/>
    <p:sldId id="2156" r:id="rId26"/>
    <p:sldId id="2157" r:id="rId27"/>
    <p:sldId id="2133" r:id="rId28"/>
    <p:sldId id="1663" r:id="rId29"/>
    <p:sldId id="2138" r:id="rId3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1D0D"/>
    <a:srgbClr val="491403"/>
    <a:srgbClr val="5EAADE"/>
    <a:srgbClr val="38579A"/>
    <a:srgbClr val="E99BEB"/>
    <a:srgbClr val="515C63"/>
    <a:srgbClr val="3F4C55"/>
    <a:srgbClr val="31AFB5"/>
    <a:srgbClr val="72B359"/>
    <a:srgbClr val="22363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61D8B3-57F8-4D71-AD42-954AFA20FB2F}" v="2" dt="2025-11-27T10:07:08.5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4" autoAdjust="0"/>
    <p:restoredTop sz="93447" autoAdjust="0"/>
  </p:normalViewPr>
  <p:slideViewPr>
    <p:cSldViewPr>
      <p:cViewPr varScale="1">
        <p:scale>
          <a:sx n="102" d="100"/>
          <a:sy n="102" d="100"/>
        </p:scale>
        <p:origin x="706" y="5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283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wakarkk76@gmail.com" userId="14aa54b3b7e11b18" providerId="LiveId" clId="{286E421E-3D66-4496-B118-27532D2C0F23}"/>
    <pc:docChg chg="custSel modSld">
      <pc:chgData name="diwakarkk76@gmail.com" userId="14aa54b3b7e11b18" providerId="LiveId" clId="{286E421E-3D66-4496-B118-27532D2C0F23}" dt="2025-11-27T10:08:17.244" v="36" actId="313"/>
      <pc:docMkLst>
        <pc:docMk/>
      </pc:docMkLst>
      <pc:sldChg chg="addSp delSp modSp mod">
        <pc:chgData name="diwakarkk76@gmail.com" userId="14aa54b3b7e11b18" providerId="LiveId" clId="{286E421E-3D66-4496-B118-27532D2C0F23}" dt="2025-11-27T10:08:17.244" v="36" actId="313"/>
        <pc:sldMkLst>
          <pc:docMk/>
          <pc:sldMk cId="488849288" sldId="2153"/>
        </pc:sldMkLst>
        <pc:spChg chg="del mod">
          <ac:chgData name="diwakarkk76@gmail.com" userId="14aa54b3b7e11b18" providerId="LiveId" clId="{286E421E-3D66-4496-B118-27532D2C0F23}" dt="2025-11-27T10:06:28.486" v="7"/>
          <ac:spMkLst>
            <pc:docMk/>
            <pc:sldMk cId="488849288" sldId="2153"/>
            <ac:spMk id="9" creationId="{9F334B09-1C89-F6BF-9183-5890DED41B06}"/>
          </ac:spMkLst>
        </pc:spChg>
        <pc:spChg chg="add mod">
          <ac:chgData name="diwakarkk76@gmail.com" userId="14aa54b3b7e11b18" providerId="LiveId" clId="{286E421E-3D66-4496-B118-27532D2C0F23}" dt="2025-11-27T10:08:17.244" v="36" actId="313"/>
          <ac:spMkLst>
            <pc:docMk/>
            <pc:sldMk cId="488849288" sldId="2153"/>
            <ac:spMk id="15" creationId="{AA44D351-9EE4-1843-35A9-F541724778AE}"/>
          </ac:spMkLst>
        </pc:spChg>
        <pc:picChg chg="del">
          <ac:chgData name="diwakarkk76@gmail.com" userId="14aa54b3b7e11b18" providerId="LiveId" clId="{286E421E-3D66-4496-B118-27532D2C0F23}" dt="2025-11-27T10:06:12.644" v="2" actId="478"/>
          <ac:picMkLst>
            <pc:docMk/>
            <pc:sldMk cId="488849288" sldId="2153"/>
            <ac:picMk id="7" creationId="{19FD3125-D52A-3560-6885-902DE940654F}"/>
          </ac:picMkLst>
        </pc:picChg>
        <pc:picChg chg="add mod modCrop">
          <ac:chgData name="diwakarkk76@gmail.com" userId="14aa54b3b7e11b18" providerId="LiveId" clId="{286E421E-3D66-4496-B118-27532D2C0F23}" dt="2025-11-27T10:07:38.526" v="21" actId="1076"/>
          <ac:picMkLst>
            <pc:docMk/>
            <pc:sldMk cId="488849288" sldId="2153"/>
            <ac:picMk id="13" creationId="{913F0DD3-DBFC-125B-CECB-99D4EC8BCA1C}"/>
          </ac:picMkLst>
        </pc:picChg>
      </pc:sldChg>
      <pc:sldChg chg="addSp modSp mod">
        <pc:chgData name="diwakarkk76@gmail.com" userId="14aa54b3b7e11b18" providerId="LiveId" clId="{286E421E-3D66-4496-B118-27532D2C0F23}" dt="2025-11-27T10:06:54.173" v="14" actId="255"/>
        <pc:sldMkLst>
          <pc:docMk/>
          <pc:sldMk cId="2840416355" sldId="2157"/>
        </pc:sldMkLst>
        <pc:spChg chg="mod">
          <ac:chgData name="diwakarkk76@gmail.com" userId="14aa54b3b7e11b18" providerId="LiveId" clId="{286E421E-3D66-4496-B118-27532D2C0F23}" dt="2025-11-27T10:06:54.173" v="14" actId="255"/>
          <ac:spMkLst>
            <pc:docMk/>
            <pc:sldMk cId="2840416355" sldId="2157"/>
            <ac:spMk id="7" creationId="{1334AAE9-18E8-0ABA-233C-395F0ACE938D}"/>
          </ac:spMkLst>
        </pc:spChg>
        <pc:spChg chg="add mod">
          <ac:chgData name="diwakarkk76@gmail.com" userId="14aa54b3b7e11b18" providerId="LiveId" clId="{286E421E-3D66-4496-B118-27532D2C0F23}" dt="2025-11-27T10:06:43.736" v="12" actId="1076"/>
          <ac:spMkLst>
            <pc:docMk/>
            <pc:sldMk cId="2840416355" sldId="2157"/>
            <ac:spMk id="11" creationId="{4F6F7877-80A7-AB43-3744-4CF1CAEBF4F9}"/>
          </ac:spMkLst>
        </pc:spChg>
        <pc:picChg chg="mod">
          <ac:chgData name="diwakarkk76@gmail.com" userId="14aa54b3b7e11b18" providerId="LiveId" clId="{286E421E-3D66-4496-B118-27532D2C0F23}" dt="2025-11-27T10:06:05.201" v="0" actId="1076"/>
          <ac:picMkLst>
            <pc:docMk/>
            <pc:sldMk cId="2840416355" sldId="2157"/>
            <ac:picMk id="5" creationId="{F274E6DB-F059-5D0E-74E9-D0FB7D07E256}"/>
          </ac:picMkLst>
        </pc:picChg>
        <pc:picChg chg="add mod">
          <ac:chgData name="diwakarkk76@gmail.com" userId="14aa54b3b7e11b18" providerId="LiveId" clId="{286E421E-3D66-4496-B118-27532D2C0F23}" dt="2025-11-27T10:06:32.437" v="9" actId="1076"/>
          <ac:picMkLst>
            <pc:docMk/>
            <pc:sldMk cId="2840416355" sldId="2157"/>
            <ac:picMk id="9" creationId="{437B5269-BD4E-9C01-9A61-96671BA9754A}"/>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0D0CDCF-B072-4CC6-B2A3-B1C4F4AE3FFA}" type="datetimeFigureOut">
              <a:rPr lang="en-US" smtClean="0"/>
              <a:pPr/>
              <a:t>11/27/2025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A8A0187-CA69-4ACB-9811-75164F281DE0}" type="slidenum">
              <a:rPr lang="en-US" smtClean="0"/>
              <a:pPr/>
              <a:t>‹#›</a:t>
            </a:fld>
            <a:endParaRPr lang="en-US" dirty="0"/>
          </a:p>
        </p:txBody>
      </p:sp>
    </p:spTree>
    <p:extLst>
      <p:ext uri="{BB962C8B-B14F-4D97-AF65-F5344CB8AC3E}">
        <p14:creationId xmlns:p14="http://schemas.microsoft.com/office/powerpoint/2010/main" val="29588819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663E9E0-D922-418E-8BFA-E41C87CB1E68}" type="datetimeFigureOut">
              <a:rPr lang="en-US" smtClean="0"/>
              <a:pPr/>
              <a:t>11/27/2025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E7D2F9E-D167-4ED3-83EC-AE46EA34BEC3}" type="slidenum">
              <a:rPr lang="en-US" smtClean="0"/>
              <a:pPr/>
              <a:t>‹#›</a:t>
            </a:fld>
            <a:endParaRPr lang="en-US" dirty="0"/>
          </a:p>
        </p:txBody>
      </p:sp>
    </p:spTree>
    <p:extLst>
      <p:ext uri="{BB962C8B-B14F-4D97-AF65-F5344CB8AC3E}">
        <p14:creationId xmlns:p14="http://schemas.microsoft.com/office/powerpoint/2010/main" val="4237720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b="1"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2E7D2F9E-D167-4ED3-83EC-AE46EA34BEC3}" type="slidenum">
              <a:rPr lang="en-US" smtClean="0"/>
              <a:pPr/>
              <a:t>11</a:t>
            </a:fld>
            <a:endParaRPr lang="en-US" dirty="0"/>
          </a:p>
        </p:txBody>
      </p:sp>
    </p:spTree>
    <p:extLst>
      <p:ext uri="{BB962C8B-B14F-4D97-AF65-F5344CB8AC3E}">
        <p14:creationId xmlns:p14="http://schemas.microsoft.com/office/powerpoint/2010/main" val="4096817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2561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A6174F8-1206-42B4-8253-0D1E82F521D8}"/>
              </a:ext>
            </a:extLst>
          </p:cNvPr>
          <p:cNvSpPr>
            <a:spLocks noGrp="1"/>
          </p:cNvSpPr>
          <p:nvPr>
            <p:ph type="body" sz="half" idx="2" hasCustomPrompt="1"/>
          </p:nvPr>
        </p:nvSpPr>
        <p:spPr>
          <a:xfrm>
            <a:off x="387819" y="730530"/>
            <a:ext cx="8368363" cy="173255"/>
          </a:xfrm>
          <a:prstGeom prst="rect">
            <a:avLst/>
          </a:prstGeom>
        </p:spPr>
        <p:txBody>
          <a:bodyPr wrap="none" lIns="0" tIns="0" rIns="0" bIns="0" anchor="ctr">
            <a:noAutofit/>
          </a:bodyPr>
          <a:lstStyle>
            <a:lvl1pPr marL="0" indent="0" algn="l">
              <a:buNone/>
              <a:defRPr sz="1100" b="0" baseline="0">
                <a:solidFill>
                  <a:schemeClr val="bg1">
                    <a:lumMod val="50000"/>
                  </a:schemeClr>
                </a:solidFill>
                <a:latin typeface="+mj-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5" name="Title 2">
            <a:extLst>
              <a:ext uri="{FF2B5EF4-FFF2-40B4-BE49-F238E27FC236}">
                <a16:creationId xmlns:a16="http://schemas.microsoft.com/office/drawing/2014/main" id="{CE59A572-76E8-4055-881A-EC3A9E6FDA57}"/>
              </a:ext>
            </a:extLst>
          </p:cNvPr>
          <p:cNvSpPr>
            <a:spLocks noGrp="1"/>
          </p:cNvSpPr>
          <p:nvPr>
            <p:ph type="title"/>
          </p:nvPr>
        </p:nvSpPr>
        <p:spPr>
          <a:xfrm>
            <a:off x="387819" y="282611"/>
            <a:ext cx="8368363" cy="409459"/>
          </a:xfrm>
          <a:prstGeom prst="rect">
            <a:avLst/>
          </a:prstGeom>
        </p:spPr>
        <p:txBody>
          <a:bodyPr lIns="0" tIns="0" rIns="0" bIns="0" anchor="ctr"/>
          <a:lstStyle>
            <a:lvl1pPr algn="l">
              <a:defRPr sz="2800">
                <a:solidFill>
                  <a:schemeClr val="tx1">
                    <a:lumMod val="75000"/>
                    <a:lumOff val="25000"/>
                  </a:schemeClr>
                </a:solidFill>
                <a:latin typeface="+mj-lt"/>
              </a:defRPr>
            </a:lvl1pPr>
          </a:lstStyle>
          <a:p>
            <a:r>
              <a:rPr lang="en-US" dirty="0"/>
              <a:t>Click to edit Master title style</a:t>
            </a:r>
          </a:p>
        </p:txBody>
      </p:sp>
    </p:spTree>
    <p:extLst>
      <p:ext uri="{BB962C8B-B14F-4D97-AF65-F5344CB8AC3E}">
        <p14:creationId xmlns:p14="http://schemas.microsoft.com/office/powerpoint/2010/main" val="851271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B235AB1-3A9D-4256-B6BB-6B3272A5686D}"/>
              </a:ext>
            </a:extLst>
          </p:cNvPr>
          <p:cNvSpPr>
            <a:spLocks noGrp="1"/>
          </p:cNvSpPr>
          <p:nvPr>
            <p:ph type="body" sz="half" idx="2" hasCustomPrompt="1"/>
          </p:nvPr>
        </p:nvSpPr>
        <p:spPr>
          <a:xfrm>
            <a:off x="387819" y="730530"/>
            <a:ext cx="8368363" cy="173255"/>
          </a:xfrm>
          <a:prstGeom prst="rect">
            <a:avLst/>
          </a:prstGeom>
        </p:spPr>
        <p:txBody>
          <a:bodyPr wrap="none" lIns="0" tIns="0" rIns="0" bIns="0" anchor="ctr">
            <a:noAutofit/>
          </a:bodyPr>
          <a:lstStyle>
            <a:lvl1pPr marL="0" indent="0" algn="l">
              <a:buNone/>
              <a:defRPr sz="1100" b="0" baseline="0">
                <a:solidFill>
                  <a:schemeClr val="bg1"/>
                </a:solidFill>
                <a:latin typeface="+mj-lt"/>
                <a:ea typeface="Roboto" panose="02000000000000000000" pitchFamily="2" charset="0"/>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EDITE SUBTITLE</a:t>
            </a:r>
          </a:p>
        </p:txBody>
      </p:sp>
      <p:sp>
        <p:nvSpPr>
          <p:cNvPr id="5" name="Title 2">
            <a:extLst>
              <a:ext uri="{FF2B5EF4-FFF2-40B4-BE49-F238E27FC236}">
                <a16:creationId xmlns:a16="http://schemas.microsoft.com/office/drawing/2014/main" id="{2C460F2B-268D-49B2-9922-3D4C88D7F60B}"/>
              </a:ext>
            </a:extLst>
          </p:cNvPr>
          <p:cNvSpPr>
            <a:spLocks noGrp="1"/>
          </p:cNvSpPr>
          <p:nvPr>
            <p:ph type="title"/>
          </p:nvPr>
        </p:nvSpPr>
        <p:spPr>
          <a:xfrm>
            <a:off x="387819" y="282611"/>
            <a:ext cx="8368363" cy="409459"/>
          </a:xfrm>
          <a:prstGeom prst="rect">
            <a:avLst/>
          </a:prstGeom>
        </p:spPr>
        <p:txBody>
          <a:bodyPr lIns="0" tIns="0" rIns="0" bIns="0" anchor="ctr"/>
          <a:lstStyle>
            <a:lvl1pPr algn="l">
              <a:defRPr sz="2800">
                <a:solidFill>
                  <a:schemeClr val="bg1"/>
                </a:solidFill>
                <a:latin typeface="+mj-lt"/>
              </a:defRPr>
            </a:lvl1pPr>
          </a:lstStyle>
          <a:p>
            <a:r>
              <a:rPr lang="en-US" dirty="0"/>
              <a:t>Click to edit Master title style</a:t>
            </a:r>
          </a:p>
        </p:txBody>
      </p:sp>
    </p:spTree>
    <p:extLst>
      <p:ext uri="{BB962C8B-B14F-4D97-AF65-F5344CB8AC3E}">
        <p14:creationId xmlns:p14="http://schemas.microsoft.com/office/powerpoint/2010/main" val="24768840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Inhaltsplatzhalter 4"/>
          <p:cNvSpPr txBox="1">
            <a:spLocks/>
          </p:cNvSpPr>
          <p:nvPr userDrawn="1"/>
        </p:nvSpPr>
        <p:spPr>
          <a:xfrm>
            <a:off x="5715000" y="4849915"/>
            <a:ext cx="3048000" cy="1384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sz="1000" kern="1200" dirty="0">
                <a:solidFill>
                  <a:schemeClr val="bg1">
                    <a:lumMod val="75000"/>
                  </a:schemeClr>
                </a:solidFill>
                <a:effectLst/>
                <a:latin typeface="Calibri Light" panose="020F0302020204030204" pitchFamily="34" charset="0"/>
                <a:ea typeface="+mn-ea"/>
                <a:cs typeface="+mn-cs"/>
              </a:rPr>
              <a:t>Copyright (C)</a:t>
            </a:r>
            <a:r>
              <a:rPr lang="en-US" sz="1000" kern="1200" baseline="0" dirty="0">
                <a:solidFill>
                  <a:schemeClr val="bg1">
                    <a:lumMod val="75000"/>
                  </a:schemeClr>
                </a:solidFill>
                <a:effectLst/>
                <a:latin typeface="Calibri Light" panose="020F0302020204030204" pitchFamily="34" charset="0"/>
                <a:ea typeface="+mn-ea"/>
                <a:cs typeface="+mn-cs"/>
              </a:rPr>
              <a:t> </a:t>
            </a:r>
            <a:r>
              <a:rPr lang="en-US" sz="1000" kern="1200" dirty="0">
                <a:solidFill>
                  <a:schemeClr val="bg1">
                    <a:lumMod val="75000"/>
                  </a:schemeClr>
                </a:solidFill>
                <a:effectLst/>
                <a:latin typeface="Calibri Light" panose="020F0302020204030204" pitchFamily="34" charset="0"/>
                <a:ea typeface="+mn-ea"/>
                <a:cs typeface="+mn-cs"/>
              </a:rPr>
              <a:t>SlideSalad.com All rights reserved.</a:t>
            </a:r>
          </a:p>
        </p:txBody>
      </p:sp>
      <p:sp>
        <p:nvSpPr>
          <p:cNvPr id="15" name="Inhaltsplatzhalter 4"/>
          <p:cNvSpPr txBox="1">
            <a:spLocks/>
          </p:cNvSpPr>
          <p:nvPr userDrawn="1"/>
        </p:nvSpPr>
        <p:spPr>
          <a:xfrm>
            <a:off x="400050" y="4849915"/>
            <a:ext cx="3048000" cy="1384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1000" kern="1200" dirty="0">
                <a:solidFill>
                  <a:schemeClr val="bg1">
                    <a:lumMod val="75000"/>
                  </a:schemeClr>
                </a:solidFill>
                <a:effectLst/>
                <a:latin typeface="Calibri Light" panose="020F0302020204030204" pitchFamily="34" charset="0"/>
                <a:ea typeface="+mn-ea"/>
                <a:cs typeface="+mn-cs"/>
              </a:rPr>
              <a:t>Free SlideSalad</a:t>
            </a:r>
            <a:r>
              <a:rPr lang="en-US" sz="1000" kern="1200" baseline="0" dirty="0">
                <a:solidFill>
                  <a:schemeClr val="bg1">
                    <a:lumMod val="75000"/>
                  </a:schemeClr>
                </a:solidFill>
                <a:effectLst/>
                <a:latin typeface="Calibri Light" panose="020F0302020204030204" pitchFamily="34" charset="0"/>
                <a:ea typeface="+mn-ea"/>
                <a:cs typeface="+mn-cs"/>
              </a:rPr>
              <a:t> Google Slides Template</a:t>
            </a:r>
            <a:endParaRPr lang="en-US" sz="1000" kern="1200" dirty="0">
              <a:solidFill>
                <a:schemeClr val="bg1">
                  <a:lumMod val="75000"/>
                </a:schemeClr>
              </a:solidFill>
              <a:effectLst/>
              <a:latin typeface="Calibri Light" panose="020F0302020204030204" pitchFamily="34" charset="0"/>
              <a:ea typeface="+mn-ea"/>
              <a:cs typeface="+mn-cs"/>
            </a:endParaRPr>
          </a:p>
        </p:txBody>
      </p:sp>
      <p:cxnSp>
        <p:nvCxnSpPr>
          <p:cNvPr id="17" name="Straight Connector 16"/>
          <p:cNvCxnSpPr/>
          <p:nvPr userDrawn="1"/>
        </p:nvCxnSpPr>
        <p:spPr>
          <a:xfrm>
            <a:off x="0" y="4682490"/>
            <a:ext cx="9144000"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9" name="Picture 1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038599" y="4826200"/>
            <a:ext cx="1066802" cy="185928"/>
          </a:xfrm>
          <a:prstGeom prst="rect">
            <a:avLst/>
          </a:prstGeom>
        </p:spPr>
      </p:pic>
    </p:spTree>
  </p:cSld>
  <p:clrMap bg1="lt1" tx1="dk1" bg2="lt2" tx2="dk2" accent1="accent1" accent2="accent2" accent3="accent3" accent4="accent4" accent5="accent5" accent6="accent6" hlink="hlink" folHlink="folHlink"/>
  <p:sldLayoutIdLst>
    <p:sldLayoutId id="2147483915" r:id="rId1"/>
    <p:sldLayoutId id="2147484190" r:id="rId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9144000" cy="5143500"/>
          </a:xfrm>
          <a:prstGeom prst="rect">
            <a:avLst/>
          </a:prstGeom>
          <a:solidFill>
            <a:srgbClr val="72B3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Inhaltsplatzhalter 4"/>
          <p:cNvSpPr txBox="1">
            <a:spLocks/>
          </p:cNvSpPr>
          <p:nvPr userDrawn="1"/>
        </p:nvSpPr>
        <p:spPr>
          <a:xfrm>
            <a:off x="5715000" y="4849915"/>
            <a:ext cx="3048000" cy="1384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sz="1000" kern="1200" dirty="0">
                <a:solidFill>
                  <a:schemeClr val="bg1"/>
                </a:solidFill>
                <a:effectLst/>
                <a:latin typeface="Calibri Light" panose="020F0302020204030204" pitchFamily="34" charset="0"/>
                <a:ea typeface="+mn-ea"/>
                <a:cs typeface="+mn-cs"/>
              </a:rPr>
              <a:t>Copyright (C)</a:t>
            </a:r>
            <a:r>
              <a:rPr lang="en-US" sz="1000" kern="1200" baseline="0" dirty="0">
                <a:solidFill>
                  <a:schemeClr val="bg1"/>
                </a:solidFill>
                <a:effectLst/>
                <a:latin typeface="Calibri Light" panose="020F0302020204030204" pitchFamily="34" charset="0"/>
                <a:ea typeface="+mn-ea"/>
                <a:cs typeface="+mn-cs"/>
              </a:rPr>
              <a:t> </a:t>
            </a:r>
            <a:r>
              <a:rPr lang="en-US" sz="1000" kern="1200" dirty="0">
                <a:solidFill>
                  <a:schemeClr val="bg1"/>
                </a:solidFill>
                <a:effectLst/>
                <a:latin typeface="Calibri Light" panose="020F0302020204030204" pitchFamily="34" charset="0"/>
                <a:ea typeface="+mn-ea"/>
                <a:cs typeface="+mn-cs"/>
              </a:rPr>
              <a:t>SlideSalad.com All rights reserved.</a:t>
            </a:r>
          </a:p>
        </p:txBody>
      </p:sp>
      <p:sp>
        <p:nvSpPr>
          <p:cNvPr id="8" name="Inhaltsplatzhalter 4"/>
          <p:cNvSpPr txBox="1">
            <a:spLocks/>
          </p:cNvSpPr>
          <p:nvPr userDrawn="1"/>
        </p:nvSpPr>
        <p:spPr>
          <a:xfrm>
            <a:off x="400050" y="4849915"/>
            <a:ext cx="3048000" cy="1384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1000" kern="1200" dirty="0">
                <a:solidFill>
                  <a:schemeClr val="bg1"/>
                </a:solidFill>
                <a:effectLst/>
                <a:latin typeface="Calibri Light" panose="020F0302020204030204" pitchFamily="34" charset="0"/>
                <a:ea typeface="+mn-ea"/>
                <a:cs typeface="+mn-cs"/>
              </a:rPr>
              <a:t>Free SlideSalad</a:t>
            </a:r>
            <a:r>
              <a:rPr lang="en-US" sz="1000" kern="1200" baseline="0" dirty="0">
                <a:solidFill>
                  <a:schemeClr val="bg1"/>
                </a:solidFill>
                <a:effectLst/>
                <a:latin typeface="Calibri Light" panose="020F0302020204030204" pitchFamily="34" charset="0"/>
                <a:ea typeface="+mn-ea"/>
                <a:cs typeface="+mn-cs"/>
              </a:rPr>
              <a:t> Google Slides Template</a:t>
            </a:r>
            <a:endParaRPr lang="en-US" sz="1000" kern="1200" dirty="0">
              <a:solidFill>
                <a:schemeClr val="bg1"/>
              </a:solidFill>
              <a:effectLst/>
              <a:latin typeface="Calibri Light" panose="020F0302020204030204" pitchFamily="34" charset="0"/>
              <a:ea typeface="+mn-ea"/>
              <a:cs typeface="+mn-cs"/>
            </a:endParaRPr>
          </a:p>
        </p:txBody>
      </p: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38599" y="4826200"/>
            <a:ext cx="1066802" cy="185928"/>
          </a:xfrm>
          <a:prstGeom prst="rect">
            <a:avLst/>
          </a:prstGeom>
        </p:spPr>
      </p:pic>
      <p:cxnSp>
        <p:nvCxnSpPr>
          <p:cNvPr id="12" name="Straight Connector 11">
            <a:extLst>
              <a:ext uri="{FF2B5EF4-FFF2-40B4-BE49-F238E27FC236}">
                <a16:creationId xmlns:a16="http://schemas.microsoft.com/office/drawing/2014/main" id="{1033B07F-7277-437C-B588-EC1DB23275A6}"/>
              </a:ext>
            </a:extLst>
          </p:cNvPr>
          <p:cNvCxnSpPr/>
          <p:nvPr userDrawn="1"/>
        </p:nvCxnSpPr>
        <p:spPr>
          <a:xfrm>
            <a:off x="0" y="4682490"/>
            <a:ext cx="9144000"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23426"/>
      </p:ext>
    </p:extLst>
  </p:cSld>
  <p:clrMap bg1="lt1" tx1="dk1" bg2="lt2" tx2="dk2" accent1="accent1" accent2="accent2" accent3="accent3" accent4="accent4" accent5="accent5" accent6="accent6" hlink="hlink" folHlink="folHlink"/>
  <p:sldLayoutIdLst>
    <p:sldLayoutId id="2147484204"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jpg"/></Relationships>
</file>

<file path=ppt/slides/_rels/slide2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91D17EF-ACC8-4592-8173-3A67274EABF4}"/>
              </a:ext>
            </a:extLst>
          </p:cNvPr>
          <p:cNvSpPr/>
          <p:nvPr/>
        </p:nvSpPr>
        <p:spPr>
          <a:xfrm>
            <a:off x="405562" y="2699661"/>
            <a:ext cx="1188720" cy="544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solidFill>
                <a:schemeClr val="bg1"/>
              </a:solidFill>
            </a:endParaRPr>
          </a:p>
        </p:txBody>
      </p:sp>
      <p:pic>
        <p:nvPicPr>
          <p:cNvPr id="5" name="Picture 4">
            <a:extLst>
              <a:ext uri="{FF2B5EF4-FFF2-40B4-BE49-F238E27FC236}">
                <a16:creationId xmlns:a16="http://schemas.microsoft.com/office/drawing/2014/main" id="{71A25743-4FC9-F2C7-A19F-809F2B827DBD}"/>
              </a:ext>
            </a:extLst>
          </p:cNvPr>
          <p:cNvPicPr>
            <a:picLocks noChangeAspect="1"/>
          </p:cNvPicPr>
          <p:nvPr/>
        </p:nvPicPr>
        <p:blipFill>
          <a:blip r:embed="rId2" cstate="print">
            <a:extLst>
              <a:ext uri="{28A0092B-C50C-407E-A947-70E740481C1C}">
                <a14:useLocalDpi xmlns:a14="http://schemas.microsoft.com/office/drawing/2010/main" val="0"/>
              </a:ext>
            </a:extLst>
          </a:blip>
          <a:srcRect l="10331" r="12185"/>
          <a:stretch/>
        </p:blipFill>
        <p:spPr>
          <a:xfrm>
            <a:off x="120212" y="100262"/>
            <a:ext cx="1143000" cy="1106458"/>
          </a:xfrm>
          <a:prstGeom prst="rect">
            <a:avLst/>
          </a:prstGeom>
        </p:spPr>
      </p:pic>
      <p:sp>
        <p:nvSpPr>
          <p:cNvPr id="17" name="Title 2">
            <a:extLst>
              <a:ext uri="{FF2B5EF4-FFF2-40B4-BE49-F238E27FC236}">
                <a16:creationId xmlns:a16="http://schemas.microsoft.com/office/drawing/2014/main" id="{47ED552C-2586-4AF0-835F-5083B5B4DF2E}"/>
              </a:ext>
            </a:extLst>
          </p:cNvPr>
          <p:cNvSpPr txBox="1">
            <a:spLocks/>
          </p:cNvSpPr>
          <p:nvPr/>
        </p:nvSpPr>
        <p:spPr>
          <a:xfrm>
            <a:off x="1120560" y="302843"/>
            <a:ext cx="6858628" cy="615553"/>
          </a:xfrm>
          <a:prstGeom prst="rect">
            <a:avLst/>
          </a:prstGeom>
        </p:spPr>
        <p:txBody>
          <a:bodyPr wrap="square" lIns="0" tIns="0" rIns="0" bIns="0" anchor="t">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b="1" dirty="0">
                <a:latin typeface="Times New Roman" panose="02020603050405020304" pitchFamily="18" charset="0"/>
                <a:cs typeface="Times New Roman" panose="02020603050405020304" pitchFamily="18" charset="0"/>
              </a:rPr>
              <a:t>DEPARTMENT OF </a:t>
            </a:r>
          </a:p>
          <a:p>
            <a:r>
              <a:rPr lang="en-US" sz="2000" b="1" dirty="0">
                <a:latin typeface="Times New Roman" panose="02020603050405020304" pitchFamily="18" charset="0"/>
                <a:cs typeface="Times New Roman" panose="02020603050405020304" pitchFamily="18" charset="0"/>
              </a:rPr>
              <a:t>ELECTRONICS AND COMMUNICATION ENGINEERING</a:t>
            </a:r>
          </a:p>
        </p:txBody>
      </p:sp>
      <p:sp>
        <p:nvSpPr>
          <p:cNvPr id="7" name="Title 2">
            <a:extLst>
              <a:ext uri="{FF2B5EF4-FFF2-40B4-BE49-F238E27FC236}">
                <a16:creationId xmlns:a16="http://schemas.microsoft.com/office/drawing/2014/main" id="{0BDB77A7-45F1-686C-CE9F-1E95CE354DC0}"/>
              </a:ext>
            </a:extLst>
          </p:cNvPr>
          <p:cNvSpPr txBox="1">
            <a:spLocks/>
          </p:cNvSpPr>
          <p:nvPr/>
        </p:nvSpPr>
        <p:spPr>
          <a:xfrm>
            <a:off x="1447800" y="11435"/>
            <a:ext cx="6858627" cy="369332"/>
          </a:xfrm>
          <a:prstGeom prst="rect">
            <a:avLst/>
          </a:prstGeom>
        </p:spPr>
        <p:txBody>
          <a:bodyPr wrap="square" lIns="0" tIns="0" rIns="0" bIns="0" anchor="t">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a:latin typeface="Times New Roman" panose="02020603050405020304" pitchFamily="18" charset="0"/>
                <a:cs typeface="Times New Roman" panose="02020603050405020304" pitchFamily="18" charset="0"/>
              </a:rPr>
              <a:t>SAI VIDYA INSTITUTE OF TECHNOLOGY</a:t>
            </a:r>
            <a:endParaRPr lang="en-US" sz="1600" b="1" dirty="0">
              <a:latin typeface="Times New Roman" panose="02020603050405020304" pitchFamily="18" charset="0"/>
              <a:cs typeface="Times New Roman" panose="02020603050405020304" pitchFamily="18" charset="0"/>
            </a:endParaRPr>
          </a:p>
        </p:txBody>
      </p:sp>
      <p:sp>
        <p:nvSpPr>
          <p:cNvPr id="18" name="Inhaltsplatzhalter 4">
            <a:extLst>
              <a:ext uri="{FF2B5EF4-FFF2-40B4-BE49-F238E27FC236}">
                <a16:creationId xmlns:a16="http://schemas.microsoft.com/office/drawing/2014/main" id="{DC6B21AA-674A-4E60-9D56-EC9434082445}"/>
              </a:ext>
            </a:extLst>
          </p:cNvPr>
          <p:cNvSpPr txBox="1">
            <a:spLocks/>
          </p:cNvSpPr>
          <p:nvPr/>
        </p:nvSpPr>
        <p:spPr>
          <a:xfrm>
            <a:off x="405562" y="2892418"/>
            <a:ext cx="3121363" cy="353943"/>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600"/>
              </a:spcAft>
              <a:buNone/>
            </a:pPr>
            <a:r>
              <a:rPr lang="en-IN" dirty="0"/>
              <a:t>A</a:t>
            </a:r>
            <a:endParaRPr lang="en-US" sz="2400" b="1" dirty="0">
              <a:solidFill>
                <a:schemeClr val="tx1"/>
              </a:solidFill>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A44741F9-0C01-CB95-7231-391EF80DD276}"/>
              </a:ext>
            </a:extLst>
          </p:cNvPr>
          <p:cNvSpPr txBox="1">
            <a:spLocks/>
          </p:cNvSpPr>
          <p:nvPr/>
        </p:nvSpPr>
        <p:spPr>
          <a:xfrm>
            <a:off x="1263212" y="996429"/>
            <a:ext cx="6629400" cy="800219"/>
          </a:xfrm>
          <a:prstGeom prst="rect">
            <a:avLst/>
          </a:prstGeom>
        </p:spPr>
        <p:txBody>
          <a:bodyPr wrap="square" lIns="0" tIns="0" rIns="0" bIns="0" anchor="t">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dirty="0">
                <a:latin typeface="Times New Roman" panose="02020603050405020304" pitchFamily="18" charset="0"/>
                <a:cs typeface="Times New Roman" panose="02020603050405020304" pitchFamily="18" charset="0"/>
              </a:rPr>
              <a:t>PHASE </a:t>
            </a:r>
            <a:r>
              <a:rPr lang="en-IN" sz="1800" dirty="0"/>
              <a:t>II</a:t>
            </a:r>
            <a:r>
              <a:rPr lang="en-US" sz="1800" dirty="0">
                <a:latin typeface="Times New Roman" panose="02020603050405020304" pitchFamily="18" charset="0"/>
                <a:cs typeface="Times New Roman" panose="02020603050405020304" pitchFamily="18" charset="0"/>
              </a:rPr>
              <a:t> MAJOR PROJECT (</a:t>
            </a:r>
            <a:r>
              <a:rPr lang="en-IN" sz="1800" dirty="0"/>
              <a:t>BEC786</a:t>
            </a:r>
            <a:r>
              <a:rPr lang="en-US" sz="1800" dirty="0">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638E1CE5-B8C5-F757-3F7D-5A57C25A0875}"/>
              </a:ext>
            </a:extLst>
          </p:cNvPr>
          <p:cNvPicPr>
            <a:picLocks noChangeAspect="1"/>
          </p:cNvPicPr>
          <p:nvPr/>
        </p:nvPicPr>
        <p:blipFill>
          <a:blip r:embed="rId3" cstate="print">
            <a:extLst>
              <a:ext uri="{28A0092B-C50C-407E-A947-70E740481C1C}">
                <a14:useLocalDpi xmlns:a14="http://schemas.microsoft.com/office/drawing/2010/main" val="0"/>
              </a:ext>
            </a:extLst>
          </a:blip>
          <a:srcRect l="9618" r="13122"/>
          <a:stretch/>
        </p:blipFill>
        <p:spPr>
          <a:xfrm>
            <a:off x="7942402" y="63220"/>
            <a:ext cx="1143000" cy="1256894"/>
          </a:xfrm>
          <a:prstGeom prst="rect">
            <a:avLst/>
          </a:prstGeom>
        </p:spPr>
      </p:pic>
      <p:pic>
        <p:nvPicPr>
          <p:cNvPr id="6" name="Picture 5"/>
          <p:cNvPicPr>
            <a:picLocks noChangeAspect="1"/>
          </p:cNvPicPr>
          <p:nvPr/>
        </p:nvPicPr>
        <p:blipFill>
          <a:blip r:embed="rId4"/>
          <a:stretch>
            <a:fillRect/>
          </a:stretch>
        </p:blipFill>
        <p:spPr>
          <a:xfrm>
            <a:off x="243973" y="3153364"/>
            <a:ext cx="3444539" cy="1774090"/>
          </a:xfrm>
          <a:prstGeom prst="rect">
            <a:avLst/>
          </a:prstGeom>
        </p:spPr>
      </p:pic>
      <p:pic>
        <p:nvPicPr>
          <p:cNvPr id="8" name="Picture 7"/>
          <p:cNvPicPr>
            <a:picLocks noChangeAspect="1"/>
          </p:cNvPicPr>
          <p:nvPr/>
        </p:nvPicPr>
        <p:blipFill>
          <a:blip r:embed="rId5"/>
          <a:stretch>
            <a:fillRect/>
          </a:stretch>
        </p:blipFill>
        <p:spPr>
          <a:xfrm>
            <a:off x="5074057" y="3246361"/>
            <a:ext cx="3426249" cy="853514"/>
          </a:xfrm>
          <a:prstGeom prst="rect">
            <a:avLst/>
          </a:prstGeom>
        </p:spPr>
      </p:pic>
      <p:sp>
        <p:nvSpPr>
          <p:cNvPr id="4" name="Rectangle 3"/>
          <p:cNvSpPr/>
          <p:nvPr/>
        </p:nvSpPr>
        <p:spPr>
          <a:xfrm>
            <a:off x="599441" y="1806782"/>
            <a:ext cx="7900865" cy="954107"/>
          </a:xfrm>
          <a:prstGeom prst="rect">
            <a:avLst/>
          </a:prstGeom>
        </p:spPr>
        <p:txBody>
          <a:bodyPr wrap="square">
            <a:spAutoFit/>
          </a:bodyPr>
          <a:lstStyle/>
          <a:p>
            <a:pPr algn="ctr"/>
            <a:r>
              <a:rPr lang="en-US" sz="2800" dirty="0"/>
              <a:t>DESIGN AND IMPLEMENTATION OF CIRCULAR MICROSTRIP PATCH ANTENNA</a:t>
            </a:r>
            <a:endParaRPr lang="en-IN" sz="2800" b="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5670145" y="3939016"/>
            <a:ext cx="3510641" cy="646331"/>
          </a:xfrm>
          <a:prstGeom prst="rect">
            <a:avLst/>
          </a:prstGeom>
          <a:noFill/>
        </p:spPr>
        <p:txBody>
          <a:bodyPr wrap="none" rtlCol="0">
            <a:spAutoFit/>
          </a:bodyPr>
          <a:lstStyle/>
          <a:p>
            <a:r>
              <a:rPr lang="en-US" dirty="0"/>
              <a:t>Department of ECE </a:t>
            </a:r>
          </a:p>
          <a:p>
            <a:r>
              <a:rPr lang="en-US" dirty="0"/>
              <a:t>Sai </a:t>
            </a:r>
            <a:r>
              <a:rPr lang="en-US" dirty="0" err="1"/>
              <a:t>Vidya</a:t>
            </a:r>
            <a:r>
              <a:rPr lang="en-US" dirty="0"/>
              <a:t> Institute of Technology</a:t>
            </a:r>
            <a:endParaRPr lang="en-IN" dirty="0"/>
          </a:p>
        </p:txBody>
      </p:sp>
      <p:sp>
        <p:nvSpPr>
          <p:cNvPr id="14" name="Rectangle: Rounded Corners 4">
            <a:extLst>
              <a:ext uri="{FF2B5EF4-FFF2-40B4-BE49-F238E27FC236}">
                <a16:creationId xmlns:a16="http://schemas.microsoft.com/office/drawing/2014/main" id="{E29E48F0-8CF4-2421-0FCD-B054F14784FB}"/>
              </a:ext>
            </a:extLst>
          </p:cNvPr>
          <p:cNvSpPr/>
          <p:nvPr/>
        </p:nvSpPr>
        <p:spPr bwMode="auto">
          <a:xfrm>
            <a:off x="0" y="4640503"/>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MAJOR PROJECT PHASE </a:t>
            </a:r>
            <a:r>
              <a:rPr lang="en-US" sz="1600" dirty="0">
                <a:solidFill>
                  <a:schemeClr val="bg1"/>
                </a:solidFill>
                <a:latin typeface="Times New Roman" panose="02020603050405020304" pitchFamily="18" charset="0"/>
                <a:cs typeface="Times New Roman" panose="02020603050405020304" pitchFamily="18" charset="0"/>
              </a:rPr>
              <a:t> </a:t>
            </a:r>
            <a:r>
              <a:rPr lang="en-IN" sz="1600" dirty="0">
                <a:solidFill>
                  <a:schemeClr val="bg1"/>
                </a:solidFill>
              </a:rPr>
              <a:t>II</a:t>
            </a:r>
            <a:r>
              <a:rPr lang="en-US" sz="1600" dirty="0">
                <a:solidFill>
                  <a:schemeClr val="bg1"/>
                </a:solidFill>
                <a:latin typeface="Times New Roman" panose="02020603050405020304" pitchFamily="18" charset="0"/>
                <a:cs typeface="Times New Roman" panose="02020603050405020304" pitchFamily="18" charset="0"/>
              </a:rPr>
              <a:t> </a:t>
            </a:r>
            <a:r>
              <a:rPr lang="en-US" sz="1600" b="1" dirty="0">
                <a:solidFill>
                  <a:schemeClr val="bg1"/>
                </a:solidFill>
                <a:latin typeface="Times New Roman" panose="02020603050405020304" pitchFamily="18" charset="0"/>
                <a:cs typeface="Times New Roman" panose="02020603050405020304" pitchFamily="18" charset="0"/>
              </a:rPr>
              <a:t> (BEC786)</a:t>
            </a:r>
          </a:p>
        </p:txBody>
      </p:sp>
    </p:spTree>
    <p:extLst>
      <p:ext uri="{BB962C8B-B14F-4D97-AF65-F5344CB8AC3E}">
        <p14:creationId xmlns:p14="http://schemas.microsoft.com/office/powerpoint/2010/main" val="37739725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80000" fill="hold" grpId="0" nodeType="afterEffect">
                                  <p:stCondLst>
                                    <p:cond delay="0"/>
                                  </p:stCondLst>
                                  <p:iterate type="wd">
                                    <p:tmPct val="10000"/>
                                  </p:iterate>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par>
                          <p:cTn id="9" fill="hold">
                            <p:stCondLst>
                              <p:cond delay="750"/>
                            </p:stCondLst>
                            <p:childTnLst>
                              <p:par>
                                <p:cTn id="10" presetID="22" presetClass="entr" presetSubtype="8" fill="hold" grpId="0" nodeType="after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par>
                          <p:cTn id="13" fill="hold">
                            <p:stCondLst>
                              <p:cond delay="1250"/>
                            </p:stCondLst>
                            <p:childTnLst>
                              <p:par>
                                <p:cTn id="14" presetID="22" presetClass="entr" presetSubtype="8" fill="hold" grpId="0" nodeType="after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500"/>
                                        <p:tgtEl>
                                          <p:spTgt spid="18"/>
                                        </p:tgtEl>
                                      </p:cBhvr>
                                    </p:animEffect>
                                  </p:childTnLst>
                                </p:cTn>
                              </p:par>
                            </p:childTnLst>
                          </p:cTn>
                        </p:par>
                        <p:par>
                          <p:cTn id="17" fill="hold">
                            <p:stCondLst>
                              <p:cond delay="1750"/>
                            </p:stCondLst>
                            <p:childTnLst>
                              <p:par>
                                <p:cTn id="18" presetID="2" presetClass="entr" presetSubtype="4" accel="20000" decel="80000" fill="hold" grpId="0" nodeType="afterEffect">
                                  <p:stCondLst>
                                    <p:cond delay="0"/>
                                  </p:stCondLst>
                                  <p:iterate type="wd">
                                    <p:tmPct val="10000"/>
                                  </p:iterate>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par>
                          <p:cTn id="22" fill="hold">
                            <p:stCondLst>
                              <p:cond delay="2450"/>
                            </p:stCondLst>
                            <p:childTnLst>
                              <p:par>
                                <p:cTn id="23" presetID="2" presetClass="entr" presetSubtype="4" accel="20000" decel="80000" fill="hold" grpId="0" nodeType="afterEffect">
                                  <p:stCondLst>
                                    <p:cond delay="0"/>
                                  </p:stCondLst>
                                  <p:iterate type="wd">
                                    <p:tmPct val="10000"/>
                                  </p:iterate>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7" grpId="0"/>
      <p:bldP spid="18"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CCDF7-E080-F19A-159D-36CBA9F2455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2DA6C09-8C90-D79A-7235-806DCA8EBF09}"/>
              </a:ext>
            </a:extLst>
          </p:cNvPr>
          <p:cNvSpPr/>
          <p:nvPr/>
        </p:nvSpPr>
        <p:spPr bwMode="auto">
          <a:xfrm>
            <a:off x="287776" y="522134"/>
            <a:ext cx="8627624" cy="4183215"/>
          </a:xfrm>
          <a:prstGeom prst="rect">
            <a:avLst/>
          </a:prstGeom>
          <a:solidFill>
            <a:schemeClr val="bg2"/>
          </a:solidFill>
          <a:ln w="9525">
            <a:noFill/>
            <a:round/>
            <a:headEnd/>
            <a:tailEnd/>
          </a:ln>
        </p:spPr>
        <p:txBody>
          <a:bodyPr vert="horz" wrap="square" lIns="91440" tIns="45720" rIns="91440" bIns="45720" numCol="1" rtlCol="0" anchor="t" anchorCtr="0" compatLnSpc="1">
            <a:prstTxWarp prst="textNoShape">
              <a:avLst/>
            </a:prstTxWarp>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 would like to express my heartfelt gratitude to everyone who has contributed for commencement of Major Project Phase </a:t>
            </a:r>
            <a:r>
              <a:rPr lang="en-IN" dirty="0"/>
              <a:t>II</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[BEC786].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would like to thank the Management and </a:t>
            </a:r>
            <a:r>
              <a:rPr lang="en-US" b="1" dirty="0">
                <a:latin typeface="Times New Roman" panose="02020603050405020304" pitchFamily="18" charset="0"/>
                <a:cs typeface="Times New Roman" panose="02020603050405020304" pitchFamily="18" charset="0"/>
              </a:rPr>
              <a:t>Prof. M R Holla</a:t>
            </a:r>
            <a:r>
              <a:rPr lang="en-US" dirty="0">
                <a:latin typeface="Times New Roman" panose="02020603050405020304" pitchFamily="18" charset="0"/>
                <a:cs typeface="Times New Roman" panose="02020603050405020304" pitchFamily="18" charset="0"/>
              </a:rPr>
              <a:t>, Director,                                  </a:t>
            </a:r>
            <a:r>
              <a:rPr lang="en-US" b="1" dirty="0">
                <a:latin typeface="Times New Roman" panose="02020603050405020304" pitchFamily="18" charset="0"/>
                <a:cs typeface="Times New Roman" panose="02020603050405020304" pitchFamily="18" charset="0"/>
              </a:rPr>
              <a:t>Dr. A M Padma Reddy</a:t>
            </a:r>
            <a:r>
              <a:rPr lang="en-US" dirty="0">
                <a:latin typeface="Times New Roman" panose="02020603050405020304" pitchFamily="18" charset="0"/>
                <a:cs typeface="Times New Roman" panose="02020603050405020304" pitchFamily="18" charset="0"/>
              </a:rPr>
              <a:t>, Additional Director, Sai Vidya Institute of Technology for providing facilities and supporting us.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wish to express our sincere gratitude to </a:t>
            </a:r>
            <a:r>
              <a:rPr lang="en-US" b="1" dirty="0">
                <a:latin typeface="Times New Roman" panose="02020603050405020304" pitchFamily="18" charset="0"/>
                <a:cs typeface="Times New Roman" panose="02020603050405020304" pitchFamily="18" charset="0"/>
              </a:rPr>
              <a:t>Dr. Y JAYASIMHA</a:t>
            </a:r>
            <a:r>
              <a:rPr lang="en-US" dirty="0">
                <a:latin typeface="Times New Roman" panose="02020603050405020304" pitchFamily="18" charset="0"/>
                <a:cs typeface="Times New Roman" panose="02020603050405020304" pitchFamily="18" charset="0"/>
              </a:rPr>
              <a:t>, Dean Academics and Professor, Department of ECE, Our beloved Principal </a:t>
            </a:r>
            <a:r>
              <a:rPr lang="en-US" b="1" dirty="0">
                <a:latin typeface="Times New Roman" panose="02020603050405020304" pitchFamily="18" charset="0"/>
                <a:cs typeface="Times New Roman" panose="02020603050405020304" pitchFamily="18" charset="0"/>
              </a:rPr>
              <a:t>Dr. </a:t>
            </a:r>
            <a:r>
              <a:rPr lang="en-IN" b="1" dirty="0" err="1"/>
              <a:t>Manjunath</a:t>
            </a:r>
            <a:r>
              <a:rPr lang="en-IN" b="1" dirty="0"/>
              <a:t> T N</a:t>
            </a:r>
            <a:r>
              <a:rPr lang="en-US" dirty="0">
                <a:latin typeface="Times New Roman" panose="02020603050405020304" pitchFamily="18" charset="0"/>
                <a:cs typeface="Times New Roman" panose="02020603050405020304" pitchFamily="18" charset="0"/>
              </a:rPr>
              <a:t>,  Sai Vidya Institute of Technology, for providing us required facilities to carry out project Work.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are thankful to </a:t>
            </a:r>
            <a:r>
              <a:rPr lang="en-US" b="1" dirty="0">
                <a:latin typeface="Times New Roman" panose="02020603050405020304" pitchFamily="18" charset="0"/>
                <a:cs typeface="Times New Roman" panose="02020603050405020304" pitchFamily="18" charset="0"/>
              </a:rPr>
              <a:t>Dr. VENKATESHA M</a:t>
            </a:r>
            <a:r>
              <a:rPr lang="en-US" dirty="0">
                <a:latin typeface="Times New Roman" panose="02020603050405020304" pitchFamily="18" charset="0"/>
                <a:cs typeface="Times New Roman" panose="02020603050405020304" pitchFamily="18" charset="0"/>
              </a:rPr>
              <a:t>, Professor and HOD,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Department of Electronics and Communication Engineering, Sai Vidya Institute of Technology, for his valuable suggestions and support.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extend deepest thanks to our  project guide, </a:t>
            </a:r>
            <a:r>
              <a:rPr lang="en-US" b="1" dirty="0">
                <a:latin typeface="Times New Roman" panose="02020603050405020304" pitchFamily="18" charset="0"/>
                <a:cs typeface="Times New Roman" panose="02020603050405020304" pitchFamily="18" charset="0"/>
              </a:rPr>
              <a:t>Prof. Darshan R V, </a:t>
            </a:r>
            <a:r>
              <a:rPr lang="en-IN" dirty="0">
                <a:latin typeface="Times New Roman" panose="02020603050405020304" pitchFamily="18" charset="0"/>
                <a:cs typeface="Times New Roman" panose="02020603050405020304" pitchFamily="18" charset="0"/>
              </a:rPr>
              <a:t>Assistant Professor</a:t>
            </a:r>
            <a:r>
              <a:rPr lang="en-US" dirty="0">
                <a:latin typeface="Times New Roman" panose="02020603050405020304" pitchFamily="18" charset="0"/>
                <a:cs typeface="Times New Roman" panose="02020603050405020304" pitchFamily="18" charset="0"/>
              </a:rPr>
              <a:t> for their invaluable guidance, constructive feedback, and constant encouragement throughout the completion of Major Project Phase </a:t>
            </a:r>
            <a:r>
              <a:rPr lang="en-IN" dirty="0"/>
              <a:t>II</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[BEC786].</a:t>
            </a:r>
          </a:p>
        </p:txBody>
      </p:sp>
      <p:sp>
        <p:nvSpPr>
          <p:cNvPr id="4" name="Title 2">
            <a:extLst>
              <a:ext uri="{FF2B5EF4-FFF2-40B4-BE49-F238E27FC236}">
                <a16:creationId xmlns:a16="http://schemas.microsoft.com/office/drawing/2014/main" id="{B60DED57-6D1C-1943-5D41-3EC5E5A1D645}"/>
              </a:ext>
            </a:extLst>
          </p:cNvPr>
          <p:cNvSpPr txBox="1">
            <a:spLocks/>
          </p:cNvSpPr>
          <p:nvPr/>
        </p:nvSpPr>
        <p:spPr>
          <a:xfrm>
            <a:off x="762000" y="107009"/>
            <a:ext cx="7772400" cy="384721"/>
          </a:xfrm>
          <a:prstGeom prst="rect">
            <a:avLst/>
          </a:prstGeom>
        </p:spPr>
        <p:txBody>
          <a:bodyPr wrap="square" lIns="0" tIns="0" rIns="0" bIns="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500" b="1" dirty="0">
                <a:effectLst>
                  <a:outerShdw blurRad="60007" dist="310007" dir="7680000" sy="30000" kx="1300200" algn="ctr" rotWithShape="0">
                    <a:prstClr val="black">
                      <a:alpha val="13000"/>
                    </a:prstClr>
                  </a:outerShdw>
                </a:effectLst>
                <a:latin typeface="Times New Roman" panose="02020603050405020304" pitchFamily="18" charset="0"/>
                <a:cs typeface="Times New Roman" panose="02020603050405020304" pitchFamily="18" charset="0"/>
              </a:rPr>
              <a:t>ACKNOWLEDGEMENT</a:t>
            </a:r>
          </a:p>
        </p:txBody>
      </p:sp>
      <p:sp>
        <p:nvSpPr>
          <p:cNvPr id="6" name="Rectangle: Rounded Corners 1">
            <a:extLst>
              <a:ext uri="{FF2B5EF4-FFF2-40B4-BE49-F238E27FC236}">
                <a16:creationId xmlns:a16="http://schemas.microsoft.com/office/drawing/2014/main" id="{434D85A4-3AE9-8DD6-914A-EF1A4D5EB778}"/>
              </a:ext>
            </a:extLst>
          </p:cNvPr>
          <p:cNvSpPr/>
          <p:nvPr/>
        </p:nvSpPr>
        <p:spPr bwMode="auto">
          <a:xfrm>
            <a:off x="0" y="4735753"/>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06511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60000" fill="hold" grpId="0" nodeType="withEffect">
                                  <p:stCondLst>
                                    <p:cond delay="0"/>
                                  </p:stCondLst>
                                  <p:iterate type="wd">
                                    <p:tmPct val="10000"/>
                                  </p:iterate>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E2C26-CCF9-B3BD-2C8A-2983D180E2F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2729B22-1628-8142-821B-7ED976857761}"/>
              </a:ext>
            </a:extLst>
          </p:cNvPr>
          <p:cNvSpPr/>
          <p:nvPr/>
        </p:nvSpPr>
        <p:spPr bwMode="auto">
          <a:xfrm>
            <a:off x="152400" y="472771"/>
            <a:ext cx="8763000" cy="4183215"/>
          </a:xfrm>
          <a:prstGeom prst="rect">
            <a:avLst/>
          </a:prstGeom>
          <a:solidFill>
            <a:schemeClr val="bg2"/>
          </a:solidFill>
          <a:ln w="9525">
            <a:noFill/>
            <a:round/>
            <a:headEnd/>
            <a:tailEnd/>
          </a:ln>
        </p:spPr>
        <p:txBody>
          <a:bodyPr vert="horz" wrap="square" lIns="91440" tIns="45720" rIns="91440" bIns="45720" numCol="1" rtlCol="0" anchor="t" anchorCtr="0" compatLnSpc="1">
            <a:prstTxWarp prst="textNoShape">
              <a:avLst/>
            </a:prstTxWarp>
          </a:bodyPr>
          <a:lstStyle/>
          <a:p>
            <a:pPr algn="just"/>
            <a:r>
              <a:rPr lang="en-US" sz="1600" dirty="0">
                <a:latin typeface="Times New Roman" panose="02020603050405020304" pitchFamily="18" charset="0"/>
                <a:cs typeface="Times New Roman" panose="02020603050405020304" pitchFamily="18" charset="0"/>
              </a:rPr>
              <a:t>Wireless communication appears in almost every electronic device today, in </a:t>
            </a:r>
            <a:r>
              <a:rPr lang="en-US" sz="1600" dirty="0" err="1">
                <a:latin typeface="Times New Roman" panose="02020603050405020304" pitchFamily="18" charset="0"/>
                <a:cs typeface="Times New Roman" panose="02020603050405020304" pitchFamily="18" charset="0"/>
              </a:rPr>
              <a:t>cluding</a:t>
            </a:r>
            <a:r>
              <a:rPr lang="en-US" sz="1600" dirty="0">
                <a:latin typeface="Times New Roman" panose="02020603050405020304" pitchFamily="18" charset="0"/>
                <a:cs typeface="Times New Roman" panose="02020603050405020304" pitchFamily="18" charset="0"/>
              </a:rPr>
              <a:t> Wi-Fi routers, Bluetooth gadgets, smart home systems, and </a:t>
            </a:r>
            <a:r>
              <a:rPr lang="en-US" sz="1600" dirty="0" err="1">
                <a:latin typeface="Times New Roman" panose="02020603050405020304" pitchFamily="18" charset="0"/>
                <a:cs typeface="Times New Roman" panose="02020603050405020304" pitchFamily="18" charset="0"/>
              </a:rPr>
              <a:t>IoT</a:t>
            </a:r>
            <a:r>
              <a:rPr lang="en-US" sz="1600" dirty="0">
                <a:latin typeface="Times New Roman" panose="02020603050405020304" pitchFamily="18" charset="0"/>
                <a:cs typeface="Times New Roman" panose="02020603050405020304" pitchFamily="18" charset="0"/>
              </a:rPr>
              <a:t> devices. All these systems require an antenna to send and receive signals. In this project, a circular </a:t>
            </a:r>
            <a:r>
              <a:rPr lang="en-US" sz="1600" dirty="0" err="1">
                <a:latin typeface="Times New Roman" panose="02020603050405020304" pitchFamily="18" charset="0"/>
                <a:cs typeface="Times New Roman" panose="02020603050405020304" pitchFamily="18" charset="0"/>
              </a:rPr>
              <a:t>microstrip</a:t>
            </a:r>
            <a:r>
              <a:rPr lang="en-US" sz="1600" dirty="0">
                <a:latin typeface="Times New Roman" panose="02020603050405020304" pitchFamily="18" charset="0"/>
                <a:cs typeface="Times New Roman" panose="02020603050405020304" pitchFamily="18" charset="0"/>
              </a:rPr>
              <a:t> patch antenna is designed for the 2.45 GHz frequency, which is commonly used for Wi-Fi, Bluetooth, and other short-range wireless applications. The antenna uses an FR4 substrate, which is low-cost and easy to make in college labs. The design started with calculations using standard formulas. Then, it was modeled and simulated using ANSYS HFSS, a software tool for studying antenna behavior. The simulation results reveal important performance parameters such as return loss (S11), VSWR, radiation pattern, and gain. The antenna resonates at 2.45 GHz with good matching and acceptable radiation performance. This project aids in understanding how to design, analyze, and optimize antennas using simulation tools. The results indicate that the circular </a:t>
            </a:r>
            <a:r>
              <a:rPr lang="en-US" sz="1600" dirty="0" err="1">
                <a:latin typeface="Times New Roman" panose="02020603050405020304" pitchFamily="18" charset="0"/>
                <a:cs typeface="Times New Roman" panose="02020603050405020304" pitchFamily="18" charset="0"/>
              </a:rPr>
              <a:t>microstrip</a:t>
            </a:r>
            <a:r>
              <a:rPr lang="en-US" sz="1600" dirty="0">
                <a:latin typeface="Times New Roman" panose="02020603050405020304" pitchFamily="18" charset="0"/>
                <a:cs typeface="Times New Roman" panose="02020603050405020304" pitchFamily="18" charset="0"/>
              </a:rPr>
              <a:t> patch antenna is suitable for simple wireless applications and can be improved in the future by increasing bandwidth, boosting gain, or enabling operation at multiple frequencies. </a:t>
            </a:r>
          </a:p>
          <a:p>
            <a:pPr algn="just"/>
            <a:r>
              <a:rPr lang="en-US" sz="1600" dirty="0">
                <a:latin typeface="Times New Roman" panose="02020603050405020304" pitchFamily="18" charset="0"/>
                <a:cs typeface="Times New Roman" panose="02020603050405020304" pitchFamily="18" charset="0"/>
              </a:rPr>
              <a:t>Keywords: </a:t>
            </a:r>
            <a:r>
              <a:rPr lang="en-US" sz="1600" dirty="0" err="1">
                <a:latin typeface="Times New Roman" panose="02020603050405020304" pitchFamily="18" charset="0"/>
                <a:cs typeface="Times New Roman" panose="02020603050405020304" pitchFamily="18" charset="0"/>
              </a:rPr>
              <a:t>Microstrip</a:t>
            </a:r>
            <a:r>
              <a:rPr lang="en-US" sz="1600" dirty="0">
                <a:latin typeface="Times New Roman" panose="02020603050405020304" pitchFamily="18" charset="0"/>
                <a:cs typeface="Times New Roman" panose="02020603050405020304" pitchFamily="18" charset="0"/>
              </a:rPr>
              <a:t> Patch Antenna, Circular Patch, 5G, </a:t>
            </a:r>
            <a:r>
              <a:rPr lang="en-US" sz="1600" dirty="0" err="1">
                <a:latin typeface="Times New Roman" panose="02020603050405020304" pitchFamily="18" charset="0"/>
                <a:cs typeface="Times New Roman" panose="02020603050405020304" pitchFamily="18" charset="0"/>
              </a:rPr>
              <a:t>IoT</a:t>
            </a:r>
            <a:r>
              <a:rPr lang="en-US" sz="1600" dirty="0">
                <a:latin typeface="Times New Roman" panose="02020603050405020304" pitchFamily="18" charset="0"/>
                <a:cs typeface="Times New Roman" panose="02020603050405020304" pitchFamily="18" charset="0"/>
              </a:rPr>
              <a:t>, Substrate, </a:t>
            </a:r>
            <a:r>
              <a:rPr lang="en-US" sz="1600" dirty="0" err="1">
                <a:latin typeface="Times New Roman" panose="02020603050405020304" pitchFamily="18" charset="0"/>
                <a:cs typeface="Times New Roman" panose="02020603050405020304" pitchFamily="18" charset="0"/>
              </a:rPr>
              <a:t>radition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pattern,VSWR</a:t>
            </a:r>
            <a:endParaRPr lang="en-US" sz="1600" i="1" dirty="0">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DC15FB68-3737-174A-F78D-768DBFCE9776}"/>
              </a:ext>
            </a:extLst>
          </p:cNvPr>
          <p:cNvSpPr txBox="1">
            <a:spLocks/>
          </p:cNvSpPr>
          <p:nvPr/>
        </p:nvSpPr>
        <p:spPr>
          <a:xfrm>
            <a:off x="533400" y="113258"/>
            <a:ext cx="7772400" cy="384721"/>
          </a:xfrm>
          <a:prstGeom prst="rect">
            <a:avLst/>
          </a:prstGeom>
        </p:spPr>
        <p:txBody>
          <a:bodyPr wrap="square" lIns="0" tIns="0" rIns="0" bIns="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500" b="1" dirty="0">
                <a:effectLst>
                  <a:outerShdw blurRad="60007" dist="310007" dir="7680000" sy="30000" kx="1300200" algn="ctr" rotWithShape="0">
                    <a:prstClr val="black">
                      <a:alpha val="13000"/>
                    </a:prstClr>
                  </a:outerShdw>
                </a:effectLst>
                <a:latin typeface="Times New Roman" panose="02020603050405020304" pitchFamily="18" charset="0"/>
                <a:cs typeface="Times New Roman" panose="02020603050405020304" pitchFamily="18" charset="0"/>
              </a:rPr>
              <a:t>ABSTRACT</a:t>
            </a:r>
          </a:p>
        </p:txBody>
      </p:sp>
      <p:sp>
        <p:nvSpPr>
          <p:cNvPr id="5" name="Rectangle: Rounded Corners 4">
            <a:extLst>
              <a:ext uri="{FF2B5EF4-FFF2-40B4-BE49-F238E27FC236}">
                <a16:creationId xmlns:a16="http://schemas.microsoft.com/office/drawing/2014/main" id="{6EF780A8-D1FC-1E42-E910-766B0BFCFE91}"/>
              </a:ext>
            </a:extLst>
          </p:cNvPr>
          <p:cNvSpPr/>
          <p:nvPr/>
        </p:nvSpPr>
        <p:spPr bwMode="auto">
          <a:xfrm>
            <a:off x="0" y="46835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MAJOR PROJECT PHASE 1 (BEC685)</a:t>
            </a:r>
          </a:p>
        </p:txBody>
      </p:sp>
      <p:sp>
        <p:nvSpPr>
          <p:cNvPr id="6" name="Rectangle: Rounded Corners 1">
            <a:extLst>
              <a:ext uri="{FF2B5EF4-FFF2-40B4-BE49-F238E27FC236}">
                <a16:creationId xmlns:a16="http://schemas.microsoft.com/office/drawing/2014/main" id="{434D85A4-3AE9-8DD6-914A-EF1A4D5EB778}"/>
              </a:ext>
            </a:extLst>
          </p:cNvPr>
          <p:cNvSpPr/>
          <p:nvPr/>
        </p:nvSpPr>
        <p:spPr bwMode="auto">
          <a:xfrm>
            <a:off x="0" y="4683578"/>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Circularly Polarized Multi-Band </a:t>
            </a:r>
            <a:r>
              <a:rPr lang="en-US" sz="1600" b="1" dirty="0" err="1">
                <a:solidFill>
                  <a:schemeClr val="bg1"/>
                </a:solidFill>
                <a:latin typeface="Times New Roman" panose="02020603050405020304" pitchFamily="18" charset="0"/>
                <a:cs typeface="Times New Roman" panose="02020603050405020304" pitchFamily="18" charset="0"/>
              </a:rPr>
              <a:t>Microstrip</a:t>
            </a:r>
            <a:r>
              <a:rPr lang="en-US" sz="1600" b="1" dirty="0">
                <a:solidFill>
                  <a:schemeClr val="bg1"/>
                </a:solidFill>
                <a:latin typeface="Times New Roman" panose="02020603050405020304" pitchFamily="18" charset="0"/>
                <a:cs typeface="Times New Roman" panose="02020603050405020304" pitchFamily="18" charset="0"/>
              </a:rPr>
              <a:t> Patch Antenna for 5G and </a:t>
            </a:r>
            <a:r>
              <a:rPr lang="en-US" sz="1600" b="1" dirty="0" err="1">
                <a:solidFill>
                  <a:schemeClr val="bg1"/>
                </a:solidFill>
                <a:latin typeface="Times New Roman" panose="02020603050405020304" pitchFamily="18" charset="0"/>
                <a:cs typeface="Times New Roman" panose="02020603050405020304" pitchFamily="18" charset="0"/>
              </a:rPr>
              <a:t>IoT</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7" name="Rectangle: Rounded Corners 1">
            <a:extLst>
              <a:ext uri="{FF2B5EF4-FFF2-40B4-BE49-F238E27FC236}">
                <a16:creationId xmlns:a16="http://schemas.microsoft.com/office/drawing/2014/main" id="{434D85A4-3AE9-8DD6-914A-EF1A4D5EB778}"/>
              </a:ext>
            </a:extLst>
          </p:cNvPr>
          <p:cNvSpPr/>
          <p:nvPr/>
        </p:nvSpPr>
        <p:spPr bwMode="auto">
          <a:xfrm>
            <a:off x="0" y="4669782"/>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911390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60000" fill="hold" grpId="0" nodeType="withEffect">
                                  <p:stCondLst>
                                    <p:cond delay="0"/>
                                  </p:stCondLst>
                                  <p:iterate type="wd">
                                    <p:tmPct val="10000"/>
                                  </p:iterate>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81E8F32B-49B6-4734-8E6A-50BA6E30C3DE}"/>
              </a:ext>
            </a:extLst>
          </p:cNvPr>
          <p:cNvGraphicFramePr>
            <a:graphicFrameLocks noGrp="1"/>
          </p:cNvGraphicFramePr>
          <p:nvPr>
            <p:extLst>
              <p:ext uri="{D42A27DB-BD31-4B8C-83A1-F6EECF244321}">
                <p14:modId xmlns:p14="http://schemas.microsoft.com/office/powerpoint/2010/main" val="2761724831"/>
              </p:ext>
            </p:extLst>
          </p:nvPr>
        </p:nvGraphicFramePr>
        <p:xfrm>
          <a:off x="381000" y="335762"/>
          <a:ext cx="7315200" cy="4267200"/>
        </p:xfrm>
        <a:graphic>
          <a:graphicData uri="http://schemas.openxmlformats.org/drawingml/2006/table">
            <a:tbl>
              <a:tblPr firstRow="1" bandRow="1">
                <a:tableStyleId>{2D5ABB26-0587-4C30-8999-92F81FD0307C}</a:tableStyleId>
              </a:tblPr>
              <a:tblGrid>
                <a:gridCol w="7315200">
                  <a:extLst>
                    <a:ext uri="{9D8B030D-6E8A-4147-A177-3AD203B41FA5}">
                      <a16:colId xmlns:a16="http://schemas.microsoft.com/office/drawing/2014/main" val="20000"/>
                    </a:ext>
                  </a:extLst>
                </a:gridCol>
              </a:tblGrid>
              <a:tr h="411480">
                <a:tc>
                  <a:txBody>
                    <a:bodyPr/>
                    <a:lstStyle/>
                    <a:p>
                      <a:pPr marL="0" indent="0">
                        <a:lnSpc>
                          <a:spcPct val="100000"/>
                        </a:lnSpc>
                        <a:buNone/>
                      </a:pPr>
                      <a:r>
                        <a:rPr lang="en-US" sz="1600" b="1" kern="1200" dirty="0">
                          <a:solidFill>
                            <a:schemeClr val="tx1">
                              <a:lumMod val="90000"/>
                              <a:lumOff val="10000"/>
                            </a:schemeClr>
                          </a:solidFill>
                          <a:latin typeface="Times New Roman" panose="02020603050405020304" pitchFamily="18" charset="0"/>
                          <a:ea typeface="+mn-ea"/>
                          <a:cs typeface="Times New Roman" panose="02020603050405020304" pitchFamily="18" charset="0"/>
                        </a:rPr>
                        <a:t> </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411480">
                <a:tc>
                  <a:txBody>
                    <a:bodyPr/>
                    <a:lstStyle/>
                    <a:p>
                      <a:pPr marL="0" indent="0">
                        <a:lnSpc>
                          <a:spcPct val="100000"/>
                        </a:lnSpc>
                        <a:buNone/>
                      </a:pPr>
                      <a:r>
                        <a:rPr lang="en-US" sz="1600" b="1" kern="1200" dirty="0">
                          <a:solidFill>
                            <a:schemeClr val="tx1">
                              <a:lumMod val="90000"/>
                              <a:lumOff val="10000"/>
                            </a:schemeClr>
                          </a:solidFill>
                          <a:latin typeface="Times New Roman" panose="02020603050405020304" pitchFamily="18" charset="0"/>
                          <a:ea typeface="+mn-ea"/>
                          <a:cs typeface="Times New Roman" panose="02020603050405020304" pitchFamily="18" charset="0"/>
                        </a:rPr>
                        <a:t>Introduction</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1"/>
                  </a:ext>
                </a:extLst>
              </a:tr>
              <a:tr h="411480">
                <a:tc>
                  <a:txBody>
                    <a:bodyPr/>
                    <a:lstStyle/>
                    <a:p>
                      <a:pPr marL="0" indent="0">
                        <a:lnSpc>
                          <a:spcPct val="100000"/>
                        </a:lnSpc>
                        <a:buNone/>
                      </a:pPr>
                      <a:r>
                        <a:rPr lang="en-US" sz="1600" b="1" kern="1200" dirty="0">
                          <a:solidFill>
                            <a:schemeClr val="tx1">
                              <a:lumMod val="90000"/>
                              <a:lumOff val="10000"/>
                            </a:schemeClr>
                          </a:solidFill>
                          <a:latin typeface="Times New Roman" panose="02020603050405020304" pitchFamily="18" charset="0"/>
                          <a:ea typeface="+mn-ea"/>
                          <a:cs typeface="Times New Roman" panose="02020603050405020304" pitchFamily="18" charset="0"/>
                        </a:rPr>
                        <a:t>Literature Survey</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2"/>
                  </a:ext>
                </a:extLst>
              </a:tr>
              <a:tr h="411480">
                <a:tc>
                  <a:txBody>
                    <a:bodyPr/>
                    <a:lstStyle/>
                    <a:p>
                      <a:pPr marL="0" indent="0">
                        <a:lnSpc>
                          <a:spcPct val="100000"/>
                        </a:lnSpc>
                        <a:buNone/>
                      </a:pPr>
                      <a:r>
                        <a:rPr lang="en-US" sz="1600" b="1" kern="1200" dirty="0">
                          <a:solidFill>
                            <a:schemeClr val="tx1">
                              <a:lumMod val="90000"/>
                              <a:lumOff val="10000"/>
                            </a:schemeClr>
                          </a:solidFill>
                          <a:latin typeface="Times New Roman" panose="02020603050405020304" pitchFamily="18" charset="0"/>
                          <a:ea typeface="+mn-ea"/>
                          <a:cs typeface="Times New Roman" panose="02020603050405020304" pitchFamily="18" charset="0"/>
                        </a:rPr>
                        <a:t>Research Gap</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3"/>
                  </a:ext>
                </a:extLst>
              </a:tr>
              <a:tr h="411480">
                <a:tc>
                  <a:txBody>
                    <a:bodyPr/>
                    <a:lstStyle/>
                    <a:p>
                      <a:pPr marL="0" indent="0">
                        <a:lnSpc>
                          <a:spcPct val="100000"/>
                        </a:lnSpc>
                        <a:buNone/>
                      </a:pPr>
                      <a:r>
                        <a:rPr lang="en-US" sz="1600" b="1" kern="1200" dirty="0">
                          <a:solidFill>
                            <a:schemeClr val="tx1">
                              <a:lumMod val="90000"/>
                              <a:lumOff val="10000"/>
                            </a:schemeClr>
                          </a:solidFill>
                          <a:latin typeface="Times New Roman" panose="02020603050405020304" pitchFamily="18" charset="0"/>
                          <a:ea typeface="+mn-ea"/>
                          <a:cs typeface="Times New Roman" panose="02020603050405020304" pitchFamily="18" charset="0"/>
                        </a:rPr>
                        <a:t>Problem Statement</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4"/>
                  </a:ext>
                </a:extLst>
              </a:tr>
              <a:tr h="411480">
                <a:tc>
                  <a:txBody>
                    <a:bodyPr/>
                    <a:lstStyle/>
                    <a:p>
                      <a:pPr marL="0" indent="0">
                        <a:lnSpc>
                          <a:spcPct val="100000"/>
                        </a:lnSpc>
                        <a:buNone/>
                      </a:pPr>
                      <a:r>
                        <a:rPr lang="en-US" sz="1600" b="1" kern="1200" dirty="0">
                          <a:solidFill>
                            <a:schemeClr val="tx1">
                              <a:lumMod val="90000"/>
                              <a:lumOff val="10000"/>
                            </a:schemeClr>
                          </a:solidFill>
                          <a:latin typeface="Times New Roman" panose="02020603050405020304" pitchFamily="18" charset="0"/>
                          <a:ea typeface="+mn-ea"/>
                          <a:cs typeface="Times New Roman" panose="02020603050405020304" pitchFamily="18" charset="0"/>
                        </a:rPr>
                        <a:t>Objectives</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5"/>
                  </a:ext>
                </a:extLst>
              </a:tr>
              <a:tr h="411480">
                <a:tc>
                  <a:txBody>
                    <a:bodyPr/>
                    <a:lstStyle/>
                    <a:p>
                      <a:pPr marL="0" indent="0">
                        <a:lnSpc>
                          <a:spcPct val="100000"/>
                        </a:lnSpc>
                        <a:buNone/>
                      </a:pPr>
                      <a:r>
                        <a:rPr lang="en-US" sz="1600" b="1" kern="1200" dirty="0">
                          <a:solidFill>
                            <a:schemeClr val="tx1">
                              <a:lumMod val="90000"/>
                              <a:lumOff val="10000"/>
                            </a:schemeClr>
                          </a:solidFill>
                          <a:latin typeface="Times New Roman" panose="02020603050405020304" pitchFamily="18" charset="0"/>
                          <a:ea typeface="+mn-ea"/>
                          <a:cs typeface="Times New Roman" panose="02020603050405020304" pitchFamily="18" charset="0"/>
                        </a:rPr>
                        <a:t>Tools required</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57695996"/>
                  </a:ext>
                </a:extLst>
              </a:tr>
              <a:tr h="411480">
                <a:tc>
                  <a:txBody>
                    <a:bodyPr/>
                    <a:lstStyle/>
                    <a:p>
                      <a:pPr marL="0" indent="0">
                        <a:lnSpc>
                          <a:spcPct val="100000"/>
                        </a:lnSpc>
                        <a:buNone/>
                      </a:pPr>
                      <a:r>
                        <a:rPr lang="en-US" sz="1600" b="1" kern="1200" dirty="0">
                          <a:solidFill>
                            <a:schemeClr val="tx1">
                              <a:lumMod val="90000"/>
                              <a:lumOff val="10000"/>
                            </a:schemeClr>
                          </a:solidFill>
                          <a:latin typeface="Times New Roman" panose="02020603050405020304" pitchFamily="18" charset="0"/>
                          <a:ea typeface="+mn-ea"/>
                          <a:cs typeface="Times New Roman" panose="02020603050405020304" pitchFamily="18" charset="0"/>
                        </a:rPr>
                        <a:t>Results</a:t>
                      </a:r>
                      <a:r>
                        <a:rPr lang="en-US" sz="1600" b="1" kern="1200" baseline="0" dirty="0">
                          <a:solidFill>
                            <a:schemeClr val="tx1">
                              <a:lumMod val="90000"/>
                              <a:lumOff val="10000"/>
                            </a:schemeClr>
                          </a:solidFill>
                          <a:latin typeface="Times New Roman" panose="02020603050405020304" pitchFamily="18" charset="0"/>
                          <a:ea typeface="+mn-ea"/>
                          <a:cs typeface="Times New Roman" panose="02020603050405020304" pitchFamily="18" charset="0"/>
                        </a:rPr>
                        <a:t> </a:t>
                      </a:r>
                      <a:endParaRPr lang="en-US" sz="1600" b="1" kern="1200" dirty="0">
                        <a:solidFill>
                          <a:schemeClr val="tx1">
                            <a:lumMod val="90000"/>
                            <a:lumOff val="10000"/>
                          </a:schemeClr>
                        </a:solidFill>
                        <a:latin typeface="Times New Roman" panose="02020603050405020304" pitchFamily="18" charset="0"/>
                        <a:ea typeface="+mn-ea"/>
                        <a:cs typeface="Times New Roman" panose="02020603050405020304" pitchFamily="18"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6"/>
                  </a:ext>
                </a:extLst>
              </a:tr>
              <a:tr h="411480">
                <a:tc>
                  <a:txBody>
                    <a:bodyPr/>
                    <a:lstStyle/>
                    <a:p>
                      <a:pPr marL="0" indent="0">
                        <a:lnSpc>
                          <a:spcPct val="100000"/>
                        </a:lnSpc>
                        <a:buNone/>
                      </a:pPr>
                      <a:r>
                        <a:rPr lang="en-US" sz="1600" b="1" kern="1200" dirty="0">
                          <a:solidFill>
                            <a:schemeClr val="tx1">
                              <a:lumMod val="90000"/>
                              <a:lumOff val="10000"/>
                            </a:schemeClr>
                          </a:solidFill>
                          <a:latin typeface="Times New Roman" panose="02020603050405020304" pitchFamily="18" charset="0"/>
                          <a:ea typeface="+mn-ea"/>
                          <a:cs typeface="Times New Roman" panose="02020603050405020304" pitchFamily="18" charset="0"/>
                        </a:rPr>
                        <a:t>Conclusions</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7"/>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lumMod val="90000"/>
                              <a:lumOff val="10000"/>
                            </a:schemeClr>
                          </a:solidFill>
                          <a:latin typeface="Times New Roman" panose="02020603050405020304" pitchFamily="18" charset="0"/>
                          <a:ea typeface="+mn-ea"/>
                          <a:cs typeface="Times New Roman" panose="02020603050405020304" pitchFamily="18" charset="0"/>
                        </a:rPr>
                        <a:t>Bibliography</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8"/>
                  </a:ext>
                </a:extLst>
              </a:tr>
            </a:tbl>
          </a:graphicData>
        </a:graphic>
      </p:graphicFrame>
      <p:sp>
        <p:nvSpPr>
          <p:cNvPr id="3" name="Title 2">
            <a:extLst>
              <a:ext uri="{FF2B5EF4-FFF2-40B4-BE49-F238E27FC236}">
                <a16:creationId xmlns:a16="http://schemas.microsoft.com/office/drawing/2014/main" id="{ED8BFDA1-D9E7-2C60-3544-1160C7E5001E}"/>
              </a:ext>
            </a:extLst>
          </p:cNvPr>
          <p:cNvSpPr txBox="1">
            <a:spLocks/>
          </p:cNvSpPr>
          <p:nvPr/>
        </p:nvSpPr>
        <p:spPr>
          <a:xfrm>
            <a:off x="791936" y="150885"/>
            <a:ext cx="7772400" cy="384721"/>
          </a:xfrm>
          <a:prstGeom prst="rect">
            <a:avLst/>
          </a:prstGeom>
        </p:spPr>
        <p:txBody>
          <a:bodyPr wrap="square" lIns="0" tIns="0" rIns="0" bIns="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500" b="1" dirty="0">
                <a:effectLst>
                  <a:outerShdw blurRad="60007" dist="310007" dir="7680000" sy="30000" kx="1300200" algn="ctr" rotWithShape="0">
                    <a:prstClr val="black">
                      <a:alpha val="13000"/>
                    </a:prstClr>
                  </a:outerShdw>
                </a:effectLst>
                <a:latin typeface="Times New Roman" panose="02020603050405020304" pitchFamily="18" charset="0"/>
                <a:cs typeface="Times New Roman" panose="02020603050405020304" pitchFamily="18" charset="0"/>
              </a:rPr>
              <a:t>PROJECT AGENDA</a:t>
            </a:r>
          </a:p>
        </p:txBody>
      </p:sp>
      <p:sp>
        <p:nvSpPr>
          <p:cNvPr id="2" name="Rectangle: Rounded Corners 1">
            <a:extLst>
              <a:ext uri="{FF2B5EF4-FFF2-40B4-BE49-F238E27FC236}">
                <a16:creationId xmlns:a16="http://schemas.microsoft.com/office/drawing/2014/main" id="{89895E05-2820-9917-933B-667E6D5C38F0}"/>
              </a:ext>
            </a:extLst>
          </p:cNvPr>
          <p:cNvSpPr/>
          <p:nvPr/>
        </p:nvSpPr>
        <p:spPr bwMode="auto">
          <a:xfrm>
            <a:off x="0" y="46835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MAJOR PROJECT PHASE 1 (BEC685)</a:t>
            </a:r>
          </a:p>
        </p:txBody>
      </p:sp>
      <p:sp>
        <p:nvSpPr>
          <p:cNvPr id="6" name="Rectangle: Rounded Corners 1">
            <a:extLst>
              <a:ext uri="{FF2B5EF4-FFF2-40B4-BE49-F238E27FC236}">
                <a16:creationId xmlns:a16="http://schemas.microsoft.com/office/drawing/2014/main" id="{434D85A4-3AE9-8DD6-914A-EF1A4D5EB778}"/>
              </a:ext>
            </a:extLst>
          </p:cNvPr>
          <p:cNvSpPr/>
          <p:nvPr/>
        </p:nvSpPr>
        <p:spPr bwMode="auto">
          <a:xfrm>
            <a:off x="-76200" y="4686300"/>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Circularly Polarized Multi-Band </a:t>
            </a:r>
            <a:r>
              <a:rPr lang="en-US" sz="1600" b="1" dirty="0" err="1">
                <a:solidFill>
                  <a:schemeClr val="bg1"/>
                </a:solidFill>
                <a:latin typeface="Times New Roman" panose="02020603050405020304" pitchFamily="18" charset="0"/>
                <a:cs typeface="Times New Roman" panose="02020603050405020304" pitchFamily="18" charset="0"/>
              </a:rPr>
              <a:t>Microstrip</a:t>
            </a:r>
            <a:r>
              <a:rPr lang="en-US" sz="1600" b="1" dirty="0">
                <a:solidFill>
                  <a:schemeClr val="bg1"/>
                </a:solidFill>
                <a:latin typeface="Times New Roman" panose="02020603050405020304" pitchFamily="18" charset="0"/>
                <a:cs typeface="Times New Roman" panose="02020603050405020304" pitchFamily="18" charset="0"/>
              </a:rPr>
              <a:t> Patch Antenna for 5G and </a:t>
            </a:r>
            <a:r>
              <a:rPr lang="en-US" sz="1600" b="1" dirty="0" err="1">
                <a:solidFill>
                  <a:schemeClr val="bg1"/>
                </a:solidFill>
                <a:latin typeface="Times New Roman" panose="02020603050405020304" pitchFamily="18" charset="0"/>
                <a:cs typeface="Times New Roman" panose="02020603050405020304" pitchFamily="18" charset="0"/>
              </a:rPr>
              <a:t>IoT</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7" name="Rectangle: Rounded Corners 1">
            <a:extLst>
              <a:ext uri="{FF2B5EF4-FFF2-40B4-BE49-F238E27FC236}">
                <a16:creationId xmlns:a16="http://schemas.microsoft.com/office/drawing/2014/main" id="{434D85A4-3AE9-8DD6-914A-EF1A4D5EB778}"/>
              </a:ext>
            </a:extLst>
          </p:cNvPr>
          <p:cNvSpPr/>
          <p:nvPr/>
        </p:nvSpPr>
        <p:spPr bwMode="auto">
          <a:xfrm>
            <a:off x="-60434" y="4683578"/>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04753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 presetClass="entr" presetSubtype="4" accel="20000" decel="60000" fill="hold" grpId="0" nodeType="withEffect">
                                  <p:stCondLst>
                                    <p:cond delay="0"/>
                                  </p:stCondLst>
                                  <p:iterate type="wd">
                                    <p:tmPct val="10000"/>
                                  </p:iterate>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ppt_x"/>
                                          </p:val>
                                        </p:tav>
                                        <p:tav tm="100000">
                                          <p:val>
                                            <p:strVal val="#ppt_x"/>
                                          </p:val>
                                        </p:tav>
                                      </p:tavLst>
                                    </p:anim>
                                    <p:anim calcmode="lin" valueType="num">
                                      <p:cBhvr additive="base">
                                        <p:cTn id="1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E3A7D6-0824-4EE6-B5FA-33B30FC4FB1E}"/>
              </a:ext>
            </a:extLst>
          </p:cNvPr>
          <p:cNvSpPr>
            <a:spLocks noGrp="1"/>
          </p:cNvSpPr>
          <p:nvPr>
            <p:ph type="title"/>
          </p:nvPr>
        </p:nvSpPr>
        <p:spPr/>
        <p:txBody>
          <a:bodyPr/>
          <a:lstStyle/>
          <a:p>
            <a:r>
              <a:rPr lang="en-US" sz="2500" b="1" dirty="0">
                <a:latin typeface="Times New Roman" panose="02020603050405020304" pitchFamily="18" charset="0"/>
                <a:cs typeface="Times New Roman" panose="02020603050405020304" pitchFamily="18" charset="0"/>
              </a:rPr>
              <a:t>INTRODUCTION</a:t>
            </a:r>
          </a:p>
        </p:txBody>
      </p:sp>
      <p:sp>
        <p:nvSpPr>
          <p:cNvPr id="2" name="Rectangle: Rounded Corners 1">
            <a:extLst>
              <a:ext uri="{FF2B5EF4-FFF2-40B4-BE49-F238E27FC236}">
                <a16:creationId xmlns:a16="http://schemas.microsoft.com/office/drawing/2014/main" id="{3BBD1BD2-D8DF-B812-BA5C-96547E45EAB6}"/>
              </a:ext>
            </a:extLst>
          </p:cNvPr>
          <p:cNvSpPr/>
          <p:nvPr/>
        </p:nvSpPr>
        <p:spPr bwMode="auto">
          <a:xfrm>
            <a:off x="0" y="46835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MAJOR PROJECT PHASE 1 (BEC685)</a:t>
            </a:r>
          </a:p>
        </p:txBody>
      </p:sp>
      <p:sp>
        <p:nvSpPr>
          <p:cNvPr id="4" name="Rectangle 3">
            <a:extLst>
              <a:ext uri="{FF2B5EF4-FFF2-40B4-BE49-F238E27FC236}">
                <a16:creationId xmlns:a16="http://schemas.microsoft.com/office/drawing/2014/main" id="{553DB877-58F5-76D2-8236-92B894C5934E}"/>
              </a:ext>
            </a:extLst>
          </p:cNvPr>
          <p:cNvSpPr/>
          <p:nvPr/>
        </p:nvSpPr>
        <p:spPr bwMode="auto">
          <a:xfrm>
            <a:off x="163935" y="661345"/>
            <a:ext cx="8592245" cy="3663005"/>
          </a:xfrm>
          <a:prstGeom prst="rect">
            <a:avLst/>
          </a:prstGeom>
          <a:solidFill>
            <a:schemeClr val="bg2"/>
          </a:solidFill>
          <a:ln w="9525">
            <a:noFill/>
            <a:round/>
            <a:headEnd/>
            <a:tailEnd/>
          </a:ln>
        </p:spPr>
        <p:txBody>
          <a:bodyPr vert="horz" wrap="square" lIns="91440" tIns="45720" rIns="91440" bIns="45720" numCol="1" rtlCol="0" anchor="t" anchorCtr="0" compatLnSpc="1">
            <a:prstTxWarp prst="textNoShape">
              <a:avLst/>
            </a:prstTxWarp>
          </a:bodyPr>
          <a:lstStyle/>
          <a:p>
            <a:r>
              <a:rPr lang="en-US" dirty="0">
                <a:latin typeface="Times New Roman" panose="02020603050405020304" pitchFamily="18" charset="0"/>
                <a:cs typeface="Times New Roman" panose="02020603050405020304" pitchFamily="18" charset="0"/>
              </a:rPr>
              <a:t>This project focuses on the design and analysis of a circular </a:t>
            </a:r>
            <a:r>
              <a:rPr lang="en-US" dirty="0" err="1">
                <a:latin typeface="Times New Roman" panose="02020603050405020304" pitchFamily="18" charset="0"/>
                <a:cs typeface="Times New Roman" panose="02020603050405020304" pitchFamily="18" charset="0"/>
              </a:rPr>
              <a:t>microstrip</a:t>
            </a:r>
            <a:r>
              <a:rPr lang="en-US" dirty="0">
                <a:latin typeface="Times New Roman" panose="02020603050405020304" pitchFamily="18" charset="0"/>
                <a:cs typeface="Times New Roman" panose="02020603050405020304" pitchFamily="18" charset="0"/>
              </a:rPr>
              <a:t> patch antenna (CMPA) operating at 2.45 GHz within the ISM band, widely used for Wi-Fi, Bluetooth, ZigBee, and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applications. CMPAs are favored due to their rotational symmetry, compact size, stable radiation characteristics, and ability to support circular polarization, which reduces multipath interference and polarization mismatch.</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antenna is designed on an FR4 substrate for cost-effectiveness and ease of fabrication. Key performance parameters such as return loss (S₁₁), Voltage Standing Wave Ratio (VSWR), bandwidth, gain, radiation efficiency, are analyzed using ANSYS HFSS. This study provides insights into antenna design, electromagnetic theory, and practical implementation, which are essential for modern wireless communication systems and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devices.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5" name="Rectangle: Rounded Corners 1">
            <a:extLst>
              <a:ext uri="{FF2B5EF4-FFF2-40B4-BE49-F238E27FC236}">
                <a16:creationId xmlns:a16="http://schemas.microsoft.com/office/drawing/2014/main" id="{434D85A4-3AE9-8DD6-914A-EF1A4D5EB778}"/>
              </a:ext>
            </a:extLst>
          </p:cNvPr>
          <p:cNvSpPr/>
          <p:nvPr/>
        </p:nvSpPr>
        <p:spPr bwMode="auto">
          <a:xfrm>
            <a:off x="0" y="46835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Circularly Polarized Multi-Band </a:t>
            </a:r>
            <a:r>
              <a:rPr lang="en-US" sz="1600" b="1" dirty="0" err="1">
                <a:solidFill>
                  <a:schemeClr val="bg1"/>
                </a:solidFill>
                <a:latin typeface="Times New Roman" panose="02020603050405020304" pitchFamily="18" charset="0"/>
                <a:cs typeface="Times New Roman" panose="02020603050405020304" pitchFamily="18" charset="0"/>
              </a:rPr>
              <a:t>Microstrip</a:t>
            </a:r>
            <a:r>
              <a:rPr lang="en-US" sz="1600" b="1" dirty="0">
                <a:solidFill>
                  <a:schemeClr val="bg1"/>
                </a:solidFill>
                <a:latin typeface="Times New Roman" panose="02020603050405020304" pitchFamily="18" charset="0"/>
                <a:cs typeface="Times New Roman" panose="02020603050405020304" pitchFamily="18" charset="0"/>
              </a:rPr>
              <a:t> Patch Antenna for 5G and </a:t>
            </a:r>
            <a:r>
              <a:rPr lang="en-US" sz="1600" b="1" dirty="0" err="1">
                <a:solidFill>
                  <a:schemeClr val="bg1"/>
                </a:solidFill>
                <a:latin typeface="Times New Roman" panose="02020603050405020304" pitchFamily="18" charset="0"/>
                <a:cs typeface="Times New Roman" panose="02020603050405020304" pitchFamily="18" charset="0"/>
              </a:rPr>
              <a:t>IoT</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6" name="Rectangle: Rounded Corners 1">
            <a:extLst>
              <a:ext uri="{FF2B5EF4-FFF2-40B4-BE49-F238E27FC236}">
                <a16:creationId xmlns:a16="http://schemas.microsoft.com/office/drawing/2014/main" id="{434D85A4-3AE9-8DD6-914A-EF1A4D5EB778}"/>
              </a:ext>
            </a:extLst>
          </p:cNvPr>
          <p:cNvSpPr/>
          <p:nvPr/>
        </p:nvSpPr>
        <p:spPr bwMode="auto">
          <a:xfrm>
            <a:off x="0" y="4703084"/>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3704441"/>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7D6B1C5-DCD5-94C8-79EB-D04ED55BA7E8}"/>
              </a:ext>
            </a:extLst>
          </p:cNvPr>
          <p:cNvSpPr/>
          <p:nvPr/>
        </p:nvSpPr>
        <p:spPr bwMode="auto">
          <a:xfrm>
            <a:off x="0" y="46835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MAJOR PROJECT PHASE 1 (BEC685)</a:t>
            </a:r>
          </a:p>
        </p:txBody>
      </p:sp>
      <p:sp>
        <p:nvSpPr>
          <p:cNvPr id="6" name="Rectangle: Rounded Corners 1">
            <a:extLst>
              <a:ext uri="{FF2B5EF4-FFF2-40B4-BE49-F238E27FC236}">
                <a16:creationId xmlns:a16="http://schemas.microsoft.com/office/drawing/2014/main" id="{434D85A4-3AE9-8DD6-914A-EF1A4D5EB778}"/>
              </a:ext>
            </a:extLst>
          </p:cNvPr>
          <p:cNvSpPr/>
          <p:nvPr/>
        </p:nvSpPr>
        <p:spPr bwMode="auto">
          <a:xfrm>
            <a:off x="0" y="46835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Circularly Polarized Multi-Band </a:t>
            </a:r>
            <a:r>
              <a:rPr lang="en-US" sz="1600" b="1" dirty="0" err="1">
                <a:solidFill>
                  <a:schemeClr val="bg1"/>
                </a:solidFill>
                <a:latin typeface="Times New Roman" panose="02020603050405020304" pitchFamily="18" charset="0"/>
                <a:cs typeface="Times New Roman" panose="02020603050405020304" pitchFamily="18" charset="0"/>
              </a:rPr>
              <a:t>Microstrip</a:t>
            </a:r>
            <a:r>
              <a:rPr lang="en-US" sz="1600" b="1" dirty="0">
                <a:solidFill>
                  <a:schemeClr val="bg1"/>
                </a:solidFill>
                <a:latin typeface="Times New Roman" panose="02020603050405020304" pitchFamily="18" charset="0"/>
                <a:cs typeface="Times New Roman" panose="02020603050405020304" pitchFamily="18" charset="0"/>
              </a:rPr>
              <a:t> Patch Antenna for 5G and </a:t>
            </a:r>
            <a:r>
              <a:rPr lang="en-US" sz="1600" b="1" dirty="0" err="1">
                <a:solidFill>
                  <a:schemeClr val="bg1"/>
                </a:solidFill>
                <a:latin typeface="Times New Roman" panose="02020603050405020304" pitchFamily="18" charset="0"/>
                <a:cs typeface="Times New Roman" panose="02020603050405020304" pitchFamily="18" charset="0"/>
              </a:rPr>
              <a:t>IoT</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7" name="Rectangle: Rounded Corners 1">
            <a:extLst>
              <a:ext uri="{FF2B5EF4-FFF2-40B4-BE49-F238E27FC236}">
                <a16:creationId xmlns:a16="http://schemas.microsoft.com/office/drawing/2014/main" id="{434D85A4-3AE9-8DD6-914A-EF1A4D5EB778}"/>
              </a:ext>
            </a:extLst>
          </p:cNvPr>
          <p:cNvSpPr/>
          <p:nvPr/>
        </p:nvSpPr>
        <p:spPr bwMode="auto">
          <a:xfrm>
            <a:off x="0" y="466452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15" name="Title 2">
            <a:extLst>
              <a:ext uri="{FF2B5EF4-FFF2-40B4-BE49-F238E27FC236}">
                <a16:creationId xmlns:a16="http://schemas.microsoft.com/office/drawing/2014/main" id="{FC5A098B-EE44-AE86-7B8F-7E61002F70F2}"/>
              </a:ext>
            </a:extLst>
          </p:cNvPr>
          <p:cNvSpPr txBox="1">
            <a:spLocks/>
          </p:cNvSpPr>
          <p:nvPr/>
        </p:nvSpPr>
        <p:spPr>
          <a:xfrm>
            <a:off x="152400" y="63449"/>
            <a:ext cx="8368363" cy="409459"/>
          </a:xfrm>
          <a:prstGeom prst="rect">
            <a:avLst/>
          </a:prstGeom>
        </p:spPr>
        <p:txBody>
          <a:bodyPr lIns="0" tIns="0" rIns="0" bIns="0" anchor="ctr">
            <a:normAutofit fontScale="97500" lnSpcReduction="10000"/>
          </a:bodyPr>
          <a:lstStyle>
            <a:lvl1pPr algn="l" defTabSz="914400" rtl="0" eaLnBrk="1" latinLnBrk="0" hangingPunct="1">
              <a:spcBef>
                <a:spcPct val="0"/>
              </a:spcBef>
              <a:buNone/>
              <a:defRPr sz="2800" kern="1200">
                <a:solidFill>
                  <a:schemeClr val="tx1">
                    <a:lumMod val="75000"/>
                    <a:lumOff val="25000"/>
                  </a:schemeClr>
                </a:solidFill>
                <a:latin typeface="+mj-lt"/>
                <a:ea typeface="+mj-ea"/>
                <a:cs typeface="+mj-cs"/>
              </a:defRPr>
            </a:lvl1pPr>
          </a:lstStyle>
          <a:p>
            <a:r>
              <a:rPr lang="en-US" b="1">
                <a:solidFill>
                  <a:schemeClr val="tx1"/>
                </a:solidFill>
                <a:latin typeface="Times New Roman" panose="02020603050405020304" pitchFamily="18" charset="0"/>
                <a:cs typeface="Times New Roman" panose="02020603050405020304" pitchFamily="18" charset="0"/>
              </a:rPr>
              <a:t>LITERATURE SURVEY</a:t>
            </a:r>
            <a:endParaRPr lang="en-US" b="1" dirty="0">
              <a:solidFill>
                <a:schemeClr val="tx1"/>
              </a:solidFill>
              <a:latin typeface="Times New Roman" panose="02020603050405020304" pitchFamily="18" charset="0"/>
              <a:cs typeface="Times New Roman" panose="02020603050405020304" pitchFamily="18" charset="0"/>
            </a:endParaRPr>
          </a:p>
        </p:txBody>
      </p:sp>
      <p:graphicFrame>
        <p:nvGraphicFramePr>
          <p:cNvPr id="16" name="Table 15">
            <a:extLst>
              <a:ext uri="{FF2B5EF4-FFF2-40B4-BE49-F238E27FC236}">
                <a16:creationId xmlns:a16="http://schemas.microsoft.com/office/drawing/2014/main" id="{82D42F66-F934-662A-5BC5-D5B7030A058D}"/>
              </a:ext>
            </a:extLst>
          </p:cNvPr>
          <p:cNvGraphicFramePr>
            <a:graphicFrameLocks noGrp="1"/>
          </p:cNvGraphicFramePr>
          <p:nvPr>
            <p:extLst>
              <p:ext uri="{D42A27DB-BD31-4B8C-83A1-F6EECF244321}">
                <p14:modId xmlns:p14="http://schemas.microsoft.com/office/powerpoint/2010/main" val="2296479774"/>
              </p:ext>
            </p:extLst>
          </p:nvPr>
        </p:nvGraphicFramePr>
        <p:xfrm>
          <a:off x="76201" y="472908"/>
          <a:ext cx="8915398" cy="4191621"/>
        </p:xfrm>
        <a:graphic>
          <a:graphicData uri="http://schemas.openxmlformats.org/drawingml/2006/table">
            <a:tbl>
              <a:tblPr firstRow="1" bandRow="1">
                <a:tableStyleId>{C083E6E3-FA7D-4D7B-A595-EF9225AFEA82}</a:tableStyleId>
              </a:tblPr>
              <a:tblGrid>
                <a:gridCol w="2285999">
                  <a:extLst>
                    <a:ext uri="{9D8B030D-6E8A-4147-A177-3AD203B41FA5}">
                      <a16:colId xmlns:a16="http://schemas.microsoft.com/office/drawing/2014/main" val="832363294"/>
                    </a:ext>
                  </a:extLst>
                </a:gridCol>
                <a:gridCol w="2743200">
                  <a:extLst>
                    <a:ext uri="{9D8B030D-6E8A-4147-A177-3AD203B41FA5}">
                      <a16:colId xmlns:a16="http://schemas.microsoft.com/office/drawing/2014/main" val="3400072118"/>
                    </a:ext>
                  </a:extLst>
                </a:gridCol>
                <a:gridCol w="2209800">
                  <a:extLst>
                    <a:ext uri="{9D8B030D-6E8A-4147-A177-3AD203B41FA5}">
                      <a16:colId xmlns:a16="http://schemas.microsoft.com/office/drawing/2014/main" val="2122441354"/>
                    </a:ext>
                  </a:extLst>
                </a:gridCol>
                <a:gridCol w="1676399">
                  <a:extLst>
                    <a:ext uri="{9D8B030D-6E8A-4147-A177-3AD203B41FA5}">
                      <a16:colId xmlns:a16="http://schemas.microsoft.com/office/drawing/2014/main" val="3160507268"/>
                    </a:ext>
                  </a:extLst>
                </a:gridCol>
              </a:tblGrid>
              <a:tr h="755123">
                <a:tc>
                  <a:txBody>
                    <a:bodyPr/>
                    <a:lstStyle/>
                    <a:p>
                      <a:pPr algn="ctr"/>
                      <a:r>
                        <a:rPr lang="en-IN" dirty="0">
                          <a:latin typeface="Times New Roman" panose="02020603050405020304" pitchFamily="18" charset="0"/>
                          <a:cs typeface="Times New Roman" panose="02020603050405020304" pitchFamily="18" charset="0"/>
                        </a:rPr>
                        <a:t>Paper 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latin typeface="Times New Roman" panose="02020603050405020304" pitchFamily="18" charset="0"/>
                          <a:cs typeface="Times New Roman" panose="02020603050405020304" pitchFamily="18" charset="0"/>
                        </a:rPr>
                        <a:t>Proposed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a:t>Methodology</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t>Research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907930955"/>
                  </a:ext>
                </a:extLst>
              </a:tr>
              <a:tr h="3436498">
                <a:tc>
                  <a:txBody>
                    <a:bodyPr/>
                    <a:lstStyle/>
                    <a:p>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Title of paper:</a:t>
                      </a:r>
                    </a:p>
                    <a:p>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Design and Simulation of Microstrip Patch</a:t>
                      </a:r>
                      <a:br>
                        <a:rPr lang="en-US" sz="1400" dirty="0">
                          <a:latin typeface="Times New Roman" panose="02020603050405020304" pitchFamily="18" charset="0"/>
                          <a:cs typeface="Times New Roman" panose="02020603050405020304" pitchFamily="18" charset="0"/>
                        </a:rPr>
                      </a:b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Antenna Using Circular Structure</a:t>
                      </a:r>
                    </a:p>
                    <a:p>
                      <a:r>
                        <a:rPr lang="en-IN" sz="1800" b="1" kern="1200" dirty="0">
                          <a:solidFill>
                            <a:schemeClr val="tx1"/>
                          </a:solidFill>
                          <a:effectLst/>
                          <a:latin typeface="Times New Roman" panose="02020603050405020304" pitchFamily="18" charset="0"/>
                          <a:cs typeface="Times New Roman" panose="02020603050405020304" pitchFamily="18" charset="0"/>
                        </a:rPr>
                        <a:t>Author Names:</a:t>
                      </a:r>
                    </a:p>
                    <a:p>
                      <a:r>
                        <a:rPr lang="en-IN" sz="1400" dirty="0" err="1">
                          <a:latin typeface="Times New Roman" panose="02020603050405020304" pitchFamily="18" charset="0"/>
                          <a:cs typeface="Times New Roman" panose="02020603050405020304" pitchFamily="18" charset="0"/>
                        </a:rPr>
                        <a:t>Kalamani</a:t>
                      </a:r>
                      <a:r>
                        <a:rPr lang="en-IN" sz="1400" dirty="0">
                          <a:latin typeface="Times New Roman" panose="02020603050405020304" pitchFamily="18" charset="0"/>
                          <a:cs typeface="Times New Roman" panose="02020603050405020304" pitchFamily="18" charset="0"/>
                        </a:rPr>
                        <a:t> C., Dhanasekar J., </a:t>
                      </a:r>
                      <a:r>
                        <a:rPr lang="en-IN" sz="1400" dirty="0" err="1">
                          <a:latin typeface="Times New Roman" panose="02020603050405020304" pitchFamily="18" charset="0"/>
                          <a:cs typeface="Times New Roman" panose="02020603050405020304" pitchFamily="18" charset="0"/>
                        </a:rPr>
                        <a:t>Abiramasundari</a:t>
                      </a:r>
                      <a:r>
                        <a:rPr lang="en-IN" sz="1400" dirty="0">
                          <a:latin typeface="Times New Roman" panose="02020603050405020304" pitchFamily="18" charset="0"/>
                          <a:cs typeface="Times New Roman" panose="02020603050405020304" pitchFamily="18" charset="0"/>
                        </a:rPr>
                        <a:t> S., and Ishwarya Niranjana M.</a:t>
                      </a:r>
                      <a:endParaRPr lang="en-IN" sz="1400" b="1" kern="1200" dirty="0">
                        <a:solidFill>
                          <a:schemeClr val="tx1"/>
                        </a:solidFill>
                        <a:effectLst/>
                        <a:latin typeface="Times New Roman" panose="02020603050405020304" pitchFamily="18" charset="0"/>
                        <a:cs typeface="Times New Roman" panose="02020603050405020304" pitchFamily="18" charset="0"/>
                      </a:endParaRPr>
                    </a:p>
                    <a:p>
                      <a:r>
                        <a:rPr lang="en-IN" sz="1800" b="1" kern="1200" dirty="0">
                          <a:solidFill>
                            <a:schemeClr val="tx1"/>
                          </a:solidFill>
                          <a:effectLst/>
                          <a:latin typeface="Times New Roman" panose="02020603050405020304" pitchFamily="18" charset="0"/>
                          <a:cs typeface="Times New Roman" panose="02020603050405020304" pitchFamily="18" charset="0"/>
                        </a:rPr>
                        <a:t>Year of Publication:</a:t>
                      </a:r>
                    </a:p>
                    <a:p>
                      <a:r>
                        <a:rPr lang="en-IN" sz="1400" b="0" i="0" kern="1200" dirty="0">
                          <a:solidFill>
                            <a:schemeClr val="tx1"/>
                          </a:solidFill>
                          <a:effectLst/>
                          <a:latin typeface="Times New Roman" panose="02020603050405020304" pitchFamily="18" charset="0"/>
                          <a:ea typeface="+mn-ea"/>
                          <a:cs typeface="Times New Roman" panose="02020603050405020304" pitchFamily="18" charset="0"/>
                        </a:rPr>
                        <a:t>2023</a:t>
                      </a:r>
                      <a:endParaRPr lang="en-IN" sz="1800" b="1" kern="1200" dirty="0">
                        <a:solidFill>
                          <a:schemeClr val="tx1"/>
                        </a:solidFill>
                        <a:effectLst/>
                        <a:latin typeface="Times New Roman" panose="02020603050405020304" pitchFamily="18" charset="0"/>
                        <a:cs typeface="Times New Roman" panose="02020603050405020304" pitchFamily="18" charset="0"/>
                      </a:endParaRPr>
                    </a:p>
                    <a:p>
                      <a:endParaRPr lang="en-IN" sz="1800" b="1" kern="1200" dirty="0">
                        <a:solidFill>
                          <a:schemeClr val="tx1"/>
                        </a:solidFill>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200" dirty="0">
                          <a:latin typeface="Times New Roman" panose="02020603050405020304" pitchFamily="18" charset="0"/>
                          <a:cs typeface="Times New Roman" panose="02020603050405020304" pitchFamily="18" charset="0"/>
                        </a:rPr>
                        <a:t>the proposed work involves designing and simulating a circular microstrip patch antenna using ADS software, operating at multiple frequency bands (4.5, 5.7, and 7.6 GHz). It aims to enhance gain, directivity, and return loss by inserting a λ/4 transmission line. The antenna operates at 5.8 GHz, suitable for WLAN and RFID applications. </a:t>
                      </a:r>
                      <a:endParaRPr lang="en-IN" sz="1200" b="1" kern="1200" dirty="0">
                        <a:solidFill>
                          <a:schemeClr val="tx1"/>
                        </a:solidFill>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200" dirty="0">
                          <a:latin typeface="Times New Roman" panose="02020603050405020304" pitchFamily="18" charset="0"/>
                          <a:cs typeface="Times New Roman" panose="02020603050405020304" pitchFamily="18" charset="0"/>
                        </a:rPr>
                        <a:t>The methodology involves designing the microstrip patch antenna with optimized dimensions using ADS software. A λ/4 transmission line is inserted to enhance gain and directivity. The antenna is structured in a circular arrangement to improve radiation performance. Simulations evaluate parameters like return loss, gain, and directivity across multiple frequency bands</a:t>
                      </a:r>
                      <a:endParaRPr lang="en-IN"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200" dirty="0">
                          <a:latin typeface="Times New Roman" panose="02020603050405020304" pitchFamily="18" charset="0"/>
                          <a:cs typeface="Times New Roman" panose="02020603050405020304" pitchFamily="18" charset="0"/>
                        </a:rPr>
                        <a:t>The study lacks exploration of multi-band performance optimization through novel structural modifications and substrate materials. Further investigation into broadening bandwidth and gain for various configurations remains needed</a:t>
                      </a:r>
                      <a:endParaRPr lang="en-IN" sz="12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53791261"/>
                  </a:ext>
                </a:extLst>
              </a:tr>
            </a:tbl>
          </a:graphicData>
        </a:graphic>
      </p:graphicFrame>
      <p:pic>
        <p:nvPicPr>
          <p:cNvPr id="19" name="Picture 18">
            <a:extLst>
              <a:ext uri="{FF2B5EF4-FFF2-40B4-BE49-F238E27FC236}">
                <a16:creationId xmlns:a16="http://schemas.microsoft.com/office/drawing/2014/main" id="{B9FF739D-910B-FBDE-580A-CA6F31403C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400" y="3105150"/>
            <a:ext cx="2514600" cy="1447800"/>
          </a:xfrm>
          <a:prstGeom prst="rect">
            <a:avLst/>
          </a:prstGeom>
        </p:spPr>
      </p:pic>
    </p:spTree>
    <p:extLst>
      <p:ext uri="{BB962C8B-B14F-4D97-AF65-F5344CB8AC3E}">
        <p14:creationId xmlns:p14="http://schemas.microsoft.com/office/powerpoint/2010/main" val="221812015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400" y="63449"/>
            <a:ext cx="8368363" cy="409459"/>
          </a:xfrm>
          <a:prstGeom prst="rect">
            <a:avLst/>
          </a:prstGeom>
        </p:spPr>
        <p:txBody>
          <a:bodyPr>
            <a:normAutofit fontScale="90000"/>
          </a:bodyPr>
          <a:lstStyle/>
          <a:p>
            <a:r>
              <a:rPr lang="en-US" b="1" dirty="0">
                <a:solidFill>
                  <a:schemeClr val="tx1"/>
                </a:solidFill>
                <a:latin typeface="Times New Roman" panose="02020603050405020304" pitchFamily="18" charset="0"/>
                <a:cs typeface="Times New Roman" panose="02020603050405020304" pitchFamily="18" charset="0"/>
              </a:rPr>
              <a:t>LITERATURE SURVEY</a:t>
            </a:r>
          </a:p>
        </p:txBody>
      </p:sp>
      <p:graphicFrame>
        <p:nvGraphicFramePr>
          <p:cNvPr id="8" name="Table 7">
            <a:extLst>
              <a:ext uri="{FF2B5EF4-FFF2-40B4-BE49-F238E27FC236}">
                <a16:creationId xmlns:a16="http://schemas.microsoft.com/office/drawing/2014/main" id="{61C99CA8-B06D-C59B-A27C-BC95F21956FB}"/>
              </a:ext>
            </a:extLst>
          </p:cNvPr>
          <p:cNvGraphicFramePr>
            <a:graphicFrameLocks noGrp="1"/>
          </p:cNvGraphicFramePr>
          <p:nvPr>
            <p:extLst>
              <p:ext uri="{D42A27DB-BD31-4B8C-83A1-F6EECF244321}">
                <p14:modId xmlns:p14="http://schemas.microsoft.com/office/powerpoint/2010/main" val="1958311639"/>
              </p:ext>
            </p:extLst>
          </p:nvPr>
        </p:nvGraphicFramePr>
        <p:xfrm>
          <a:off x="152400" y="472908"/>
          <a:ext cx="8839199" cy="3951746"/>
        </p:xfrm>
        <a:graphic>
          <a:graphicData uri="http://schemas.openxmlformats.org/drawingml/2006/table">
            <a:tbl>
              <a:tblPr firstRow="1" bandRow="1">
                <a:tableStyleId>{C083E6E3-FA7D-4D7B-A595-EF9225AFEA82}</a:tableStyleId>
              </a:tblPr>
              <a:tblGrid>
                <a:gridCol w="2209800">
                  <a:extLst>
                    <a:ext uri="{9D8B030D-6E8A-4147-A177-3AD203B41FA5}">
                      <a16:colId xmlns:a16="http://schemas.microsoft.com/office/drawing/2014/main" val="832363294"/>
                    </a:ext>
                  </a:extLst>
                </a:gridCol>
                <a:gridCol w="2743200">
                  <a:extLst>
                    <a:ext uri="{9D8B030D-6E8A-4147-A177-3AD203B41FA5}">
                      <a16:colId xmlns:a16="http://schemas.microsoft.com/office/drawing/2014/main" val="3400072118"/>
                    </a:ext>
                  </a:extLst>
                </a:gridCol>
                <a:gridCol w="2286000">
                  <a:extLst>
                    <a:ext uri="{9D8B030D-6E8A-4147-A177-3AD203B41FA5}">
                      <a16:colId xmlns:a16="http://schemas.microsoft.com/office/drawing/2014/main" val="2122441354"/>
                    </a:ext>
                  </a:extLst>
                </a:gridCol>
                <a:gridCol w="1600199">
                  <a:extLst>
                    <a:ext uri="{9D8B030D-6E8A-4147-A177-3AD203B41FA5}">
                      <a16:colId xmlns:a16="http://schemas.microsoft.com/office/drawing/2014/main" val="3160507268"/>
                    </a:ext>
                  </a:extLst>
                </a:gridCol>
              </a:tblGrid>
              <a:tr h="651042">
                <a:tc>
                  <a:txBody>
                    <a:bodyPr/>
                    <a:lstStyle/>
                    <a:p>
                      <a:pPr algn="ctr"/>
                      <a:r>
                        <a:rPr lang="en-IN" dirty="0">
                          <a:latin typeface="Times New Roman" panose="02020603050405020304" pitchFamily="18" charset="0"/>
                          <a:cs typeface="Times New Roman" panose="02020603050405020304" pitchFamily="18" charset="0"/>
                        </a:rPr>
                        <a:t>Paper 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latin typeface="Times New Roman" panose="02020603050405020304" pitchFamily="18" charset="0"/>
                          <a:cs typeface="Times New Roman" panose="02020603050405020304" pitchFamily="18" charset="0"/>
                        </a:rPr>
                        <a:t>Proposed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t>Methodology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t>Research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907930955"/>
                  </a:ext>
                </a:extLst>
              </a:tr>
              <a:tr h="3300704">
                <a:tc>
                  <a:txBody>
                    <a:bodyPr/>
                    <a:lstStyle/>
                    <a:p>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Title of </a:t>
                      </a:r>
                      <a:r>
                        <a:rPr lang="en-US" sz="1800" b="1"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paper</a:t>
                      </a:r>
                      <a:r>
                        <a:rPr lang="en-US" sz="1400" b="1"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400" b="0" i="0" kern="1200" dirty="0" err="1">
                          <a:solidFill>
                            <a:schemeClr val="tx1"/>
                          </a:solidFill>
                          <a:effectLst/>
                          <a:latin typeface="Times New Roman" panose="02020603050405020304" pitchFamily="18" charset="0"/>
                          <a:ea typeface="+mn-ea"/>
                          <a:cs typeface="Times New Roman" panose="02020603050405020304" pitchFamily="18" charset="0"/>
                        </a:rPr>
                        <a:t>Design</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and Implementation of </a:t>
                      </a:r>
                      <a:r>
                        <a:rPr lang="en-US" sz="1400" b="0" i="0" kern="1200" dirty="0" err="1">
                          <a:solidFill>
                            <a:schemeClr val="tx1"/>
                          </a:solidFill>
                          <a:effectLst/>
                          <a:latin typeface="Times New Roman" panose="02020603050405020304" pitchFamily="18" charset="0"/>
                          <a:ea typeface="+mn-ea"/>
                          <a:cs typeface="Times New Roman" panose="02020603050405020304" pitchFamily="18" charset="0"/>
                        </a:rPr>
                        <a:t>Microstrip</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Circular Patch Antenna for 5G </a:t>
                      </a:r>
                      <a:r>
                        <a:rPr lang="en-IN" sz="1400" b="0" i="0" kern="1200" dirty="0">
                          <a:solidFill>
                            <a:schemeClr val="tx1"/>
                          </a:solidFill>
                          <a:effectLst/>
                          <a:latin typeface="Times New Roman" panose="02020603050405020304" pitchFamily="18" charset="0"/>
                          <a:ea typeface="+mn-ea"/>
                          <a:cs typeface="Times New Roman" panose="02020603050405020304" pitchFamily="18" charset="0"/>
                        </a:rPr>
                        <a:t>Applications</a:t>
                      </a:r>
                      <a:r>
                        <a:rPr lang="en-IN" sz="1800" b="0" i="0" kern="1200" dirty="0">
                          <a:solidFill>
                            <a:schemeClr val="tx1"/>
                          </a:solidFill>
                          <a:effectLst/>
                          <a:latin typeface="+mn-lt"/>
                          <a:ea typeface="+mn-ea"/>
                          <a:cs typeface="+mn-cs"/>
                        </a:rPr>
                        <a:t>.</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IN" sz="1800" b="1" kern="1200" dirty="0">
                          <a:solidFill>
                            <a:schemeClr val="tx1"/>
                          </a:solidFill>
                          <a:effectLst/>
                          <a:latin typeface="Times New Roman" panose="02020603050405020304" pitchFamily="18" charset="0"/>
                          <a:cs typeface="Times New Roman" panose="02020603050405020304" pitchFamily="18" charset="0"/>
                        </a:rPr>
                        <a:t>Author Names:</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John </a:t>
                      </a:r>
                      <a:r>
                        <a:rPr lang="en-US" sz="1400" b="0" i="0" kern="1200" dirty="0" err="1">
                          <a:solidFill>
                            <a:schemeClr val="tx1"/>
                          </a:solidFill>
                          <a:effectLst/>
                          <a:latin typeface="Times New Roman" panose="02020603050405020304" pitchFamily="18" charset="0"/>
                          <a:ea typeface="+mn-ea"/>
                          <a:cs typeface="Times New Roman" panose="02020603050405020304" pitchFamily="18" charset="0"/>
                        </a:rPr>
                        <a:t>Colaco</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and Rajesh </a:t>
                      </a:r>
                      <a:r>
                        <a:rPr lang="en-US" sz="1400" b="0" i="0" kern="1200" dirty="0" err="1">
                          <a:solidFill>
                            <a:schemeClr val="tx1"/>
                          </a:solidFill>
                          <a:effectLst/>
                          <a:latin typeface="Times New Roman" panose="02020603050405020304" pitchFamily="18" charset="0"/>
                          <a:ea typeface="+mn-ea"/>
                          <a:cs typeface="Times New Roman" panose="02020603050405020304" pitchFamily="18" charset="0"/>
                        </a:rPr>
                        <a:t>Lohani</a:t>
                      </a:r>
                      <a:r>
                        <a:rPr lang="en-US" sz="1400" b="0" i="0" kern="1200" baseline="0" dirty="0">
                          <a:solidFill>
                            <a:schemeClr val="tx1"/>
                          </a:solidFill>
                          <a:effectLst/>
                          <a:latin typeface="Times New Roman" panose="02020603050405020304" pitchFamily="18" charset="0"/>
                          <a:ea typeface="+mn-ea"/>
                          <a:cs typeface="Times New Roman" panose="02020603050405020304" pitchFamily="18" charset="0"/>
                        </a:rPr>
                        <a:t> </a:t>
                      </a:r>
                    </a:p>
                    <a:p>
                      <a:r>
                        <a:rPr lang="en-IN" sz="1800" b="1" kern="1200" dirty="0">
                          <a:solidFill>
                            <a:schemeClr val="tx1"/>
                          </a:solidFill>
                          <a:effectLst/>
                          <a:latin typeface="Times New Roman" panose="02020603050405020304" pitchFamily="18" charset="0"/>
                          <a:cs typeface="Times New Roman" panose="02020603050405020304" pitchFamily="18" charset="0"/>
                        </a:rPr>
                        <a:t>Year of Publication:</a:t>
                      </a:r>
                    </a:p>
                    <a:p>
                      <a:r>
                        <a:rPr lang="en-IN" sz="1400" dirty="0">
                          <a:latin typeface="Times New Roman" panose="02020603050405020304" pitchFamily="18" charset="0"/>
                          <a:cs typeface="Times New Roman" panose="02020603050405020304" pitchFamily="18" charset="0"/>
                        </a:rPr>
                        <a:t>2020</a:t>
                      </a:r>
                      <a:endParaRPr lang="en-IN" sz="1400" b="1" kern="1200" dirty="0">
                        <a:solidFill>
                          <a:schemeClr val="tx1"/>
                        </a:solidFill>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The paper focuses on the design and implementation of a </a:t>
                      </a:r>
                      <a:r>
                        <a:rPr lang="en-US" sz="1400" b="0" i="0" kern="1200" dirty="0" err="1">
                          <a:solidFill>
                            <a:schemeClr val="tx1"/>
                          </a:solidFill>
                          <a:effectLst/>
                          <a:latin typeface="Times New Roman" panose="02020603050405020304" pitchFamily="18" charset="0"/>
                          <a:ea typeface="+mn-ea"/>
                          <a:cs typeface="Times New Roman" panose="02020603050405020304" pitchFamily="18" charset="0"/>
                        </a:rPr>
                        <a:t>microstrip</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circular patch antenna for 5G applications, operating at a resonant frequency of 28.5 GHz. Utilizing FEKO software for simulation.</a:t>
                      </a:r>
                      <a:endParaRPr lang="en-IN" sz="1400" b="1" kern="1200" dirty="0">
                        <a:solidFill>
                          <a:schemeClr val="tx1"/>
                        </a:solidFill>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The methodology for designing the </a:t>
                      </a:r>
                      <a:r>
                        <a:rPr lang="en-US" sz="1400" b="0" i="0" kern="1200" dirty="0" err="1">
                          <a:solidFill>
                            <a:schemeClr val="tx1"/>
                          </a:solidFill>
                          <a:effectLst/>
                          <a:latin typeface="Times New Roman" panose="02020603050405020304" pitchFamily="18" charset="0"/>
                          <a:ea typeface="+mn-ea"/>
                          <a:cs typeface="Times New Roman" panose="02020603050405020304" pitchFamily="18" charset="0"/>
                        </a:rPr>
                        <a:t>microstrip</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circular patch antenna for 5G applications involves defining parameters using Rogers RT/</a:t>
                      </a:r>
                      <a:r>
                        <a:rPr lang="en-US" sz="1400" b="0" i="0" kern="1200" dirty="0" err="1">
                          <a:solidFill>
                            <a:schemeClr val="tx1"/>
                          </a:solidFill>
                          <a:effectLst/>
                          <a:latin typeface="Times New Roman" panose="02020603050405020304" pitchFamily="18" charset="0"/>
                          <a:ea typeface="+mn-ea"/>
                          <a:cs typeface="Times New Roman" panose="02020603050405020304" pitchFamily="18" charset="0"/>
                        </a:rPr>
                        <a:t>Duroid</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5880 substrate. The antenna geometry is established, followed by simulation with FEKO software. Key performance metrics, including return loss, gain, bandwidth, and radiation efficiency, are analyzed.</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Need for improved bandwidth and gain compared to existing designs.</a:t>
                      </a:r>
                    </a:p>
                    <a:p>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Challenges related to dielectric losses and antenna size suggest that exploring alternative materials</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53791261"/>
                  </a:ext>
                </a:extLst>
              </a:tr>
            </a:tbl>
          </a:graphicData>
        </a:graphic>
      </p:graphicFrame>
      <p:sp>
        <p:nvSpPr>
          <p:cNvPr id="2" name="Rectangle: Rounded Corners 1">
            <a:extLst>
              <a:ext uri="{FF2B5EF4-FFF2-40B4-BE49-F238E27FC236}">
                <a16:creationId xmlns:a16="http://schemas.microsoft.com/office/drawing/2014/main" id="{47D6B1C5-DCD5-94C8-79EB-D04ED55BA7E8}"/>
              </a:ext>
            </a:extLst>
          </p:cNvPr>
          <p:cNvSpPr/>
          <p:nvPr/>
        </p:nvSpPr>
        <p:spPr bwMode="auto">
          <a:xfrm>
            <a:off x="0" y="46835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MAJOR PROJECT PHASE 1 (BEC685)</a:t>
            </a:r>
          </a:p>
        </p:txBody>
      </p:sp>
      <p:pic>
        <p:nvPicPr>
          <p:cNvPr id="5" name="Picture 4"/>
          <p:cNvPicPr>
            <a:picLocks noChangeAspect="1"/>
          </p:cNvPicPr>
          <p:nvPr/>
        </p:nvPicPr>
        <p:blipFill rotWithShape="1">
          <a:blip r:embed="rId2"/>
          <a:srcRect l="6772" t="5651" r="11970" b="5459"/>
          <a:stretch/>
        </p:blipFill>
        <p:spPr>
          <a:xfrm>
            <a:off x="2514600" y="2740572"/>
            <a:ext cx="2286000" cy="1595602"/>
          </a:xfrm>
          <a:prstGeom prst="rect">
            <a:avLst/>
          </a:prstGeom>
        </p:spPr>
      </p:pic>
      <p:sp>
        <p:nvSpPr>
          <p:cNvPr id="6" name="Rectangle: Rounded Corners 1">
            <a:extLst>
              <a:ext uri="{FF2B5EF4-FFF2-40B4-BE49-F238E27FC236}">
                <a16:creationId xmlns:a16="http://schemas.microsoft.com/office/drawing/2014/main" id="{434D85A4-3AE9-8DD6-914A-EF1A4D5EB778}"/>
              </a:ext>
            </a:extLst>
          </p:cNvPr>
          <p:cNvSpPr/>
          <p:nvPr/>
        </p:nvSpPr>
        <p:spPr bwMode="auto">
          <a:xfrm>
            <a:off x="0" y="466452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Circularly Polarized Multi-Band </a:t>
            </a:r>
            <a:r>
              <a:rPr lang="en-US" sz="1600" b="1" dirty="0" err="1">
                <a:solidFill>
                  <a:schemeClr val="bg1"/>
                </a:solidFill>
                <a:latin typeface="Times New Roman" panose="02020603050405020304" pitchFamily="18" charset="0"/>
                <a:cs typeface="Times New Roman" panose="02020603050405020304" pitchFamily="18" charset="0"/>
              </a:rPr>
              <a:t>Microstrip</a:t>
            </a:r>
            <a:r>
              <a:rPr lang="en-US" sz="1600" b="1" dirty="0">
                <a:solidFill>
                  <a:schemeClr val="bg1"/>
                </a:solidFill>
                <a:latin typeface="Times New Roman" panose="02020603050405020304" pitchFamily="18" charset="0"/>
                <a:cs typeface="Times New Roman" panose="02020603050405020304" pitchFamily="18" charset="0"/>
              </a:rPr>
              <a:t> Patch Antenna for 5G and </a:t>
            </a:r>
            <a:r>
              <a:rPr lang="en-US" sz="1600" b="1" dirty="0" err="1">
                <a:solidFill>
                  <a:schemeClr val="bg1"/>
                </a:solidFill>
                <a:latin typeface="Times New Roman" panose="02020603050405020304" pitchFamily="18" charset="0"/>
                <a:cs typeface="Times New Roman" panose="02020603050405020304" pitchFamily="18" charset="0"/>
              </a:rPr>
              <a:t>IoT</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7" name="Rectangle: Rounded Corners 1">
            <a:extLst>
              <a:ext uri="{FF2B5EF4-FFF2-40B4-BE49-F238E27FC236}">
                <a16:creationId xmlns:a16="http://schemas.microsoft.com/office/drawing/2014/main" id="{434D85A4-3AE9-8DD6-914A-EF1A4D5EB778}"/>
              </a:ext>
            </a:extLst>
          </p:cNvPr>
          <p:cNvSpPr/>
          <p:nvPr/>
        </p:nvSpPr>
        <p:spPr bwMode="auto">
          <a:xfrm>
            <a:off x="0" y="4664528"/>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4270468"/>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2986" y="4680164"/>
            <a:ext cx="9156986" cy="463336"/>
          </a:xfrm>
          <a:prstGeom prst="rect">
            <a:avLst/>
          </a:prstGeom>
        </p:spPr>
      </p:pic>
      <p:sp>
        <p:nvSpPr>
          <p:cNvPr id="3" name="Title 2">
            <a:extLst>
              <a:ext uri="{FF2B5EF4-FFF2-40B4-BE49-F238E27FC236}">
                <a16:creationId xmlns:a16="http://schemas.microsoft.com/office/drawing/2014/main" id="{51074F98-6DB1-A9BD-4630-FCFC46E2BDD7}"/>
              </a:ext>
            </a:extLst>
          </p:cNvPr>
          <p:cNvSpPr>
            <a:spLocks noGrp="1"/>
          </p:cNvSpPr>
          <p:nvPr>
            <p:ph type="title"/>
          </p:nvPr>
        </p:nvSpPr>
        <p:spPr/>
        <p:txBody>
          <a:bodyPr/>
          <a:lstStyle/>
          <a:p>
            <a:r>
              <a:rPr lang="en-US" sz="2500" b="1" dirty="0">
                <a:solidFill>
                  <a:schemeClr val="tx1"/>
                </a:solidFill>
                <a:latin typeface="Times New Roman" panose="02020603050405020304" pitchFamily="18" charset="0"/>
                <a:cs typeface="Times New Roman" panose="02020603050405020304" pitchFamily="18" charset="0"/>
              </a:rPr>
              <a:t>LITERATURE SURVEY</a:t>
            </a:r>
            <a:endParaRPr lang="en-IN" sz="2500" dirty="0"/>
          </a:p>
        </p:txBody>
      </p:sp>
      <p:graphicFrame>
        <p:nvGraphicFramePr>
          <p:cNvPr id="4" name="Table 3">
            <a:extLst>
              <a:ext uri="{FF2B5EF4-FFF2-40B4-BE49-F238E27FC236}">
                <a16:creationId xmlns:a16="http://schemas.microsoft.com/office/drawing/2014/main" id="{B0643813-2940-2AC5-8977-9F791D5417A4}"/>
              </a:ext>
            </a:extLst>
          </p:cNvPr>
          <p:cNvGraphicFramePr>
            <a:graphicFrameLocks noGrp="1"/>
          </p:cNvGraphicFramePr>
          <p:nvPr>
            <p:extLst>
              <p:ext uri="{D42A27DB-BD31-4B8C-83A1-F6EECF244321}">
                <p14:modId xmlns:p14="http://schemas.microsoft.com/office/powerpoint/2010/main" val="3093078542"/>
              </p:ext>
            </p:extLst>
          </p:nvPr>
        </p:nvGraphicFramePr>
        <p:xfrm>
          <a:off x="304800" y="692070"/>
          <a:ext cx="8648700" cy="3988094"/>
        </p:xfrm>
        <a:graphic>
          <a:graphicData uri="http://schemas.openxmlformats.org/drawingml/2006/table">
            <a:tbl>
              <a:tblPr firstRow="1" bandRow="1">
                <a:tableStyleId>{5940675A-B579-460E-94D1-54222C63F5DA}</a:tableStyleId>
              </a:tblPr>
              <a:tblGrid>
                <a:gridCol w="2209800">
                  <a:extLst>
                    <a:ext uri="{9D8B030D-6E8A-4147-A177-3AD203B41FA5}">
                      <a16:colId xmlns:a16="http://schemas.microsoft.com/office/drawing/2014/main" val="2521272441"/>
                    </a:ext>
                  </a:extLst>
                </a:gridCol>
                <a:gridCol w="2743200">
                  <a:extLst>
                    <a:ext uri="{9D8B030D-6E8A-4147-A177-3AD203B41FA5}">
                      <a16:colId xmlns:a16="http://schemas.microsoft.com/office/drawing/2014/main" val="4028610248"/>
                    </a:ext>
                  </a:extLst>
                </a:gridCol>
                <a:gridCol w="1828800">
                  <a:extLst>
                    <a:ext uri="{9D8B030D-6E8A-4147-A177-3AD203B41FA5}">
                      <a16:colId xmlns:a16="http://schemas.microsoft.com/office/drawing/2014/main" val="3465602842"/>
                    </a:ext>
                  </a:extLst>
                </a:gridCol>
                <a:gridCol w="1866900">
                  <a:extLst>
                    <a:ext uri="{9D8B030D-6E8A-4147-A177-3AD203B41FA5}">
                      <a16:colId xmlns:a16="http://schemas.microsoft.com/office/drawing/2014/main" val="3781182485"/>
                    </a:ext>
                  </a:extLst>
                </a:gridCol>
              </a:tblGrid>
              <a:tr h="454233">
                <a:tc>
                  <a:txBody>
                    <a:bodyPr/>
                    <a:lstStyle/>
                    <a:p>
                      <a:r>
                        <a:rPr lang="en-IN" b="1" dirty="0">
                          <a:latin typeface="Times New Roman" panose="02020603050405020304" pitchFamily="18" charset="0"/>
                          <a:cs typeface="Times New Roman" panose="02020603050405020304" pitchFamily="18" charset="0"/>
                        </a:rPr>
                        <a:t>Paper Details</a:t>
                      </a:r>
                    </a:p>
                  </a:txBody>
                  <a:tcPr/>
                </a:tc>
                <a:tc>
                  <a:txBody>
                    <a:bodyPr/>
                    <a:lstStyle/>
                    <a:p>
                      <a:r>
                        <a:rPr lang="en-IN" b="1" dirty="0">
                          <a:latin typeface="Times New Roman" panose="02020603050405020304" pitchFamily="18" charset="0"/>
                          <a:cs typeface="Times New Roman" panose="02020603050405020304" pitchFamily="18" charset="0"/>
                        </a:rPr>
                        <a:t>Proposed Work</a:t>
                      </a:r>
                    </a:p>
                  </a:txBody>
                  <a:tcPr/>
                </a:tc>
                <a:tc>
                  <a:txBody>
                    <a:bodyPr/>
                    <a:lstStyle/>
                    <a:p>
                      <a:r>
                        <a:rPr lang="en-IN" b="1" dirty="0">
                          <a:latin typeface="Times New Roman" panose="02020603050405020304" pitchFamily="18" charset="0"/>
                          <a:cs typeface="Times New Roman" panose="02020603050405020304" pitchFamily="18" charset="0"/>
                        </a:rPr>
                        <a:t>Methodology</a:t>
                      </a:r>
                    </a:p>
                  </a:txBody>
                  <a:tcPr/>
                </a:tc>
                <a:tc>
                  <a:txBody>
                    <a:bodyPr/>
                    <a:lstStyle/>
                    <a:p>
                      <a:r>
                        <a:rPr lang="en-IN" b="1" dirty="0">
                          <a:latin typeface="Times New Roman" panose="02020603050405020304" pitchFamily="18" charset="0"/>
                          <a:cs typeface="Times New Roman" panose="02020603050405020304" pitchFamily="18" charset="0"/>
                        </a:rPr>
                        <a:t>Research Gap</a:t>
                      </a:r>
                    </a:p>
                  </a:txBody>
                  <a:tcPr/>
                </a:tc>
                <a:extLst>
                  <a:ext uri="{0D108BD9-81ED-4DB2-BD59-A6C34878D82A}">
                    <a16:rowId xmlns:a16="http://schemas.microsoft.com/office/drawing/2014/main" val="1664841714"/>
                  </a:ext>
                </a:extLst>
              </a:tr>
              <a:tr h="3533861">
                <a:tc>
                  <a:txBody>
                    <a:bodyPr/>
                    <a:lstStyle/>
                    <a:p>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Title of </a:t>
                      </a:r>
                      <a:r>
                        <a:rPr lang="en-US" sz="1800" b="1"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paper</a:t>
                      </a:r>
                      <a:r>
                        <a:rPr lang="en-US" sz="1400" b="1"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400" b="0"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Microstrip</a:t>
                      </a:r>
                      <a:r>
                        <a:rPr lang="en-US"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Patch Antenna Design and Analysis </a:t>
                      </a:r>
                      <a:r>
                        <a:rPr lang="en-US" sz="1400" b="0"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withVarying</a:t>
                      </a:r>
                      <a:r>
                        <a:rPr lang="en-US"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Substrates For 5G.</a:t>
                      </a:r>
                      <a:endParaRPr lang="en-US" sz="1400" b="1"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tx1"/>
                          </a:solidFill>
                          <a:effectLst/>
                          <a:latin typeface="Times New Roman" panose="02020603050405020304" pitchFamily="18" charset="0"/>
                          <a:cs typeface="Times New Roman" panose="02020603050405020304" pitchFamily="18" charset="0"/>
                        </a:rPr>
                        <a:t>Author Names: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kern="1200" dirty="0">
                          <a:solidFill>
                            <a:schemeClr val="tx1"/>
                          </a:solidFill>
                          <a:effectLst/>
                          <a:latin typeface="Times New Roman" panose="02020603050405020304" pitchFamily="18" charset="0"/>
                          <a:cs typeface="Times New Roman" panose="02020603050405020304" pitchFamily="18" charset="0"/>
                        </a:rPr>
                        <a:t>Rameshwar A.</a:t>
                      </a:r>
                      <a:endParaRPr lang="en-IN" sz="1800" b="1" kern="1200" dirty="0">
                        <a:solidFill>
                          <a:schemeClr val="tx1"/>
                        </a:solidFill>
                        <a:effectLst/>
                        <a:latin typeface="Times New Roman" panose="02020603050405020304" pitchFamily="18" charset="0"/>
                        <a:cs typeface="Times New Roman" panose="02020603050405020304" pitchFamily="18" charset="0"/>
                      </a:endParaRPr>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tx1"/>
                          </a:solidFill>
                          <a:effectLst/>
                          <a:latin typeface="Times New Roman" panose="02020603050405020304" pitchFamily="18" charset="0"/>
                          <a:cs typeface="Times New Roman" panose="02020603050405020304" pitchFamily="18" charset="0"/>
                        </a:rPr>
                        <a:t>Year of Publication:</a:t>
                      </a:r>
                    </a:p>
                    <a:p>
                      <a:r>
                        <a:rPr lang="en-IN" sz="1400" dirty="0">
                          <a:latin typeface="Times New Roman" panose="02020603050405020304" pitchFamily="18" charset="0"/>
                          <a:cs typeface="Times New Roman" panose="02020603050405020304" pitchFamily="18" charset="0"/>
                        </a:rPr>
                        <a:t>2020</a:t>
                      </a:r>
                    </a:p>
                  </a:txBody>
                  <a:tcPr/>
                </a:tc>
                <a:tc>
                  <a:txBody>
                    <a:bodyPr/>
                    <a:lstStyle/>
                    <a:p>
                      <a:r>
                        <a:rPr lang="en-US" sz="1400" dirty="0">
                          <a:latin typeface="Times New Roman" panose="02020603050405020304" pitchFamily="18" charset="0"/>
                          <a:cs typeface="Times New Roman" panose="02020603050405020304" pitchFamily="18" charset="0"/>
                        </a:rPr>
                        <a:t>This work designs and analyzes microstrip patch antennas at 28 GHz and 39 GHz using different substrates to identify the most efficient material for 5G applications.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The antenna was designed using an inset-fed rectangular patch, tested at 28 GHz and 39 GHz, and analyzed with different substrates (Rogers 5880, FR4, Teflon) using ADS and MATLAB to evaluate performance. </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There is limited research comparing different substrates for microstrip patch antennas at 5G mm-wave frequencies to optimize performance.</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32375485"/>
                  </a:ext>
                </a:extLst>
              </a:tr>
            </a:tbl>
          </a:graphicData>
        </a:graphic>
      </p:graphicFrame>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4600" y="2502328"/>
            <a:ext cx="2667000" cy="2152650"/>
          </a:xfrm>
          <a:prstGeom prst="rect">
            <a:avLst/>
          </a:prstGeom>
        </p:spPr>
      </p:pic>
      <p:sp>
        <p:nvSpPr>
          <p:cNvPr id="7" name="Rectangle: Rounded Corners 1">
            <a:extLst>
              <a:ext uri="{FF2B5EF4-FFF2-40B4-BE49-F238E27FC236}">
                <a16:creationId xmlns:a16="http://schemas.microsoft.com/office/drawing/2014/main" id="{434D85A4-3AE9-8DD6-914A-EF1A4D5EB778}"/>
              </a:ext>
            </a:extLst>
          </p:cNvPr>
          <p:cNvSpPr/>
          <p:nvPr/>
        </p:nvSpPr>
        <p:spPr bwMode="auto">
          <a:xfrm>
            <a:off x="0" y="4654978"/>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2443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E50F89F-4797-4A54-3F45-4B558BF6BA97}"/>
              </a:ext>
            </a:extLst>
          </p:cNvPr>
          <p:cNvSpPr>
            <a:spLocks noGrp="1"/>
          </p:cNvSpPr>
          <p:nvPr>
            <p:ph type="title"/>
          </p:nvPr>
        </p:nvSpPr>
        <p:spPr>
          <a:xfrm>
            <a:off x="304801" y="1"/>
            <a:ext cx="8451382" cy="438149"/>
          </a:xfrm>
        </p:spPr>
        <p:txBody>
          <a:bodyPr/>
          <a:lstStyle/>
          <a:p>
            <a:r>
              <a:rPr lang="en-US" sz="2500" b="1" dirty="0">
                <a:solidFill>
                  <a:schemeClr val="tx1"/>
                </a:solidFill>
                <a:latin typeface="Times New Roman" panose="02020603050405020304" pitchFamily="18" charset="0"/>
                <a:cs typeface="Times New Roman" panose="02020603050405020304" pitchFamily="18" charset="0"/>
              </a:rPr>
              <a:t>LITERATURE SURVEY</a:t>
            </a:r>
            <a:endParaRPr lang="en-IN" sz="2500" dirty="0"/>
          </a:p>
        </p:txBody>
      </p:sp>
      <p:graphicFrame>
        <p:nvGraphicFramePr>
          <p:cNvPr id="5" name="Table 4">
            <a:extLst>
              <a:ext uri="{FF2B5EF4-FFF2-40B4-BE49-F238E27FC236}">
                <a16:creationId xmlns:a16="http://schemas.microsoft.com/office/drawing/2014/main" id="{8205D5D1-6675-FF0A-9D77-8A3B7675E86B}"/>
              </a:ext>
            </a:extLst>
          </p:cNvPr>
          <p:cNvGraphicFramePr>
            <a:graphicFrameLocks noGrp="1"/>
          </p:cNvGraphicFramePr>
          <p:nvPr>
            <p:extLst>
              <p:ext uri="{D42A27DB-BD31-4B8C-83A1-F6EECF244321}">
                <p14:modId xmlns:p14="http://schemas.microsoft.com/office/powerpoint/2010/main" val="2792026139"/>
              </p:ext>
            </p:extLst>
          </p:nvPr>
        </p:nvGraphicFramePr>
        <p:xfrm>
          <a:off x="304800" y="614518"/>
          <a:ext cx="8610600" cy="4013201"/>
        </p:xfrm>
        <a:graphic>
          <a:graphicData uri="http://schemas.openxmlformats.org/drawingml/2006/table">
            <a:tbl>
              <a:tblPr firstRow="1" bandRow="1">
                <a:tableStyleId>{5940675A-B579-460E-94D1-54222C63F5DA}</a:tableStyleId>
              </a:tblPr>
              <a:tblGrid>
                <a:gridCol w="2152650">
                  <a:extLst>
                    <a:ext uri="{9D8B030D-6E8A-4147-A177-3AD203B41FA5}">
                      <a16:colId xmlns:a16="http://schemas.microsoft.com/office/drawing/2014/main" val="1270115071"/>
                    </a:ext>
                  </a:extLst>
                </a:gridCol>
                <a:gridCol w="2571750">
                  <a:extLst>
                    <a:ext uri="{9D8B030D-6E8A-4147-A177-3AD203B41FA5}">
                      <a16:colId xmlns:a16="http://schemas.microsoft.com/office/drawing/2014/main" val="1311302216"/>
                    </a:ext>
                  </a:extLst>
                </a:gridCol>
                <a:gridCol w="2133600">
                  <a:extLst>
                    <a:ext uri="{9D8B030D-6E8A-4147-A177-3AD203B41FA5}">
                      <a16:colId xmlns:a16="http://schemas.microsoft.com/office/drawing/2014/main" val="1323202831"/>
                    </a:ext>
                  </a:extLst>
                </a:gridCol>
                <a:gridCol w="1752600">
                  <a:extLst>
                    <a:ext uri="{9D8B030D-6E8A-4147-A177-3AD203B41FA5}">
                      <a16:colId xmlns:a16="http://schemas.microsoft.com/office/drawing/2014/main" val="350528452"/>
                    </a:ext>
                  </a:extLst>
                </a:gridCol>
              </a:tblGrid>
              <a:tr h="533413">
                <a:tc>
                  <a:txBody>
                    <a:bodyPr/>
                    <a:lstStyle/>
                    <a:p>
                      <a:r>
                        <a:rPr lang="en-IN" b="1" dirty="0">
                          <a:latin typeface="Times New Roman" panose="02020603050405020304" pitchFamily="18" charset="0"/>
                          <a:cs typeface="Times New Roman" panose="02020603050405020304" pitchFamily="18" charset="0"/>
                        </a:rPr>
                        <a:t>Paper Detail</a:t>
                      </a:r>
                    </a:p>
                  </a:txBody>
                  <a:tcPr/>
                </a:tc>
                <a:tc>
                  <a:txBody>
                    <a:bodyPr/>
                    <a:lstStyle/>
                    <a:p>
                      <a:r>
                        <a:rPr lang="en-IN" b="1" dirty="0">
                          <a:latin typeface="Times New Roman" panose="02020603050405020304" pitchFamily="18" charset="0"/>
                          <a:cs typeface="Times New Roman" panose="02020603050405020304" pitchFamily="18" charset="0"/>
                        </a:rPr>
                        <a:t>Proposed work</a:t>
                      </a:r>
                    </a:p>
                  </a:txBody>
                  <a:tcPr/>
                </a:tc>
                <a:tc>
                  <a:txBody>
                    <a:bodyPr/>
                    <a:lstStyle/>
                    <a:p>
                      <a:r>
                        <a:rPr lang="en-IN" b="1" dirty="0">
                          <a:latin typeface="Times New Roman" panose="02020603050405020304" pitchFamily="18" charset="0"/>
                          <a:cs typeface="Times New Roman" panose="02020603050405020304" pitchFamily="18" charset="0"/>
                        </a:rPr>
                        <a:t>Methodology</a:t>
                      </a:r>
                    </a:p>
                  </a:txBody>
                  <a:tcPr/>
                </a:tc>
                <a:tc>
                  <a:txBody>
                    <a:bodyPr/>
                    <a:lstStyle/>
                    <a:p>
                      <a:r>
                        <a:rPr lang="en-IN" b="1" dirty="0">
                          <a:latin typeface="Times New Roman" panose="02020603050405020304" pitchFamily="18" charset="0"/>
                          <a:cs typeface="Times New Roman" panose="02020603050405020304" pitchFamily="18" charset="0"/>
                        </a:rPr>
                        <a:t>Research Gap</a:t>
                      </a:r>
                    </a:p>
                  </a:txBody>
                  <a:tcPr/>
                </a:tc>
                <a:extLst>
                  <a:ext uri="{0D108BD9-81ED-4DB2-BD59-A6C34878D82A}">
                    <a16:rowId xmlns:a16="http://schemas.microsoft.com/office/drawing/2014/main" val="173644375"/>
                  </a:ext>
                </a:extLst>
              </a:tr>
              <a:tr h="3479788">
                <a:tc>
                  <a:txBody>
                    <a:bodyPr/>
                    <a:lstStyle/>
                    <a:p>
                      <a:r>
                        <a:rPr lang="en-IN" b="1" dirty="0">
                          <a:latin typeface="Times New Roman" panose="02020603050405020304" pitchFamily="18" charset="0"/>
                          <a:cs typeface="Times New Roman" panose="02020603050405020304" pitchFamily="18" charset="0"/>
                        </a:rPr>
                        <a:t>Title of paper: </a:t>
                      </a:r>
                      <a:r>
                        <a:rPr lang="en-US" sz="1400" b="0" dirty="0">
                          <a:latin typeface="Times New Roman" panose="02020603050405020304" pitchFamily="18" charset="0"/>
                          <a:cs typeface="Times New Roman" panose="02020603050405020304" pitchFamily="18" charset="0"/>
                        </a:rPr>
                        <a:t>Design and simulation of rectangular microstrip patch antenna with 5Gmm-wave Coaxial Line Back-feed and Microstrip Line side-feeds</a:t>
                      </a:r>
                      <a:endParaRPr lang="en-IN" sz="1400" b="0"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Author names: </a:t>
                      </a:r>
                      <a:r>
                        <a:rPr lang="en-IN" sz="1400" b="0" dirty="0" err="1">
                          <a:latin typeface="Times New Roman" panose="02020603050405020304" pitchFamily="18" charset="0"/>
                          <a:cs typeface="Times New Roman" panose="02020603050405020304" pitchFamily="18" charset="0"/>
                        </a:rPr>
                        <a:t>Hongxin,Chenwei</a:t>
                      </a:r>
                      <a:r>
                        <a:rPr lang="en-IN" sz="1400" b="0" dirty="0">
                          <a:latin typeface="Times New Roman" panose="02020603050405020304" pitchFamily="18" charset="0"/>
                          <a:cs typeface="Times New Roman" panose="02020603050405020304" pitchFamily="18" charset="0"/>
                        </a:rPr>
                        <a:t> Wu</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Year of Publication:</a:t>
                      </a:r>
                    </a:p>
                    <a:p>
                      <a:r>
                        <a:rPr lang="en-IN" sz="1400" b="0" dirty="0">
                          <a:latin typeface="Times New Roman" panose="02020603050405020304" pitchFamily="18" charset="0"/>
                          <a:cs typeface="Times New Roman" panose="02020603050405020304" pitchFamily="18" charset="0"/>
                        </a:rPr>
                        <a:t>2020.</a:t>
                      </a:r>
                    </a:p>
                  </a:txBody>
                  <a:tcPr/>
                </a:tc>
                <a:tc>
                  <a:txBody>
                    <a:bodyPr/>
                    <a:lstStyle/>
                    <a:p>
                      <a:r>
                        <a:rPr lang="en-US" sz="1400" dirty="0">
                          <a:latin typeface="Times New Roman" panose="02020603050405020304" pitchFamily="18" charset="0"/>
                          <a:cs typeface="Times New Roman" panose="02020603050405020304" pitchFamily="18" charset="0"/>
                        </a:rPr>
                        <a:t>A self-decoupling circularly polarized MIMO antenna is proposed, using polarization mismatch and a null-field feed position to achieve high isolation without additional decoupling structures.</a:t>
                      </a:r>
                      <a:endParaRPr lang="en-IN" sz="1400" dirty="0">
                        <a:latin typeface="Times New Roman" panose="02020603050405020304" pitchFamily="18" charset="0"/>
                        <a:cs typeface="Times New Roman" panose="02020603050405020304" pitchFamily="18" charset="0"/>
                      </a:endParaRPr>
                    </a:p>
                  </a:txBody>
                  <a:tcPr/>
                </a:tc>
                <a:tc>
                  <a:txBody>
                    <a:bodyPr/>
                    <a:lstStyle/>
                    <a:p>
                      <a:pPr algn="l"/>
                      <a:r>
                        <a:rPr lang="en-US" sz="1400" dirty="0">
                          <a:latin typeface="Times New Roman" panose="02020603050405020304" pitchFamily="18" charset="0"/>
                          <a:cs typeface="Times New Roman" panose="02020603050405020304" pitchFamily="18" charset="0"/>
                        </a:rPr>
                        <a:t>Two square microstrip patch antennas were designed with L-shaped feeds and corner cuts to achieve circular polarization . Polarization mismatch and null-field placement enabled self-decoupling, ensuring high isolation without extra structures.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There is a lack of compact, self-decoupling circularly polarized MIMO antenna designs that avoid using extra isolation structures.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48454923"/>
                  </a:ext>
                </a:extLst>
              </a:tr>
            </a:tbl>
          </a:graphicData>
        </a:graphic>
      </p:graphicFrame>
      <p:pic>
        <p:nvPicPr>
          <p:cNvPr id="4" name="Picture 3"/>
          <p:cNvPicPr>
            <a:picLocks noChangeAspect="1"/>
          </p:cNvPicPr>
          <p:nvPr/>
        </p:nvPicPr>
        <p:blipFill>
          <a:blip r:embed="rId2"/>
          <a:stretch>
            <a:fillRect/>
          </a:stretch>
        </p:blipFill>
        <p:spPr>
          <a:xfrm>
            <a:off x="31607" y="4655859"/>
            <a:ext cx="9156986" cy="463336"/>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4600" y="2751294"/>
            <a:ext cx="2371396" cy="1876425"/>
          </a:xfrm>
          <a:prstGeom prst="rect">
            <a:avLst/>
          </a:prstGeom>
        </p:spPr>
      </p:pic>
      <p:sp>
        <p:nvSpPr>
          <p:cNvPr id="7" name="Rectangle: Rounded Corners 1">
            <a:extLst>
              <a:ext uri="{FF2B5EF4-FFF2-40B4-BE49-F238E27FC236}">
                <a16:creationId xmlns:a16="http://schemas.microsoft.com/office/drawing/2014/main" id="{434D85A4-3AE9-8DD6-914A-EF1A4D5EB778}"/>
              </a:ext>
            </a:extLst>
          </p:cNvPr>
          <p:cNvSpPr/>
          <p:nvPr/>
        </p:nvSpPr>
        <p:spPr bwMode="auto">
          <a:xfrm>
            <a:off x="10434" y="4687414"/>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2667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E7A051A-F48A-65ED-3173-DFBA0F06BF75}"/>
              </a:ext>
            </a:extLst>
          </p:cNvPr>
          <p:cNvSpPr>
            <a:spLocks noGrp="1"/>
          </p:cNvSpPr>
          <p:nvPr>
            <p:ph type="body" sz="half" idx="2"/>
          </p:nvPr>
        </p:nvSpPr>
        <p:spPr/>
        <p:txBody>
          <a:bodyPr/>
          <a:lstStyle/>
          <a:p>
            <a:endParaRPr lang="en-IN"/>
          </a:p>
        </p:txBody>
      </p:sp>
      <p:sp>
        <p:nvSpPr>
          <p:cNvPr id="4" name="Title 2">
            <a:extLst>
              <a:ext uri="{FF2B5EF4-FFF2-40B4-BE49-F238E27FC236}">
                <a16:creationId xmlns:a16="http://schemas.microsoft.com/office/drawing/2014/main" id="{A9B15E3D-3648-72B0-7E59-C7D6FE20D892}"/>
              </a:ext>
            </a:extLst>
          </p:cNvPr>
          <p:cNvSpPr txBox="1">
            <a:spLocks/>
          </p:cNvSpPr>
          <p:nvPr/>
        </p:nvSpPr>
        <p:spPr>
          <a:xfrm>
            <a:off x="152400" y="63449"/>
            <a:ext cx="8368363" cy="409459"/>
          </a:xfrm>
          <a:prstGeom prst="rect">
            <a:avLst/>
          </a:prstGeom>
        </p:spPr>
        <p:txBody>
          <a:bodyPr lIns="0" tIns="0" rIns="0" bIns="0" anchor="ctr">
            <a:normAutofit fontScale="97500" lnSpcReduction="10000"/>
          </a:bodyPr>
          <a:lstStyle>
            <a:lvl1pPr algn="l" defTabSz="914400" rtl="0" eaLnBrk="1" latinLnBrk="0" hangingPunct="1">
              <a:spcBef>
                <a:spcPct val="0"/>
              </a:spcBef>
              <a:buNone/>
              <a:defRPr sz="2800" kern="1200">
                <a:solidFill>
                  <a:schemeClr val="tx1">
                    <a:lumMod val="75000"/>
                    <a:lumOff val="25000"/>
                  </a:schemeClr>
                </a:solidFill>
                <a:latin typeface="+mj-lt"/>
                <a:ea typeface="+mj-ea"/>
                <a:cs typeface="+mj-cs"/>
              </a:defRPr>
            </a:lvl1pPr>
          </a:lstStyle>
          <a:p>
            <a:r>
              <a:rPr lang="en-US" b="1">
                <a:solidFill>
                  <a:schemeClr val="tx1"/>
                </a:solidFill>
                <a:latin typeface="Times New Roman" panose="02020603050405020304" pitchFamily="18" charset="0"/>
                <a:cs typeface="Times New Roman" panose="02020603050405020304" pitchFamily="18" charset="0"/>
              </a:rPr>
              <a:t>LITERATURE SURVEY</a:t>
            </a:r>
            <a:endParaRPr lang="en-US" b="1" dirty="0">
              <a:solidFill>
                <a:schemeClr val="tx1"/>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C493142A-0EB9-F4E9-1CEB-7E79ECDF7B07}"/>
              </a:ext>
            </a:extLst>
          </p:cNvPr>
          <p:cNvGraphicFramePr>
            <a:graphicFrameLocks noGrp="1"/>
          </p:cNvGraphicFramePr>
          <p:nvPr>
            <p:extLst>
              <p:ext uri="{D42A27DB-BD31-4B8C-83A1-F6EECF244321}">
                <p14:modId xmlns:p14="http://schemas.microsoft.com/office/powerpoint/2010/main" val="1664841326"/>
              </p:ext>
            </p:extLst>
          </p:nvPr>
        </p:nvGraphicFramePr>
        <p:xfrm>
          <a:off x="152400" y="472908"/>
          <a:ext cx="8839199" cy="3951746"/>
        </p:xfrm>
        <a:graphic>
          <a:graphicData uri="http://schemas.openxmlformats.org/drawingml/2006/table">
            <a:tbl>
              <a:tblPr firstRow="1" bandRow="1">
                <a:tableStyleId>{C083E6E3-FA7D-4D7B-A595-EF9225AFEA82}</a:tableStyleId>
              </a:tblPr>
              <a:tblGrid>
                <a:gridCol w="2209800">
                  <a:extLst>
                    <a:ext uri="{9D8B030D-6E8A-4147-A177-3AD203B41FA5}">
                      <a16:colId xmlns:a16="http://schemas.microsoft.com/office/drawing/2014/main" val="832363294"/>
                    </a:ext>
                  </a:extLst>
                </a:gridCol>
                <a:gridCol w="2743200">
                  <a:extLst>
                    <a:ext uri="{9D8B030D-6E8A-4147-A177-3AD203B41FA5}">
                      <a16:colId xmlns:a16="http://schemas.microsoft.com/office/drawing/2014/main" val="3400072118"/>
                    </a:ext>
                  </a:extLst>
                </a:gridCol>
                <a:gridCol w="2286000">
                  <a:extLst>
                    <a:ext uri="{9D8B030D-6E8A-4147-A177-3AD203B41FA5}">
                      <a16:colId xmlns:a16="http://schemas.microsoft.com/office/drawing/2014/main" val="2122441354"/>
                    </a:ext>
                  </a:extLst>
                </a:gridCol>
                <a:gridCol w="1600199">
                  <a:extLst>
                    <a:ext uri="{9D8B030D-6E8A-4147-A177-3AD203B41FA5}">
                      <a16:colId xmlns:a16="http://schemas.microsoft.com/office/drawing/2014/main" val="3160507268"/>
                    </a:ext>
                  </a:extLst>
                </a:gridCol>
              </a:tblGrid>
              <a:tr h="651042">
                <a:tc>
                  <a:txBody>
                    <a:bodyPr/>
                    <a:lstStyle/>
                    <a:p>
                      <a:pPr algn="ctr"/>
                      <a:r>
                        <a:rPr lang="en-IN" dirty="0">
                          <a:latin typeface="Times New Roman" panose="02020603050405020304" pitchFamily="18" charset="0"/>
                          <a:cs typeface="Times New Roman" panose="02020603050405020304" pitchFamily="18" charset="0"/>
                        </a:rPr>
                        <a:t>Paper 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latin typeface="Times New Roman" panose="02020603050405020304" pitchFamily="18" charset="0"/>
                          <a:cs typeface="Times New Roman" panose="02020603050405020304" pitchFamily="18" charset="0"/>
                        </a:rPr>
                        <a:t>Proposed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t>Methodology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t>Research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907930955"/>
                  </a:ext>
                </a:extLst>
              </a:tr>
              <a:tr h="3300704">
                <a:tc>
                  <a:txBody>
                    <a:bodyPr/>
                    <a:lstStyle/>
                    <a:p>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Title of </a:t>
                      </a:r>
                      <a:r>
                        <a:rPr lang="en-US" sz="1800" b="1"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paper</a:t>
                      </a:r>
                      <a:r>
                        <a:rPr lang="en-US" sz="1400" b="1"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400" b="0" i="0" kern="1200" dirty="0" err="1">
                          <a:solidFill>
                            <a:schemeClr val="tx1"/>
                          </a:solidFill>
                          <a:effectLst/>
                          <a:latin typeface="Times New Roman" panose="02020603050405020304" pitchFamily="18" charset="0"/>
                          <a:ea typeface="+mn-ea"/>
                          <a:cs typeface="Times New Roman" panose="02020603050405020304" pitchFamily="18" charset="0"/>
                        </a:rPr>
                        <a:t>Design</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of Compact Circular Microstrip Patch</a:t>
                      </a:r>
                      <a:br>
                        <a:rPr lang="en-US" sz="1400" dirty="0">
                          <a:latin typeface="Times New Roman" panose="02020603050405020304" pitchFamily="18" charset="0"/>
                          <a:cs typeface="Times New Roman" panose="02020603050405020304" pitchFamily="18" charset="0"/>
                        </a:rPr>
                      </a:b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Antenna using Parasitic Patch</a:t>
                      </a:r>
                    </a:p>
                    <a:p>
                      <a:r>
                        <a:rPr lang="en-IN" sz="1800" b="1" kern="1200" dirty="0">
                          <a:solidFill>
                            <a:schemeClr val="tx1"/>
                          </a:solidFill>
                          <a:effectLst/>
                          <a:latin typeface="Times New Roman" panose="02020603050405020304" pitchFamily="18" charset="0"/>
                          <a:cs typeface="Times New Roman" panose="02020603050405020304" pitchFamily="18" charset="0"/>
                        </a:rPr>
                        <a:t>Author Names:</a:t>
                      </a:r>
                      <a:r>
                        <a:rPr lang="en-US" sz="1200" dirty="0"/>
                        <a:t>Richa Sharma, N.S. Raghava, and Asok De.</a:t>
                      </a:r>
                      <a:endParaRPr lang="en-US" sz="1200" b="0" i="0" kern="1200" baseline="0" dirty="0">
                        <a:solidFill>
                          <a:schemeClr val="tx1"/>
                        </a:solidFill>
                        <a:effectLst/>
                        <a:latin typeface="Times New Roman" panose="02020603050405020304" pitchFamily="18" charset="0"/>
                        <a:ea typeface="+mn-ea"/>
                        <a:cs typeface="Times New Roman" panose="02020603050405020304" pitchFamily="18" charset="0"/>
                      </a:endParaRPr>
                    </a:p>
                    <a:p>
                      <a:r>
                        <a:rPr lang="en-IN" sz="1800" b="1" kern="1200" dirty="0">
                          <a:solidFill>
                            <a:schemeClr val="tx1"/>
                          </a:solidFill>
                          <a:effectLst/>
                          <a:latin typeface="Times New Roman" panose="02020603050405020304" pitchFamily="18" charset="0"/>
                          <a:cs typeface="Times New Roman" panose="02020603050405020304" pitchFamily="18" charset="0"/>
                        </a:rPr>
                        <a:t>Year of Publication:</a:t>
                      </a:r>
                    </a:p>
                    <a:p>
                      <a:r>
                        <a:rPr lang="en-IN" sz="1400" dirty="0">
                          <a:latin typeface="Times New Roman" panose="02020603050405020304" pitchFamily="18" charset="0"/>
                          <a:cs typeface="Times New Roman" panose="02020603050405020304" pitchFamily="18" charset="0"/>
                        </a:rPr>
                        <a:t>2020</a:t>
                      </a:r>
                      <a:endParaRPr lang="en-IN" sz="1400" b="1" kern="1200" dirty="0">
                        <a:solidFill>
                          <a:schemeClr val="tx1"/>
                        </a:solidFill>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dirty="0">
                          <a:latin typeface="Times New Roman" panose="02020603050405020304" pitchFamily="18" charset="0"/>
                          <a:cs typeface="Times New Roman" panose="02020603050405020304" pitchFamily="18" charset="0"/>
                        </a:rPr>
                        <a:t>The proposed work designs a compact circular microstrip patch antenna using parasitic patches, substrate optimization, and a central shorting pin to achieve up to 60% size reduction while maintaining UHF band performance</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a:t>
                      </a:r>
                      <a:endParaRPr lang="en-IN" sz="1400" b="1" kern="1200" dirty="0">
                        <a:solidFill>
                          <a:schemeClr val="tx1"/>
                        </a:solidFill>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dirty="0">
                          <a:latin typeface="Times New Roman" panose="02020603050405020304" pitchFamily="18" charset="0"/>
                          <a:cs typeface="Times New Roman" panose="02020603050405020304" pitchFamily="18" charset="0"/>
                        </a:rPr>
                        <a:t>The methodology involves designing the circular microstrip patch antenna with parasitic layers, optimizing the feed point, shorting pin location, and substrate height using simulation tools like HFSS to achieve size reduction and desired resonant frequencies.</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dirty="0">
                          <a:latin typeface="Times New Roman" panose="02020603050405020304" pitchFamily="18" charset="0"/>
                          <a:cs typeface="Times New Roman" panose="02020603050405020304" pitchFamily="18" charset="0"/>
                        </a:rPr>
                        <a:t>The gap lies in the limited integrated analysis of parasitic patches, shorting pins, and substrate effects on size and performance optimization of compact circular microstrip antennas in the UHF band</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53791261"/>
                  </a:ext>
                </a:extLst>
              </a:tr>
            </a:tbl>
          </a:graphicData>
        </a:graphic>
      </p:graphicFrame>
      <p:pic>
        <p:nvPicPr>
          <p:cNvPr id="6" name="Picture 5">
            <a:extLst>
              <a:ext uri="{FF2B5EF4-FFF2-40B4-BE49-F238E27FC236}">
                <a16:creationId xmlns:a16="http://schemas.microsoft.com/office/drawing/2014/main" id="{2FC92897-B230-8658-05C2-17841354A2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401" y="2952750"/>
            <a:ext cx="2590800" cy="1432678"/>
          </a:xfrm>
          <a:prstGeom prst="rect">
            <a:avLst/>
          </a:prstGeom>
          <a:ln>
            <a:noFill/>
          </a:ln>
          <a:effectLst>
            <a:softEdge rad="112500"/>
          </a:effectLst>
        </p:spPr>
      </p:pic>
      <p:sp>
        <p:nvSpPr>
          <p:cNvPr id="10" name="Rectangle: Rounded Corners 1">
            <a:extLst>
              <a:ext uri="{FF2B5EF4-FFF2-40B4-BE49-F238E27FC236}">
                <a16:creationId xmlns:a16="http://schemas.microsoft.com/office/drawing/2014/main" id="{31684C4C-2A5E-8C16-FE52-ACF67F5F9482}"/>
              </a:ext>
            </a:extLst>
          </p:cNvPr>
          <p:cNvSpPr/>
          <p:nvPr/>
        </p:nvSpPr>
        <p:spPr bwMode="auto">
          <a:xfrm>
            <a:off x="0" y="4683578"/>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8615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DE35970-310E-6F2C-796B-2675923F818E}"/>
              </a:ext>
            </a:extLst>
          </p:cNvPr>
          <p:cNvSpPr>
            <a:spLocks noGrp="1"/>
          </p:cNvSpPr>
          <p:nvPr>
            <p:ph type="body" sz="half" idx="2"/>
          </p:nvPr>
        </p:nvSpPr>
        <p:spPr>
          <a:xfrm>
            <a:off x="76200" y="4705351"/>
            <a:ext cx="8368363" cy="242166"/>
          </a:xfrm>
        </p:spPr>
        <p:txBody>
          <a:bodyPr/>
          <a:lstStyle/>
          <a:p>
            <a:r>
              <a:rPr lang="en-US" sz="1100" b="1" dirty="0">
                <a:solidFill>
                  <a:schemeClr val="bg1"/>
                </a:solidFill>
                <a:latin typeface="Times New Roman" panose="02020603050405020304" pitchFamily="18" charset="0"/>
                <a:cs typeface="Times New Roman" panose="02020603050405020304" pitchFamily="18" charset="0"/>
              </a:rPr>
              <a:t>Circularly Polarized Multi-Band Microstrip Patch Antenna for 5G and IoT</a:t>
            </a:r>
            <a:endParaRPr lang="en-IN" sz="1100" b="1" dirty="0">
              <a:solidFill>
                <a:schemeClr val="bg1"/>
              </a:solidFill>
              <a:latin typeface="Times New Roman" panose="02020603050405020304" pitchFamily="18" charset="0"/>
              <a:cs typeface="Times New Roman" panose="02020603050405020304" pitchFamily="18" charset="0"/>
            </a:endParaRPr>
          </a:p>
          <a:p>
            <a:r>
              <a:rPr lang="en-US" sz="1100" b="1" dirty="0">
                <a:solidFill>
                  <a:schemeClr val="bg1"/>
                </a:solidFill>
                <a:latin typeface="Times New Roman" panose="02020603050405020304" pitchFamily="18" charset="0"/>
                <a:cs typeface="Times New Roman" panose="02020603050405020304" pitchFamily="18" charset="0"/>
              </a:rPr>
              <a:t>Circularly Polarized Multi-Band Microstrip Patch Antenna for 5G and IoT</a:t>
            </a:r>
            <a:endParaRPr lang="en-IN" sz="1100" b="1" dirty="0">
              <a:solidFill>
                <a:schemeClr val="bg1"/>
              </a:solidFill>
              <a:latin typeface="Times New Roman" panose="02020603050405020304" pitchFamily="18" charset="0"/>
              <a:cs typeface="Times New Roman" panose="02020603050405020304" pitchFamily="18" charset="0"/>
            </a:endParaRPr>
          </a:p>
          <a:p>
            <a:r>
              <a:rPr lang="en-US" sz="1100" b="1" dirty="0">
                <a:solidFill>
                  <a:schemeClr val="bg1"/>
                </a:solidFill>
                <a:latin typeface="Times New Roman" panose="02020603050405020304" pitchFamily="18" charset="0"/>
                <a:cs typeface="Times New Roman" panose="02020603050405020304" pitchFamily="18" charset="0"/>
              </a:rPr>
              <a:t>Circularly Polarized Multi-Band Microstrip Patch Antenna for 5G and IoT</a:t>
            </a:r>
            <a:endParaRPr lang="en-IN" sz="1100" b="1" dirty="0">
              <a:solidFill>
                <a:schemeClr val="bg1"/>
              </a:solidFill>
              <a:latin typeface="Times New Roman" panose="02020603050405020304" pitchFamily="18" charset="0"/>
              <a:cs typeface="Times New Roman" panose="02020603050405020304" pitchFamily="18" charset="0"/>
            </a:endParaRPr>
          </a:p>
          <a:p>
            <a:endParaRPr lang="en-US" sz="1100" b="1" dirty="0">
              <a:solidFill>
                <a:schemeClr val="bg1"/>
              </a:solidFill>
              <a:latin typeface="Times New Roman" panose="02020603050405020304" pitchFamily="18" charset="0"/>
              <a:cs typeface="Times New Roman" panose="02020603050405020304" pitchFamily="18" charset="0"/>
            </a:endParaRPr>
          </a:p>
          <a:p>
            <a:endParaRPr lang="en-US" sz="1100" b="1" dirty="0">
              <a:solidFill>
                <a:schemeClr val="bg1"/>
              </a:solidFill>
              <a:latin typeface="Times New Roman" panose="02020603050405020304" pitchFamily="18" charset="0"/>
              <a:cs typeface="Times New Roman" panose="02020603050405020304" pitchFamily="18" charset="0"/>
            </a:endParaRPr>
          </a:p>
          <a:p>
            <a:endParaRPr lang="en-US" sz="1100" b="1" dirty="0">
              <a:solidFill>
                <a:schemeClr val="bg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8F7A29B2-D046-6EB3-159C-E361665F0307}"/>
              </a:ext>
            </a:extLst>
          </p:cNvPr>
          <p:cNvSpPr>
            <a:spLocks noGrp="1"/>
          </p:cNvSpPr>
          <p:nvPr>
            <p:ph type="title"/>
          </p:nvPr>
        </p:nvSpPr>
        <p:spPr>
          <a:xfrm>
            <a:off x="387819" y="133351"/>
            <a:ext cx="8368363" cy="304799"/>
          </a:xfrm>
        </p:spPr>
        <p:txBody>
          <a:bodyPr/>
          <a:lstStyle/>
          <a:p>
            <a:r>
              <a:rPr lang="en-US" sz="2500" b="1" dirty="0">
                <a:solidFill>
                  <a:schemeClr val="tx1"/>
                </a:solidFill>
                <a:latin typeface="Times New Roman" panose="02020603050405020304" pitchFamily="18" charset="0"/>
                <a:cs typeface="Times New Roman" panose="02020603050405020304" pitchFamily="18" charset="0"/>
              </a:rPr>
              <a:t>LITERATURE SURVEY</a:t>
            </a:r>
            <a:endParaRPr lang="en-IN" sz="2500" dirty="0"/>
          </a:p>
        </p:txBody>
      </p:sp>
      <p:graphicFrame>
        <p:nvGraphicFramePr>
          <p:cNvPr id="6" name="Table 5">
            <a:extLst>
              <a:ext uri="{FF2B5EF4-FFF2-40B4-BE49-F238E27FC236}">
                <a16:creationId xmlns:a16="http://schemas.microsoft.com/office/drawing/2014/main" id="{EEED2AB3-6EBA-D1AE-C437-8C53EB655532}"/>
              </a:ext>
            </a:extLst>
          </p:cNvPr>
          <p:cNvGraphicFramePr>
            <a:graphicFrameLocks noGrp="1"/>
          </p:cNvGraphicFramePr>
          <p:nvPr>
            <p:extLst>
              <p:ext uri="{D42A27DB-BD31-4B8C-83A1-F6EECF244321}">
                <p14:modId xmlns:p14="http://schemas.microsoft.com/office/powerpoint/2010/main" val="885078636"/>
              </p:ext>
            </p:extLst>
          </p:nvPr>
        </p:nvGraphicFramePr>
        <p:xfrm>
          <a:off x="166036" y="514350"/>
          <a:ext cx="8825564" cy="4114800"/>
        </p:xfrm>
        <a:graphic>
          <a:graphicData uri="http://schemas.openxmlformats.org/drawingml/2006/table">
            <a:tbl>
              <a:tblPr firstRow="1" bandRow="1">
                <a:tableStyleId>{5940675A-B579-460E-94D1-54222C63F5DA}</a:tableStyleId>
              </a:tblPr>
              <a:tblGrid>
                <a:gridCol w="2206391">
                  <a:extLst>
                    <a:ext uri="{9D8B030D-6E8A-4147-A177-3AD203B41FA5}">
                      <a16:colId xmlns:a16="http://schemas.microsoft.com/office/drawing/2014/main" val="3488736553"/>
                    </a:ext>
                  </a:extLst>
                </a:gridCol>
                <a:gridCol w="2732973">
                  <a:extLst>
                    <a:ext uri="{9D8B030D-6E8A-4147-A177-3AD203B41FA5}">
                      <a16:colId xmlns:a16="http://schemas.microsoft.com/office/drawing/2014/main" val="640518319"/>
                    </a:ext>
                  </a:extLst>
                </a:gridCol>
                <a:gridCol w="1752600">
                  <a:extLst>
                    <a:ext uri="{9D8B030D-6E8A-4147-A177-3AD203B41FA5}">
                      <a16:colId xmlns:a16="http://schemas.microsoft.com/office/drawing/2014/main" val="2776088725"/>
                    </a:ext>
                  </a:extLst>
                </a:gridCol>
                <a:gridCol w="2133600">
                  <a:extLst>
                    <a:ext uri="{9D8B030D-6E8A-4147-A177-3AD203B41FA5}">
                      <a16:colId xmlns:a16="http://schemas.microsoft.com/office/drawing/2014/main" val="225294683"/>
                    </a:ext>
                  </a:extLst>
                </a:gridCol>
              </a:tblGrid>
              <a:tr h="560382">
                <a:tc>
                  <a:txBody>
                    <a:bodyPr/>
                    <a:lstStyle/>
                    <a:p>
                      <a:r>
                        <a:rPr lang="en-IN" b="1" dirty="0">
                          <a:latin typeface="Times New Roman" panose="02020603050405020304" pitchFamily="18" charset="0"/>
                          <a:cs typeface="Times New Roman" panose="02020603050405020304" pitchFamily="18" charset="0"/>
                        </a:rPr>
                        <a:t>Paper Detail</a:t>
                      </a:r>
                    </a:p>
                  </a:txBody>
                  <a:tcPr/>
                </a:tc>
                <a:tc>
                  <a:txBody>
                    <a:bodyPr/>
                    <a:lstStyle/>
                    <a:p>
                      <a:r>
                        <a:rPr lang="en-IN" b="1" dirty="0">
                          <a:latin typeface="Times New Roman" panose="02020603050405020304" pitchFamily="18" charset="0"/>
                          <a:cs typeface="Times New Roman" panose="02020603050405020304" pitchFamily="18" charset="0"/>
                        </a:rPr>
                        <a:t>Proposed work</a:t>
                      </a:r>
                    </a:p>
                  </a:txBody>
                  <a:tcPr/>
                </a:tc>
                <a:tc>
                  <a:txBody>
                    <a:bodyPr/>
                    <a:lstStyle/>
                    <a:p>
                      <a:r>
                        <a:rPr lang="en-IN" b="1" dirty="0">
                          <a:latin typeface="Times New Roman" panose="02020603050405020304" pitchFamily="18" charset="0"/>
                          <a:cs typeface="Times New Roman" panose="02020603050405020304" pitchFamily="18" charset="0"/>
                        </a:rPr>
                        <a:t>Methodology</a:t>
                      </a:r>
                    </a:p>
                  </a:txBody>
                  <a:tcPr/>
                </a:tc>
                <a:tc>
                  <a:txBody>
                    <a:bodyPr/>
                    <a:lstStyle/>
                    <a:p>
                      <a:r>
                        <a:rPr lang="en-IN" b="1" dirty="0">
                          <a:latin typeface="Times New Roman" panose="02020603050405020304" pitchFamily="18" charset="0"/>
                          <a:cs typeface="Times New Roman" panose="02020603050405020304" pitchFamily="18" charset="0"/>
                        </a:rPr>
                        <a:t>Research Gap</a:t>
                      </a:r>
                    </a:p>
                  </a:txBody>
                  <a:tcPr/>
                </a:tc>
                <a:extLst>
                  <a:ext uri="{0D108BD9-81ED-4DB2-BD59-A6C34878D82A}">
                    <a16:rowId xmlns:a16="http://schemas.microsoft.com/office/drawing/2014/main" val="2468899746"/>
                  </a:ext>
                </a:extLst>
              </a:tr>
              <a:tr h="35544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Title of paper: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Circularly polarized wideband Aperture Antenna for Wireless Communication.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tx1"/>
                          </a:solidFill>
                          <a:effectLst/>
                          <a:latin typeface="Times New Roman" panose="02020603050405020304" pitchFamily="18" charset="0"/>
                          <a:cs typeface="Times New Roman" panose="02020603050405020304" pitchFamily="18" charset="0"/>
                        </a:rPr>
                        <a:t>Author Names: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Rajeev Verma, Srikant Satya Sai, and Dr. Ajay Kumar Sharma.</a:t>
                      </a:r>
                    </a:p>
                    <a:p>
                      <a:r>
                        <a:rPr lang="en-IN" sz="1800" b="1" kern="1200" dirty="0">
                          <a:solidFill>
                            <a:schemeClr val="tx1"/>
                          </a:solidFill>
                          <a:effectLst/>
                          <a:latin typeface="Times New Roman" panose="02020603050405020304" pitchFamily="18" charset="0"/>
                          <a:cs typeface="Times New Roman" panose="02020603050405020304" pitchFamily="18" charset="0"/>
                        </a:rPr>
                        <a:t>Year of Publication:</a:t>
                      </a:r>
                    </a:p>
                    <a:p>
                      <a:r>
                        <a:rPr lang="en-IN" sz="1400" b="0" i="0" kern="1200" dirty="0">
                          <a:solidFill>
                            <a:schemeClr val="tx1"/>
                          </a:solidFill>
                          <a:effectLst/>
                          <a:latin typeface="Times New Roman" panose="02020603050405020304" pitchFamily="18" charset="0"/>
                          <a:ea typeface="+mn-ea"/>
                          <a:cs typeface="Times New Roman" panose="02020603050405020304" pitchFamily="18" charset="0"/>
                        </a:rPr>
                        <a:t>2023</a:t>
                      </a:r>
                      <a:r>
                        <a:rPr lang="en-IN" sz="1400" b="0" i="0" kern="1200" dirty="0">
                          <a:solidFill>
                            <a:schemeClr val="tx1"/>
                          </a:solidFill>
                          <a:effectLst/>
                          <a:latin typeface="+mn-lt"/>
                          <a:ea typeface="+mn-ea"/>
                          <a:cs typeface="+mn-cs"/>
                        </a:rPr>
                        <a:t>.</a:t>
                      </a:r>
                      <a:endParaRPr lang="en-IN" sz="1400" b="1" kern="1200"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a:txBody>
                  <a:tcPr/>
                </a:tc>
                <a:tc>
                  <a:txBody>
                    <a:bodyPr/>
                    <a:lstStyle/>
                    <a:p>
                      <a:pPr algn="just"/>
                      <a:r>
                        <a:rPr lang="en-US" sz="1400" dirty="0">
                          <a:latin typeface="Times New Roman" panose="02020603050405020304" pitchFamily="18" charset="0"/>
                          <a:cs typeface="Times New Roman" panose="02020603050405020304" pitchFamily="18" charset="0"/>
                        </a:rPr>
                        <a:t>The proposed work designs a wideband, circularly polarized aperture antenna using layered substrates and orthogonal slot arms, optimized via HFSS for high-frequency wireless applications</a:t>
                      </a:r>
                      <a:endParaRPr lang="en-IN" sz="1400" dirty="0">
                        <a:latin typeface="Times New Roman" panose="02020603050405020304" pitchFamily="18" charset="0"/>
                        <a:cs typeface="Times New Roman" panose="02020603050405020304" pitchFamily="18" charset="0"/>
                      </a:endParaRPr>
                    </a:p>
                  </a:txBody>
                  <a:tcPr/>
                </a:tc>
                <a:tc>
                  <a:txBody>
                    <a:bodyPr/>
                    <a:lstStyle/>
                    <a:p>
                      <a:pPr algn="l"/>
                      <a:r>
                        <a:rPr lang="en-US" sz="1400" dirty="0">
                          <a:latin typeface="Times New Roman" panose="02020603050405020304" pitchFamily="18" charset="0"/>
                          <a:cs typeface="Times New Roman" panose="02020603050405020304" pitchFamily="18" charset="0"/>
                        </a:rPr>
                        <a:t>The design employs an aperture-coupled microstrip patch antenna with optimized dimensions in HFSS to achieve broadband circular polarization (RHCP).</a:t>
                      </a:r>
                      <a:endParaRPr lang="en-IN" sz="1400" dirty="0">
                        <a:latin typeface="Times New Roman" panose="02020603050405020304" pitchFamily="18" charset="0"/>
                        <a:cs typeface="Times New Roman" panose="02020603050405020304" pitchFamily="18" charset="0"/>
                      </a:endParaRPr>
                    </a:p>
                  </a:txBody>
                  <a:tcPr/>
                </a:tc>
                <a:tc>
                  <a:txBody>
                    <a:bodyPr/>
                    <a:lstStyle/>
                    <a:p>
                      <a:pPr algn="l"/>
                      <a:r>
                        <a:rPr lang="en-US" sz="1400" dirty="0">
                          <a:latin typeface="Times New Roman" panose="02020603050405020304" pitchFamily="18" charset="0"/>
                          <a:cs typeface="Times New Roman" panose="02020603050405020304" pitchFamily="18" charset="0"/>
                        </a:rPr>
                        <a:t>The research gap is the lack of compact, wideband circularly polarized antennas with enhanced axial ratio and stable gain at millimeter-wave frequencies, suitable for advanced wireless applications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64795136"/>
                  </a:ext>
                </a:extLst>
              </a:tr>
            </a:tbl>
          </a:graphicData>
        </a:graphic>
      </p:graphicFrame>
      <p:pic>
        <p:nvPicPr>
          <p:cNvPr id="2" name="Picture 1"/>
          <p:cNvPicPr>
            <a:picLocks noChangeAspect="1"/>
          </p:cNvPicPr>
          <p:nvPr/>
        </p:nvPicPr>
        <p:blipFill>
          <a:blip r:embed="rId3"/>
          <a:stretch>
            <a:fillRect/>
          </a:stretch>
        </p:blipFill>
        <p:spPr>
          <a:xfrm>
            <a:off x="15917" y="4680164"/>
            <a:ext cx="9156986" cy="463336"/>
          </a:xfrm>
          <a:prstGeom prst="rect">
            <a:avLst/>
          </a:prstGeom>
        </p:spPr>
      </p:pic>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6377" t="5930" r="8362" b="9648"/>
          <a:stretch/>
        </p:blipFill>
        <p:spPr>
          <a:xfrm>
            <a:off x="2514600" y="2557955"/>
            <a:ext cx="2286000" cy="1861418"/>
          </a:xfrm>
          <a:prstGeom prst="rect">
            <a:avLst/>
          </a:prstGeom>
        </p:spPr>
      </p:pic>
      <p:sp>
        <p:nvSpPr>
          <p:cNvPr id="7" name="Rectangle: Rounded Corners 1">
            <a:extLst>
              <a:ext uri="{FF2B5EF4-FFF2-40B4-BE49-F238E27FC236}">
                <a16:creationId xmlns:a16="http://schemas.microsoft.com/office/drawing/2014/main" id="{434D85A4-3AE9-8DD6-914A-EF1A4D5EB778}"/>
              </a:ext>
            </a:extLst>
          </p:cNvPr>
          <p:cNvSpPr/>
          <p:nvPr/>
        </p:nvSpPr>
        <p:spPr bwMode="auto">
          <a:xfrm>
            <a:off x="-28903" y="46835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5933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FED147-D4B8-1B96-6ECC-42236E98EA01}"/>
              </a:ext>
            </a:extLst>
          </p:cNvPr>
          <p:cNvSpPr>
            <a:spLocks noGrp="1"/>
          </p:cNvSpPr>
          <p:nvPr>
            <p:ph type="body" sz="half" idx="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Circularly Polarized Multi-Band Microstrip Patch Antenna for 5G and IoT</a:t>
            </a:r>
            <a:endParaRPr kumimoji="0" lang="en-IN" sz="16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a:p>
            <a:endParaRPr lang="en-IN" dirty="0"/>
          </a:p>
        </p:txBody>
      </p:sp>
      <p:sp>
        <p:nvSpPr>
          <p:cNvPr id="3" name="Title 2">
            <a:extLst>
              <a:ext uri="{FF2B5EF4-FFF2-40B4-BE49-F238E27FC236}">
                <a16:creationId xmlns:a16="http://schemas.microsoft.com/office/drawing/2014/main" id="{B7068526-94A8-CF02-7F30-95DF27822E5C}"/>
              </a:ext>
            </a:extLst>
          </p:cNvPr>
          <p:cNvSpPr>
            <a:spLocks noGrp="1"/>
          </p:cNvSpPr>
          <p:nvPr>
            <p:ph type="title"/>
          </p:nvPr>
        </p:nvSpPr>
        <p:spPr>
          <a:xfrm>
            <a:off x="228601" y="1"/>
            <a:ext cx="8527582" cy="361949"/>
          </a:xfrm>
        </p:spPr>
        <p:txBody>
          <a:bodyPr/>
          <a:lstStyle/>
          <a:p>
            <a:r>
              <a:rPr lang="en-US" sz="2800" b="1" dirty="0">
                <a:solidFill>
                  <a:schemeClr val="tx1"/>
                </a:solidFill>
                <a:latin typeface="Times New Roman" panose="02020603050405020304" pitchFamily="18" charset="0"/>
                <a:cs typeface="Times New Roman" panose="02020603050405020304" pitchFamily="18" charset="0"/>
              </a:rPr>
              <a:t>LITERATURE SURVEY</a:t>
            </a:r>
            <a:endParaRPr lang="en-IN" dirty="0"/>
          </a:p>
        </p:txBody>
      </p:sp>
      <p:graphicFrame>
        <p:nvGraphicFramePr>
          <p:cNvPr id="4" name="Table 3">
            <a:extLst>
              <a:ext uri="{FF2B5EF4-FFF2-40B4-BE49-F238E27FC236}">
                <a16:creationId xmlns:a16="http://schemas.microsoft.com/office/drawing/2014/main" id="{D44110D1-CB5C-8DD6-9DEA-D4D9E073A2D9}"/>
              </a:ext>
            </a:extLst>
          </p:cNvPr>
          <p:cNvGraphicFramePr>
            <a:graphicFrameLocks noGrp="1"/>
          </p:cNvGraphicFramePr>
          <p:nvPr>
            <p:extLst>
              <p:ext uri="{D42A27DB-BD31-4B8C-83A1-F6EECF244321}">
                <p14:modId xmlns:p14="http://schemas.microsoft.com/office/powerpoint/2010/main" val="144040501"/>
              </p:ext>
            </p:extLst>
          </p:nvPr>
        </p:nvGraphicFramePr>
        <p:xfrm>
          <a:off x="72792" y="374432"/>
          <a:ext cx="8995008" cy="4352543"/>
        </p:xfrm>
        <a:graphic>
          <a:graphicData uri="http://schemas.openxmlformats.org/drawingml/2006/table">
            <a:tbl>
              <a:tblPr firstRow="1" bandRow="1">
                <a:tableStyleId>{5940675A-B579-460E-94D1-54222C63F5DA}</a:tableStyleId>
              </a:tblPr>
              <a:tblGrid>
                <a:gridCol w="1473320">
                  <a:extLst>
                    <a:ext uri="{9D8B030D-6E8A-4147-A177-3AD203B41FA5}">
                      <a16:colId xmlns:a16="http://schemas.microsoft.com/office/drawing/2014/main" val="4278072323"/>
                    </a:ext>
                  </a:extLst>
                </a:gridCol>
                <a:gridCol w="4168888">
                  <a:extLst>
                    <a:ext uri="{9D8B030D-6E8A-4147-A177-3AD203B41FA5}">
                      <a16:colId xmlns:a16="http://schemas.microsoft.com/office/drawing/2014/main" val="1999757393"/>
                    </a:ext>
                  </a:extLst>
                </a:gridCol>
                <a:gridCol w="1752600">
                  <a:extLst>
                    <a:ext uri="{9D8B030D-6E8A-4147-A177-3AD203B41FA5}">
                      <a16:colId xmlns:a16="http://schemas.microsoft.com/office/drawing/2014/main" val="1437367545"/>
                    </a:ext>
                  </a:extLst>
                </a:gridCol>
                <a:gridCol w="1600200">
                  <a:extLst>
                    <a:ext uri="{9D8B030D-6E8A-4147-A177-3AD203B41FA5}">
                      <a16:colId xmlns:a16="http://schemas.microsoft.com/office/drawing/2014/main" val="2808615349"/>
                    </a:ext>
                  </a:extLst>
                </a:gridCol>
              </a:tblGrid>
              <a:tr h="444718">
                <a:tc>
                  <a:txBody>
                    <a:bodyPr/>
                    <a:lstStyle/>
                    <a:p>
                      <a:r>
                        <a:rPr lang="en-IN" b="1" dirty="0">
                          <a:latin typeface="Times New Roman" panose="02020603050405020304" pitchFamily="18" charset="0"/>
                          <a:cs typeface="Times New Roman" panose="02020603050405020304" pitchFamily="18" charset="0"/>
                        </a:rPr>
                        <a:t>Paper Detail</a:t>
                      </a:r>
                    </a:p>
                  </a:txBody>
                  <a:tcPr/>
                </a:tc>
                <a:tc>
                  <a:txBody>
                    <a:bodyPr/>
                    <a:lstStyle/>
                    <a:p>
                      <a:r>
                        <a:rPr lang="en-IN" b="1" dirty="0"/>
                        <a:t>Proposed Work</a:t>
                      </a:r>
                    </a:p>
                  </a:txBody>
                  <a:tcPr/>
                </a:tc>
                <a:tc>
                  <a:txBody>
                    <a:bodyPr/>
                    <a:lstStyle/>
                    <a:p>
                      <a:r>
                        <a:rPr lang="en-IN" b="1" dirty="0">
                          <a:latin typeface="Times New Roman" panose="02020603050405020304" pitchFamily="18" charset="0"/>
                          <a:cs typeface="Times New Roman" panose="02020603050405020304" pitchFamily="18" charset="0"/>
                        </a:rPr>
                        <a:t>Methodology</a:t>
                      </a:r>
                    </a:p>
                  </a:txBody>
                  <a:tcPr/>
                </a:tc>
                <a:tc>
                  <a:txBody>
                    <a:bodyPr/>
                    <a:lstStyle/>
                    <a:p>
                      <a:r>
                        <a:rPr lang="en-IN" b="1" dirty="0">
                          <a:latin typeface="Times New Roman" panose="02020603050405020304" pitchFamily="18" charset="0"/>
                          <a:cs typeface="Times New Roman" panose="02020603050405020304" pitchFamily="18" charset="0"/>
                        </a:rPr>
                        <a:t>Research Gap</a:t>
                      </a:r>
                    </a:p>
                  </a:txBody>
                  <a:tcPr/>
                </a:tc>
                <a:extLst>
                  <a:ext uri="{0D108BD9-81ED-4DB2-BD59-A6C34878D82A}">
                    <a16:rowId xmlns:a16="http://schemas.microsoft.com/office/drawing/2014/main" val="4137126293"/>
                  </a:ext>
                </a:extLst>
              </a:tr>
              <a:tr h="3907825">
                <a:tc>
                  <a:txBody>
                    <a:bodyPr/>
                    <a:lstStyle/>
                    <a:p>
                      <a:r>
                        <a:rPr lang="en-IN" b="1" dirty="0">
                          <a:latin typeface="Times New Roman" panose="02020603050405020304" pitchFamily="18" charset="0"/>
                          <a:cs typeface="Times New Roman" panose="02020603050405020304" pitchFamily="18" charset="0"/>
                        </a:rPr>
                        <a:t>Title of </a:t>
                      </a:r>
                      <a:r>
                        <a:rPr lang="en-IN" b="1" dirty="0" err="1">
                          <a:latin typeface="Times New Roman" panose="02020603050405020304" pitchFamily="18" charset="0"/>
                          <a:cs typeface="Times New Roman" panose="02020603050405020304" pitchFamily="18" charset="0"/>
                        </a:rPr>
                        <a:t>paper:</a:t>
                      </a:r>
                      <a:r>
                        <a:rPr lang="en-IN" sz="1400" b="0" dirty="0" err="1">
                          <a:latin typeface="Times New Roman" panose="02020603050405020304" pitchFamily="18" charset="0"/>
                          <a:cs typeface="Times New Roman" panose="02020603050405020304" pitchFamily="18" charset="0"/>
                        </a:rPr>
                        <a:t>A</a:t>
                      </a:r>
                      <a:r>
                        <a:rPr lang="en-IN" sz="1400" b="0" dirty="0">
                          <a:latin typeface="Times New Roman" panose="02020603050405020304" pitchFamily="18" charset="0"/>
                          <a:cs typeface="Times New Roman" panose="02020603050405020304" pitchFamily="18" charset="0"/>
                        </a:rPr>
                        <a:t> Self-Decoupling circularly polarized MIMO microstrip patch Antenna Array.</a:t>
                      </a:r>
                      <a:endParaRPr lang="en-IN" sz="1400"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Author </a:t>
                      </a:r>
                      <a:r>
                        <a:rPr lang="en-IN" b="1" dirty="0" err="1">
                          <a:latin typeface="Times New Roman" panose="02020603050405020304" pitchFamily="18" charset="0"/>
                          <a:cs typeface="Times New Roman" panose="02020603050405020304" pitchFamily="18" charset="0"/>
                        </a:rPr>
                        <a:t>Name:</a:t>
                      </a:r>
                      <a:r>
                        <a:rPr lang="en-IN" sz="1400" b="0" dirty="0" err="1">
                          <a:latin typeface="Times New Roman" panose="02020603050405020304" pitchFamily="18" charset="0"/>
                          <a:cs typeface="Times New Roman" panose="02020603050405020304" pitchFamily="18" charset="0"/>
                        </a:rPr>
                        <a:t>shuai</a:t>
                      </a:r>
                      <a:r>
                        <a:rPr lang="en-IN" sz="1400" b="0" dirty="0">
                          <a:latin typeface="Times New Roman" panose="02020603050405020304" pitchFamily="18" charset="0"/>
                          <a:cs typeface="Times New Roman" panose="02020603050405020304" pitchFamily="18" charset="0"/>
                        </a:rPr>
                        <a:t> </a:t>
                      </a:r>
                      <a:r>
                        <a:rPr lang="en-IN" sz="1400" b="0" dirty="0" err="1">
                          <a:latin typeface="Times New Roman" panose="02020603050405020304" pitchFamily="18" charset="0"/>
                          <a:cs typeface="Times New Roman" panose="02020603050405020304" pitchFamily="18" charset="0"/>
                        </a:rPr>
                        <a:t>Gao,wan</a:t>
                      </a:r>
                      <a:r>
                        <a:rPr lang="en-IN" sz="1400" b="0" dirty="0">
                          <a:latin typeface="Times New Roman" panose="02020603050405020304" pitchFamily="18" charset="0"/>
                          <a:cs typeface="Times New Roman" panose="02020603050405020304" pitchFamily="18" charset="0"/>
                        </a:rPr>
                        <a:t> Jun Yang, Xin </a:t>
                      </a:r>
                      <a:r>
                        <a:rPr lang="en-IN" sz="1400" b="0" dirty="0" err="1">
                          <a:latin typeface="Times New Roman" panose="02020603050405020304" pitchFamily="18" charset="0"/>
                          <a:cs typeface="Times New Roman" panose="02020603050405020304" pitchFamily="18" charset="0"/>
                        </a:rPr>
                        <a:t>dai</a:t>
                      </a:r>
                      <a:r>
                        <a:rPr lang="en-IN" sz="1400" b="0" dirty="0">
                          <a:latin typeface="Times New Roman" panose="02020603050405020304" pitchFamily="18" charset="0"/>
                          <a:cs typeface="Times New Roman" panose="02020603050405020304" pitchFamily="18" charset="0"/>
                        </a:rPr>
                        <a:t> and Dong Tang</a:t>
                      </a:r>
                      <a:endParaRPr lang="en-IN" sz="1400"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Year of Publication:</a:t>
                      </a:r>
                    </a:p>
                    <a:p>
                      <a:r>
                        <a:rPr lang="en-IN" sz="1400" b="0" dirty="0">
                          <a:latin typeface="Times New Roman" panose="02020603050405020304" pitchFamily="18" charset="0"/>
                          <a:cs typeface="Times New Roman" panose="02020603050405020304" pitchFamily="18" charset="0"/>
                        </a:rPr>
                        <a:t>2024</a:t>
                      </a:r>
                      <a:r>
                        <a:rPr lang="en-IN" b="1" dirty="0">
                          <a:latin typeface="Times New Roman" panose="02020603050405020304" pitchFamily="18" charset="0"/>
                          <a:cs typeface="Times New Roman" panose="02020603050405020304" pitchFamily="18" charset="0"/>
                        </a:rPr>
                        <a:t> </a:t>
                      </a:r>
                    </a:p>
                  </a:txBody>
                  <a:tcPr/>
                </a:tc>
                <a:tc>
                  <a:txBody>
                    <a:bodyPr/>
                    <a:lstStyle/>
                    <a:p>
                      <a:r>
                        <a:rPr lang="en-US" sz="1400" dirty="0">
                          <a:latin typeface="Times New Roman" panose="02020603050405020304" pitchFamily="18" charset="0"/>
                          <a:cs typeface="Times New Roman" panose="02020603050405020304" pitchFamily="18" charset="0"/>
                        </a:rPr>
                        <a:t>The proposed work is a compact MIMO antenna design that uses smart feeding and polarization tricks to reduce interference between two antennas—achieving high isolation (47 dB) without needing extra components. It's ideal for space-saving applications like 5G and GPS.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The L-shaped feeding lines generate CP in the active antenna and LP in the passive, reducing mutual coupling naturally. This self-decoupling design achieves high port isolation (&gt;47 dB) without extra components, verified by simulations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This work addresses the lack of compact, self-decoupling circularly polarized MIMO antennas by achieving high isolation without extra components.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14453806"/>
                  </a:ext>
                </a:extLst>
              </a:tr>
            </a:tbl>
          </a:graphicData>
        </a:graphic>
      </p:graphicFrame>
      <p:pic>
        <p:nvPicPr>
          <p:cNvPr id="5" name="Picture 4"/>
          <p:cNvPicPr>
            <a:picLocks noChangeAspect="1"/>
          </p:cNvPicPr>
          <p:nvPr/>
        </p:nvPicPr>
        <p:blipFill>
          <a:blip r:embed="rId2"/>
          <a:stretch>
            <a:fillRect/>
          </a:stretch>
        </p:blipFill>
        <p:spPr>
          <a:xfrm>
            <a:off x="-12986" y="4684762"/>
            <a:ext cx="9156986" cy="463336"/>
          </a:xfrm>
          <a:prstGeom prst="rect">
            <a:avLst/>
          </a:prstGeom>
        </p:spPr>
      </p:pic>
      <p:pic>
        <p:nvPicPr>
          <p:cNvPr id="6" name="Picture 5"/>
          <p:cNvPicPr>
            <a:picLocks noChangeAspect="1"/>
          </p:cNvPicPr>
          <p:nvPr/>
        </p:nvPicPr>
        <p:blipFill>
          <a:blip r:embed="rId3"/>
          <a:stretch>
            <a:fillRect/>
          </a:stretch>
        </p:blipFill>
        <p:spPr>
          <a:xfrm>
            <a:off x="2057400" y="1962151"/>
            <a:ext cx="3581400" cy="2722611"/>
          </a:xfrm>
          <a:prstGeom prst="rect">
            <a:avLst/>
          </a:prstGeom>
        </p:spPr>
      </p:pic>
      <p:sp>
        <p:nvSpPr>
          <p:cNvPr id="7" name="Rectangle: Rounded Corners 1">
            <a:extLst>
              <a:ext uri="{FF2B5EF4-FFF2-40B4-BE49-F238E27FC236}">
                <a16:creationId xmlns:a16="http://schemas.microsoft.com/office/drawing/2014/main" id="{434D85A4-3AE9-8DD6-914A-EF1A4D5EB778}"/>
              </a:ext>
            </a:extLst>
          </p:cNvPr>
          <p:cNvSpPr/>
          <p:nvPr/>
        </p:nvSpPr>
        <p:spPr bwMode="auto">
          <a:xfrm>
            <a:off x="-12986" y="4707576"/>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9467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EDED15CA-5935-AE26-1355-83930F7C5AA8}"/>
              </a:ext>
            </a:extLst>
          </p:cNvPr>
          <p:cNvSpPr>
            <a:spLocks noGrp="1"/>
          </p:cNvSpPr>
          <p:nvPr>
            <p:ph type="title"/>
          </p:nvPr>
        </p:nvSpPr>
        <p:spPr>
          <a:xfrm>
            <a:off x="152400" y="63449"/>
            <a:ext cx="8368363" cy="409459"/>
          </a:xfrm>
          <a:prstGeom prst="rect">
            <a:avLst/>
          </a:prstGeom>
        </p:spPr>
        <p:txBody>
          <a:bodyPr>
            <a:normAutofit fontScale="90000"/>
          </a:bodyPr>
          <a:lstStyle/>
          <a:p>
            <a:r>
              <a:rPr lang="en-US" b="1" dirty="0">
                <a:solidFill>
                  <a:schemeClr val="tx1"/>
                </a:solidFill>
                <a:latin typeface="Times New Roman" panose="02020603050405020304" pitchFamily="18" charset="0"/>
                <a:cs typeface="Times New Roman" panose="02020603050405020304" pitchFamily="18" charset="0"/>
              </a:rPr>
              <a:t>LITERATURE SURVEY</a:t>
            </a:r>
          </a:p>
        </p:txBody>
      </p:sp>
      <p:graphicFrame>
        <p:nvGraphicFramePr>
          <p:cNvPr id="5" name="Table 4">
            <a:extLst>
              <a:ext uri="{FF2B5EF4-FFF2-40B4-BE49-F238E27FC236}">
                <a16:creationId xmlns:a16="http://schemas.microsoft.com/office/drawing/2014/main" id="{AA4AED26-E4C3-CD34-B935-5CF803555F65}"/>
              </a:ext>
            </a:extLst>
          </p:cNvPr>
          <p:cNvGraphicFramePr>
            <a:graphicFrameLocks noGrp="1"/>
          </p:cNvGraphicFramePr>
          <p:nvPr>
            <p:extLst>
              <p:ext uri="{D42A27DB-BD31-4B8C-83A1-F6EECF244321}">
                <p14:modId xmlns:p14="http://schemas.microsoft.com/office/powerpoint/2010/main" val="1273881077"/>
              </p:ext>
            </p:extLst>
          </p:nvPr>
        </p:nvGraphicFramePr>
        <p:xfrm>
          <a:off x="152400" y="472908"/>
          <a:ext cx="8839199" cy="4156242"/>
        </p:xfrm>
        <a:graphic>
          <a:graphicData uri="http://schemas.openxmlformats.org/drawingml/2006/table">
            <a:tbl>
              <a:tblPr firstRow="1" bandRow="1">
                <a:tableStyleId>{C083E6E3-FA7D-4D7B-A595-EF9225AFEA82}</a:tableStyleId>
              </a:tblPr>
              <a:tblGrid>
                <a:gridCol w="2209800">
                  <a:extLst>
                    <a:ext uri="{9D8B030D-6E8A-4147-A177-3AD203B41FA5}">
                      <a16:colId xmlns:a16="http://schemas.microsoft.com/office/drawing/2014/main" val="832363294"/>
                    </a:ext>
                  </a:extLst>
                </a:gridCol>
                <a:gridCol w="2743200">
                  <a:extLst>
                    <a:ext uri="{9D8B030D-6E8A-4147-A177-3AD203B41FA5}">
                      <a16:colId xmlns:a16="http://schemas.microsoft.com/office/drawing/2014/main" val="3400072118"/>
                    </a:ext>
                  </a:extLst>
                </a:gridCol>
                <a:gridCol w="2286000">
                  <a:extLst>
                    <a:ext uri="{9D8B030D-6E8A-4147-A177-3AD203B41FA5}">
                      <a16:colId xmlns:a16="http://schemas.microsoft.com/office/drawing/2014/main" val="2122441354"/>
                    </a:ext>
                  </a:extLst>
                </a:gridCol>
                <a:gridCol w="1600199">
                  <a:extLst>
                    <a:ext uri="{9D8B030D-6E8A-4147-A177-3AD203B41FA5}">
                      <a16:colId xmlns:a16="http://schemas.microsoft.com/office/drawing/2014/main" val="3160507268"/>
                    </a:ext>
                  </a:extLst>
                </a:gridCol>
              </a:tblGrid>
              <a:tr h="684732">
                <a:tc>
                  <a:txBody>
                    <a:bodyPr/>
                    <a:lstStyle/>
                    <a:p>
                      <a:pPr algn="ctr"/>
                      <a:r>
                        <a:rPr lang="en-IN" dirty="0">
                          <a:latin typeface="Times New Roman" panose="02020603050405020304" pitchFamily="18" charset="0"/>
                          <a:cs typeface="Times New Roman" panose="02020603050405020304" pitchFamily="18" charset="0"/>
                        </a:rPr>
                        <a:t>Paper 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latin typeface="Times New Roman" panose="02020603050405020304" pitchFamily="18" charset="0"/>
                          <a:cs typeface="Times New Roman" panose="02020603050405020304" pitchFamily="18" charset="0"/>
                        </a:rPr>
                        <a:t>Proposed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t>Methodology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t>Research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907930955"/>
                  </a:ext>
                </a:extLst>
              </a:tr>
              <a:tr h="3471510">
                <a:tc>
                  <a:txBody>
                    <a:bodyPr/>
                    <a:lstStyle/>
                    <a:p>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Title of </a:t>
                      </a:r>
                      <a:r>
                        <a:rPr lang="en-US" sz="1800" b="1"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paper</a:t>
                      </a:r>
                      <a:r>
                        <a:rPr lang="en-US" sz="1400" b="1"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b="0" i="0" kern="1200" dirty="0" err="1">
                          <a:solidFill>
                            <a:schemeClr val="tx1"/>
                          </a:solidFill>
                          <a:effectLst/>
                          <a:latin typeface="+mn-lt"/>
                          <a:ea typeface="+mn-ea"/>
                          <a:cs typeface="+mn-cs"/>
                        </a:rPr>
                        <a:t>A</a:t>
                      </a:r>
                      <a:r>
                        <a:rPr lang="en-US" sz="1800" b="0" i="0" kern="1200" dirty="0">
                          <a:solidFill>
                            <a:schemeClr val="tx1"/>
                          </a:solidFill>
                          <a:effectLst/>
                          <a:latin typeface="+mn-lt"/>
                          <a:ea typeface="+mn-ea"/>
                          <a:cs typeface="+mn-cs"/>
                        </a:rPr>
                        <a:t> </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38 GHZ MODIFIED CIRCULAR MICROSTRIP PATCH ANTENNA FOR 5G MOBILE SYSTEMS</a:t>
                      </a:r>
                      <a:br>
                        <a:rPr lang="en-US" sz="1400" dirty="0">
                          <a:latin typeface="Times New Roman" panose="02020603050405020304" pitchFamily="18" charset="0"/>
                          <a:cs typeface="Times New Roman" panose="02020603050405020304" pitchFamily="18" charset="0"/>
                        </a:rPr>
                      </a:br>
                      <a:r>
                        <a:rPr lang="en-IN" sz="1800" b="1" kern="1200" dirty="0">
                          <a:solidFill>
                            <a:schemeClr val="tx1"/>
                          </a:solidFill>
                          <a:effectLst/>
                          <a:latin typeface="Times New Roman" panose="02020603050405020304" pitchFamily="18" charset="0"/>
                          <a:cs typeface="Times New Roman" panose="02020603050405020304" pitchFamily="18" charset="0"/>
                        </a:rPr>
                        <a:t>Author Names:</a:t>
                      </a:r>
                      <a:r>
                        <a:rPr lang="sv-SE" sz="1400" dirty="0"/>
                        <a:t>Esraa I. Hassan, Radwa I. Hamad, and Mohamed I. Omar.</a:t>
                      </a:r>
                      <a:endParaRPr lang="en-US" sz="1400" b="0" i="0" kern="1200" baseline="0" dirty="0">
                        <a:solidFill>
                          <a:schemeClr val="tx1"/>
                        </a:solidFill>
                        <a:effectLst/>
                        <a:latin typeface="Times New Roman" panose="02020603050405020304" pitchFamily="18" charset="0"/>
                        <a:ea typeface="+mn-ea"/>
                        <a:cs typeface="Times New Roman" panose="02020603050405020304" pitchFamily="18" charset="0"/>
                      </a:endParaRPr>
                    </a:p>
                    <a:p>
                      <a:r>
                        <a:rPr lang="en-IN" sz="1800" b="1" kern="1200" dirty="0">
                          <a:solidFill>
                            <a:schemeClr val="tx1"/>
                          </a:solidFill>
                          <a:effectLst/>
                          <a:latin typeface="Times New Roman" panose="02020603050405020304" pitchFamily="18" charset="0"/>
                          <a:cs typeface="Times New Roman" panose="02020603050405020304" pitchFamily="18" charset="0"/>
                        </a:rPr>
                        <a:t>Year of Publication:</a:t>
                      </a:r>
                    </a:p>
                    <a:p>
                      <a:r>
                        <a:rPr lang="en-IN" sz="1400" dirty="0">
                          <a:latin typeface="Times New Roman" panose="02020603050405020304" pitchFamily="18" charset="0"/>
                          <a:cs typeface="Times New Roman" panose="02020603050405020304" pitchFamily="18" charset="0"/>
                        </a:rPr>
                        <a:t>2021</a:t>
                      </a:r>
                      <a:endParaRPr lang="en-IN" sz="1400" b="1" kern="1200" dirty="0">
                        <a:solidFill>
                          <a:schemeClr val="tx1"/>
                        </a:solidFill>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dirty="0"/>
                        <a:t>The proposed antenna is a compact, modified circular microstrip patch for 38 GHz 5G applications, with enhanced gain and bandwidth achieved using a defected ground structure. It offers high performance and ease of fabrication</a:t>
                      </a:r>
                      <a:endParaRPr lang="en-IN" sz="1400" b="1" kern="1200" dirty="0">
                        <a:solidFill>
                          <a:schemeClr val="tx1"/>
                        </a:solidFill>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dirty="0"/>
                        <a:t>The methodology involves iterative design, simulation, and fabrication of a modified circular microstrip patch antenna with a defected ground structure to optimize performance at 38 GHz for 5G applications.</a:t>
                      </a:r>
                    </a:p>
                    <a:p>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dirty="0"/>
                        <a:t>The paper proposes a compact, modified circular microstrip patch antenna for 5G at 38 GHz. It features a defected ground structure (DGS) to enhance bandwidth and gain.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53791261"/>
                  </a:ext>
                </a:extLst>
              </a:tr>
            </a:tbl>
          </a:graphicData>
        </a:graphic>
      </p:graphicFrame>
      <p:pic>
        <p:nvPicPr>
          <p:cNvPr id="6" name="Picture 5">
            <a:extLst>
              <a:ext uri="{FF2B5EF4-FFF2-40B4-BE49-F238E27FC236}">
                <a16:creationId xmlns:a16="http://schemas.microsoft.com/office/drawing/2014/main" id="{ED9536CE-7C7D-D0AA-1ECC-17C6CEDA89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00" y="3088415"/>
            <a:ext cx="2743200" cy="1464535"/>
          </a:xfrm>
          <a:prstGeom prst="rect">
            <a:avLst/>
          </a:prstGeom>
        </p:spPr>
      </p:pic>
      <p:sp>
        <p:nvSpPr>
          <p:cNvPr id="10" name="Rectangle: Rounded Corners 1">
            <a:extLst>
              <a:ext uri="{FF2B5EF4-FFF2-40B4-BE49-F238E27FC236}">
                <a16:creationId xmlns:a16="http://schemas.microsoft.com/office/drawing/2014/main" id="{F1C4A299-053D-C0CD-7DCC-F57E6FD14B51}"/>
              </a:ext>
            </a:extLst>
          </p:cNvPr>
          <p:cNvSpPr/>
          <p:nvPr/>
        </p:nvSpPr>
        <p:spPr bwMode="auto">
          <a:xfrm>
            <a:off x="-12986" y="4707576"/>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891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400" y="63449"/>
            <a:ext cx="8368363" cy="409459"/>
          </a:xfrm>
          <a:prstGeom prst="rect">
            <a:avLst/>
          </a:prstGeom>
        </p:spPr>
        <p:txBody>
          <a:bodyPr>
            <a:normAutofit fontScale="90000"/>
          </a:bodyPr>
          <a:lstStyle/>
          <a:p>
            <a:r>
              <a:rPr lang="en-US" b="1" dirty="0">
                <a:solidFill>
                  <a:schemeClr val="tx1"/>
                </a:solidFill>
                <a:latin typeface="Times New Roman" panose="02020603050405020304" pitchFamily="18" charset="0"/>
                <a:cs typeface="Times New Roman" panose="02020603050405020304" pitchFamily="18" charset="0"/>
              </a:rPr>
              <a:t>LITERATURE SURVEY</a:t>
            </a:r>
          </a:p>
        </p:txBody>
      </p:sp>
      <p:graphicFrame>
        <p:nvGraphicFramePr>
          <p:cNvPr id="8" name="Table 7">
            <a:extLst>
              <a:ext uri="{FF2B5EF4-FFF2-40B4-BE49-F238E27FC236}">
                <a16:creationId xmlns:a16="http://schemas.microsoft.com/office/drawing/2014/main" id="{61C99CA8-B06D-C59B-A27C-BC95F21956FB}"/>
              </a:ext>
            </a:extLst>
          </p:cNvPr>
          <p:cNvGraphicFramePr>
            <a:graphicFrameLocks noGrp="1"/>
          </p:cNvGraphicFramePr>
          <p:nvPr>
            <p:extLst>
              <p:ext uri="{D42A27DB-BD31-4B8C-83A1-F6EECF244321}">
                <p14:modId xmlns:p14="http://schemas.microsoft.com/office/powerpoint/2010/main" val="209546319"/>
              </p:ext>
            </p:extLst>
          </p:nvPr>
        </p:nvGraphicFramePr>
        <p:xfrm>
          <a:off x="21396" y="399000"/>
          <a:ext cx="8915398" cy="4443510"/>
        </p:xfrm>
        <a:graphic>
          <a:graphicData uri="http://schemas.openxmlformats.org/drawingml/2006/table">
            <a:tbl>
              <a:tblPr firstRow="1" bandRow="1">
                <a:tableStyleId>{C083E6E3-FA7D-4D7B-A595-EF9225AFEA82}</a:tableStyleId>
              </a:tblPr>
              <a:tblGrid>
                <a:gridCol w="1904999">
                  <a:extLst>
                    <a:ext uri="{9D8B030D-6E8A-4147-A177-3AD203B41FA5}">
                      <a16:colId xmlns:a16="http://schemas.microsoft.com/office/drawing/2014/main" val="832363294"/>
                    </a:ext>
                  </a:extLst>
                </a:gridCol>
                <a:gridCol w="3255205">
                  <a:extLst>
                    <a:ext uri="{9D8B030D-6E8A-4147-A177-3AD203B41FA5}">
                      <a16:colId xmlns:a16="http://schemas.microsoft.com/office/drawing/2014/main" val="3400072118"/>
                    </a:ext>
                  </a:extLst>
                </a:gridCol>
                <a:gridCol w="1981200">
                  <a:extLst>
                    <a:ext uri="{9D8B030D-6E8A-4147-A177-3AD203B41FA5}">
                      <a16:colId xmlns:a16="http://schemas.microsoft.com/office/drawing/2014/main" val="2122441354"/>
                    </a:ext>
                  </a:extLst>
                </a:gridCol>
                <a:gridCol w="1773994">
                  <a:extLst>
                    <a:ext uri="{9D8B030D-6E8A-4147-A177-3AD203B41FA5}">
                      <a16:colId xmlns:a16="http://schemas.microsoft.com/office/drawing/2014/main" val="3160507268"/>
                    </a:ext>
                  </a:extLst>
                </a:gridCol>
              </a:tblGrid>
              <a:tr h="572550">
                <a:tc>
                  <a:txBody>
                    <a:bodyPr/>
                    <a:lstStyle/>
                    <a:p>
                      <a:pPr algn="ctr"/>
                      <a:r>
                        <a:rPr lang="en-IN" dirty="0">
                          <a:latin typeface="Times New Roman" panose="02020603050405020304" pitchFamily="18" charset="0"/>
                          <a:cs typeface="Times New Roman" panose="02020603050405020304" pitchFamily="18" charset="0"/>
                        </a:rPr>
                        <a:t>Paper 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latin typeface="Times New Roman" panose="02020603050405020304" pitchFamily="18" charset="0"/>
                          <a:cs typeface="Times New Roman" panose="02020603050405020304" pitchFamily="18" charset="0"/>
                        </a:rPr>
                        <a:t>Proposed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t>Methodology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t>Research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907930955"/>
                  </a:ext>
                </a:extLst>
              </a:tr>
              <a:tr h="3300704">
                <a:tc>
                  <a:txBody>
                    <a:bodyPr/>
                    <a:lstStyle/>
                    <a:p>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Title of paper:</a:t>
                      </a:r>
                    </a:p>
                    <a:p>
                      <a:r>
                        <a:rPr lang="en-IN" sz="1400" kern="1200" dirty="0">
                          <a:solidFill>
                            <a:schemeClr val="tx1"/>
                          </a:solidFill>
                          <a:effectLst/>
                          <a:latin typeface="Times New Roman" panose="02020603050405020304" pitchFamily="18" charset="0"/>
                          <a:ea typeface="+mn-ea"/>
                          <a:cs typeface="Times New Roman" panose="02020603050405020304" pitchFamily="18" charset="0"/>
                        </a:rPr>
                        <a:t>Design and Implementation of Circular </a:t>
                      </a:r>
                      <a:r>
                        <a:rPr lang="en-IN" sz="1400" kern="1200" dirty="0" err="1">
                          <a:solidFill>
                            <a:schemeClr val="tx1"/>
                          </a:solidFill>
                          <a:effectLst/>
                          <a:latin typeface="Times New Roman" panose="02020603050405020304" pitchFamily="18" charset="0"/>
                          <a:ea typeface="+mn-ea"/>
                          <a:cs typeface="Times New Roman" panose="02020603050405020304" pitchFamily="18" charset="0"/>
                        </a:rPr>
                        <a:t>Microstrip</a:t>
                      </a:r>
                      <a:endParaRPr lang="en-IN" sz="1400" kern="1200" dirty="0">
                        <a:solidFill>
                          <a:schemeClr val="tx1"/>
                        </a:solidFill>
                        <a:effectLst/>
                        <a:latin typeface="Times New Roman" panose="02020603050405020304" pitchFamily="18" charset="0"/>
                        <a:ea typeface="+mn-ea"/>
                        <a:cs typeface="Times New Roman" panose="02020603050405020304" pitchFamily="18" charset="0"/>
                      </a:endParaRPr>
                    </a:p>
                    <a:p>
                      <a:r>
                        <a:rPr lang="en-IN" sz="1400" kern="1200" dirty="0">
                          <a:solidFill>
                            <a:schemeClr val="tx1"/>
                          </a:solidFill>
                          <a:effectLst/>
                          <a:latin typeface="Times New Roman" panose="02020603050405020304" pitchFamily="18" charset="0"/>
                          <a:ea typeface="+mn-ea"/>
                          <a:cs typeface="Times New Roman" panose="02020603050405020304" pitchFamily="18" charset="0"/>
                        </a:rPr>
                        <a:t>Patch Array Antenna for 5G Communication using</a:t>
                      </a:r>
                    </a:p>
                    <a:p>
                      <a:r>
                        <a:rPr lang="en-IN" sz="1400" kern="1200" dirty="0">
                          <a:solidFill>
                            <a:schemeClr val="tx1"/>
                          </a:solidFill>
                          <a:effectLst/>
                          <a:latin typeface="Times New Roman" panose="02020603050405020304" pitchFamily="18" charset="0"/>
                          <a:ea typeface="+mn-ea"/>
                          <a:cs typeface="Times New Roman" panose="02020603050405020304" pitchFamily="18" charset="0"/>
                        </a:rPr>
                        <a:t> Rogers RT 5880</a:t>
                      </a:r>
                    </a:p>
                    <a:p>
                      <a:r>
                        <a:rPr lang="en-IN" sz="1800" b="1" kern="1200" dirty="0">
                          <a:solidFill>
                            <a:schemeClr val="tx1"/>
                          </a:solidFill>
                          <a:effectLst/>
                          <a:latin typeface="Times New Roman" panose="02020603050405020304" pitchFamily="18" charset="0"/>
                          <a:cs typeface="Times New Roman" panose="02020603050405020304" pitchFamily="18" charset="0"/>
                        </a:rPr>
                        <a:t>Author Names:</a:t>
                      </a:r>
                    </a:p>
                    <a:p>
                      <a:r>
                        <a:rPr lang="en-IN" sz="1400" dirty="0" err="1">
                          <a:latin typeface="Times New Roman" panose="02020603050405020304" pitchFamily="18" charset="0"/>
                          <a:cs typeface="Times New Roman" panose="02020603050405020304" pitchFamily="18" charset="0"/>
                        </a:rPr>
                        <a:t>Pasupuleti</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Swarnalatha</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Vivek</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Rajpoot</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R.V.V.Krishna</a:t>
                      </a:r>
                      <a:r>
                        <a:rPr lang="en-IN" sz="1400" dirty="0">
                          <a:latin typeface="Times New Roman" panose="02020603050405020304" pitchFamily="18" charset="0"/>
                          <a:cs typeface="Times New Roman" panose="02020603050405020304" pitchFamily="18" charset="0"/>
                        </a:rPr>
                        <a:t> </a:t>
                      </a:r>
                    </a:p>
                    <a:p>
                      <a:r>
                        <a:rPr lang="en-IN" sz="1400" dirty="0"/>
                        <a:t> </a:t>
                      </a:r>
                      <a:r>
                        <a:rPr lang="en-IN" sz="1800" b="1" kern="1200" dirty="0">
                          <a:solidFill>
                            <a:schemeClr val="tx1"/>
                          </a:solidFill>
                          <a:effectLst/>
                          <a:latin typeface="Times New Roman" panose="02020603050405020304" pitchFamily="18" charset="0"/>
                          <a:cs typeface="Times New Roman" panose="02020603050405020304" pitchFamily="18" charset="0"/>
                        </a:rPr>
                        <a:t>Year of Publication:</a:t>
                      </a:r>
                    </a:p>
                    <a:p>
                      <a:r>
                        <a:rPr lang="en-IN" sz="1400" b="0" i="0" kern="1200" dirty="0">
                          <a:solidFill>
                            <a:schemeClr val="tx1"/>
                          </a:solidFill>
                          <a:effectLst/>
                          <a:latin typeface="Times New Roman" panose="02020603050405020304" pitchFamily="18" charset="0"/>
                          <a:ea typeface="+mn-ea"/>
                          <a:cs typeface="Times New Roman" panose="02020603050405020304" pitchFamily="18" charset="0"/>
                        </a:rPr>
                        <a:t>2022</a:t>
                      </a:r>
                      <a:r>
                        <a:rPr lang="en-IN" sz="1800" b="0" i="0" kern="1200" dirty="0">
                          <a:solidFill>
                            <a:schemeClr val="tx1"/>
                          </a:solidFill>
                          <a:effectLst/>
                          <a:latin typeface="+mn-lt"/>
                          <a:ea typeface="+mn-ea"/>
                          <a:cs typeface="+mn-cs"/>
                        </a:rPr>
                        <a:t>.</a:t>
                      </a:r>
                      <a:endParaRPr lang="en-IN" sz="1800" b="1" kern="1200" dirty="0">
                        <a:solidFill>
                          <a:schemeClr val="tx1"/>
                        </a:solidFill>
                        <a:effectLst/>
                        <a:latin typeface="Times New Roman" panose="02020603050405020304" pitchFamily="18" charset="0"/>
                        <a:cs typeface="Times New Roman" panose="02020603050405020304" pitchFamily="18" charset="0"/>
                      </a:endParaRPr>
                    </a:p>
                    <a:p>
                      <a:endParaRPr lang="en-IN" sz="1800" b="1" kern="1200" dirty="0">
                        <a:solidFill>
                          <a:schemeClr val="tx1"/>
                        </a:solidFill>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kern="1200" dirty="0">
                          <a:solidFill>
                            <a:schemeClr val="tx1"/>
                          </a:solidFill>
                          <a:effectLst/>
                          <a:latin typeface="Times New Roman" panose="02020603050405020304" pitchFamily="18" charset="0"/>
                          <a:ea typeface="+mn-ea"/>
                          <a:cs typeface="Times New Roman" panose="02020603050405020304" pitchFamily="18" charset="0"/>
                        </a:rPr>
                        <a:t>The proposed work involves designing a circular </a:t>
                      </a:r>
                      <a:r>
                        <a:rPr lang="en-IN" sz="1400" kern="1200" dirty="0" err="1">
                          <a:solidFill>
                            <a:schemeClr val="tx1"/>
                          </a:solidFill>
                          <a:effectLst/>
                          <a:latin typeface="Times New Roman" panose="02020603050405020304" pitchFamily="18" charset="0"/>
                          <a:ea typeface="+mn-ea"/>
                          <a:cs typeface="Times New Roman" panose="02020603050405020304" pitchFamily="18" charset="0"/>
                        </a:rPr>
                        <a:t>microstrip</a:t>
                      </a:r>
                      <a:r>
                        <a:rPr lang="en-IN" sz="1400" kern="1200" dirty="0">
                          <a:solidFill>
                            <a:schemeClr val="tx1"/>
                          </a:solidFill>
                          <a:effectLst/>
                          <a:latin typeface="Times New Roman" panose="02020603050405020304" pitchFamily="18" charset="0"/>
                          <a:ea typeface="+mn-ea"/>
                          <a:cs typeface="Times New Roman" panose="02020603050405020304" pitchFamily="18" charset="0"/>
                        </a:rPr>
                        <a:t> patch antenna (CMPA) for 5G applications, operating at 28 GHz using Rogers RT5880 substrate. The antenna features a compact size with a diameter of 2.02 mm and aims for low return loss and high gain, achieving S11 values of -16.2 dB for a single antenna and -21.6 dB for a four-element array. </a:t>
                      </a:r>
                      <a:endParaRPr lang="en-IN" sz="1400" b="1" kern="1200" dirty="0">
                        <a:solidFill>
                          <a:schemeClr val="tx1"/>
                        </a:solidFill>
                        <a:effectLst/>
                        <a:latin typeface="Times New Roman" panose="02020603050405020304" pitchFamily="18" charset="0"/>
                        <a:cs typeface="Times New Roman" panose="02020603050405020304" pitchFamily="18" charset="0"/>
                      </a:endParaRPr>
                    </a:p>
                    <a:p>
                      <a:endParaRPr lang="en-IN" sz="1400" b="1" kern="1200" dirty="0">
                        <a:solidFill>
                          <a:schemeClr val="tx1"/>
                        </a:solidFill>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dirty="0">
                          <a:latin typeface="Times New Roman" panose="02020603050405020304" pitchFamily="18" charset="0"/>
                          <a:cs typeface="Times New Roman" panose="02020603050405020304" pitchFamily="18" charset="0"/>
                        </a:rPr>
                        <a:t>Defining design parameters for a 28 GHz operation, selecting Rogers RT5880 as the substrate, and modeling the antenna using HFSS software. Simulations are conducted to evaluate performance metrics such as return loss and gain for single and array configurations. The design is then optimized based on simulation results</a:t>
                      </a:r>
                      <a:r>
                        <a:rPr lang="en-US" sz="1400" baseline="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and existing literature.</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dirty="0">
                          <a:latin typeface="Times New Roman" panose="02020603050405020304" pitchFamily="18" charset="0"/>
                          <a:cs typeface="Times New Roman" panose="02020603050405020304" pitchFamily="18" charset="0"/>
                        </a:rPr>
                        <a:t>Need for hybrid designs and improved bandwidth. It lacks attention to multi-directional performance in urban environments and </a:t>
                      </a:r>
                      <a:r>
                        <a:rPr lang="en-US" sz="1400" dirty="0" err="1">
                          <a:latin typeface="Times New Roman" panose="02020603050405020304" pitchFamily="18" charset="0"/>
                          <a:cs typeface="Times New Roman" panose="02020603050405020304" pitchFamily="18" charset="0"/>
                        </a:rPr>
                        <a:t>IoT</a:t>
                      </a:r>
                      <a:r>
                        <a:rPr lang="en-US" sz="1400" dirty="0">
                          <a:latin typeface="Times New Roman" panose="02020603050405020304" pitchFamily="18" charset="0"/>
                          <a:cs typeface="Times New Roman" panose="02020603050405020304" pitchFamily="18" charset="0"/>
                        </a:rPr>
                        <a:t> optimization.</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53791261"/>
                  </a:ext>
                </a:extLst>
              </a:tr>
            </a:tbl>
          </a:graphicData>
        </a:graphic>
      </p:graphicFrame>
      <p:sp>
        <p:nvSpPr>
          <p:cNvPr id="2" name="Rectangle: Rounded Corners 1">
            <a:extLst>
              <a:ext uri="{FF2B5EF4-FFF2-40B4-BE49-F238E27FC236}">
                <a16:creationId xmlns:a16="http://schemas.microsoft.com/office/drawing/2014/main" id="{47D6B1C5-DCD5-94C8-79EB-D04ED55BA7E8}"/>
              </a:ext>
            </a:extLst>
          </p:cNvPr>
          <p:cNvSpPr/>
          <p:nvPr/>
        </p:nvSpPr>
        <p:spPr bwMode="auto">
          <a:xfrm>
            <a:off x="2628" y="46835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MAJOR PROJECT PHASE 1 (BEC685)</a:t>
            </a:r>
          </a:p>
        </p:txBody>
      </p:sp>
      <p:pic>
        <p:nvPicPr>
          <p:cNvPr id="5" name="Picture 4"/>
          <p:cNvPicPr>
            <a:picLocks noChangeAspect="1"/>
          </p:cNvPicPr>
          <p:nvPr/>
        </p:nvPicPr>
        <p:blipFill rotWithShape="1">
          <a:blip r:embed="rId2"/>
          <a:srcRect t="18633"/>
          <a:stretch/>
        </p:blipFill>
        <p:spPr>
          <a:xfrm>
            <a:off x="2286000" y="3089774"/>
            <a:ext cx="2479975" cy="1426029"/>
          </a:xfrm>
          <a:prstGeom prst="rect">
            <a:avLst/>
          </a:prstGeom>
        </p:spPr>
      </p:pic>
      <p:sp>
        <p:nvSpPr>
          <p:cNvPr id="6" name="Rectangle: Rounded Corners 1">
            <a:extLst>
              <a:ext uri="{FF2B5EF4-FFF2-40B4-BE49-F238E27FC236}">
                <a16:creationId xmlns:a16="http://schemas.microsoft.com/office/drawing/2014/main" id="{434D85A4-3AE9-8DD6-914A-EF1A4D5EB778}"/>
              </a:ext>
            </a:extLst>
          </p:cNvPr>
          <p:cNvSpPr/>
          <p:nvPr/>
        </p:nvSpPr>
        <p:spPr bwMode="auto">
          <a:xfrm>
            <a:off x="10886" y="46835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Circularly Polarized Multi-Band </a:t>
            </a:r>
            <a:r>
              <a:rPr lang="en-US" sz="1600" b="1" dirty="0" err="1">
                <a:solidFill>
                  <a:schemeClr val="bg1"/>
                </a:solidFill>
                <a:latin typeface="Times New Roman" panose="02020603050405020304" pitchFamily="18" charset="0"/>
                <a:cs typeface="Times New Roman" panose="02020603050405020304" pitchFamily="18" charset="0"/>
              </a:rPr>
              <a:t>Microstrip</a:t>
            </a:r>
            <a:r>
              <a:rPr lang="en-US" sz="1600" b="1" dirty="0">
                <a:solidFill>
                  <a:schemeClr val="bg1"/>
                </a:solidFill>
                <a:latin typeface="Times New Roman" panose="02020603050405020304" pitchFamily="18" charset="0"/>
                <a:cs typeface="Times New Roman" panose="02020603050405020304" pitchFamily="18" charset="0"/>
              </a:rPr>
              <a:t> Patch Antenna for 5G and </a:t>
            </a:r>
            <a:r>
              <a:rPr lang="en-US" sz="1600" b="1" dirty="0" err="1">
                <a:solidFill>
                  <a:schemeClr val="bg1"/>
                </a:solidFill>
                <a:latin typeface="Times New Roman" panose="02020603050405020304" pitchFamily="18" charset="0"/>
                <a:cs typeface="Times New Roman" panose="02020603050405020304" pitchFamily="18" charset="0"/>
              </a:rPr>
              <a:t>IoT</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7" name="Rectangle: Rounded Corners 1">
            <a:extLst>
              <a:ext uri="{FF2B5EF4-FFF2-40B4-BE49-F238E27FC236}">
                <a16:creationId xmlns:a16="http://schemas.microsoft.com/office/drawing/2014/main" id="{434D85A4-3AE9-8DD6-914A-EF1A4D5EB778}"/>
              </a:ext>
            </a:extLst>
          </p:cNvPr>
          <p:cNvSpPr/>
          <p:nvPr/>
        </p:nvSpPr>
        <p:spPr bwMode="auto">
          <a:xfrm>
            <a:off x="-21020" y="4711826"/>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4847159"/>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400" y="63449"/>
            <a:ext cx="8368363" cy="409459"/>
          </a:xfrm>
          <a:prstGeom prst="rect">
            <a:avLst/>
          </a:prstGeom>
        </p:spPr>
        <p:txBody>
          <a:bodyPr>
            <a:normAutofit fontScale="90000"/>
          </a:bodyPr>
          <a:lstStyle/>
          <a:p>
            <a:r>
              <a:rPr lang="en-US" b="1" dirty="0">
                <a:solidFill>
                  <a:schemeClr val="tx1"/>
                </a:solidFill>
                <a:latin typeface="Times New Roman" panose="02020603050405020304" pitchFamily="18" charset="0"/>
                <a:cs typeface="Times New Roman" panose="02020603050405020304" pitchFamily="18" charset="0"/>
              </a:rPr>
              <a:t>LITERATURE SURVEY</a:t>
            </a:r>
          </a:p>
        </p:txBody>
      </p:sp>
      <p:graphicFrame>
        <p:nvGraphicFramePr>
          <p:cNvPr id="8" name="Table 7">
            <a:extLst>
              <a:ext uri="{FF2B5EF4-FFF2-40B4-BE49-F238E27FC236}">
                <a16:creationId xmlns:a16="http://schemas.microsoft.com/office/drawing/2014/main" id="{61C99CA8-B06D-C59B-A27C-BC95F21956FB}"/>
              </a:ext>
            </a:extLst>
          </p:cNvPr>
          <p:cNvGraphicFramePr>
            <a:graphicFrameLocks noGrp="1"/>
          </p:cNvGraphicFramePr>
          <p:nvPr>
            <p:extLst>
              <p:ext uri="{D42A27DB-BD31-4B8C-83A1-F6EECF244321}">
                <p14:modId xmlns:p14="http://schemas.microsoft.com/office/powerpoint/2010/main" val="3623748620"/>
              </p:ext>
            </p:extLst>
          </p:nvPr>
        </p:nvGraphicFramePr>
        <p:xfrm>
          <a:off x="76201" y="472908"/>
          <a:ext cx="8915398" cy="4153404"/>
        </p:xfrm>
        <a:graphic>
          <a:graphicData uri="http://schemas.openxmlformats.org/drawingml/2006/table">
            <a:tbl>
              <a:tblPr firstRow="1" bandRow="1">
                <a:tableStyleId>{C083E6E3-FA7D-4D7B-A595-EF9225AFEA82}</a:tableStyleId>
              </a:tblPr>
              <a:tblGrid>
                <a:gridCol w="2057399">
                  <a:extLst>
                    <a:ext uri="{9D8B030D-6E8A-4147-A177-3AD203B41FA5}">
                      <a16:colId xmlns:a16="http://schemas.microsoft.com/office/drawing/2014/main" val="832363294"/>
                    </a:ext>
                  </a:extLst>
                </a:gridCol>
                <a:gridCol w="2743200">
                  <a:extLst>
                    <a:ext uri="{9D8B030D-6E8A-4147-A177-3AD203B41FA5}">
                      <a16:colId xmlns:a16="http://schemas.microsoft.com/office/drawing/2014/main" val="3400072118"/>
                    </a:ext>
                  </a:extLst>
                </a:gridCol>
                <a:gridCol w="2438400">
                  <a:extLst>
                    <a:ext uri="{9D8B030D-6E8A-4147-A177-3AD203B41FA5}">
                      <a16:colId xmlns:a16="http://schemas.microsoft.com/office/drawing/2014/main" val="2122441354"/>
                    </a:ext>
                  </a:extLst>
                </a:gridCol>
                <a:gridCol w="1676399">
                  <a:extLst>
                    <a:ext uri="{9D8B030D-6E8A-4147-A177-3AD203B41FA5}">
                      <a16:colId xmlns:a16="http://schemas.microsoft.com/office/drawing/2014/main" val="3160507268"/>
                    </a:ext>
                  </a:extLst>
                </a:gridCol>
              </a:tblGrid>
              <a:tr h="664606">
                <a:tc>
                  <a:txBody>
                    <a:bodyPr/>
                    <a:lstStyle/>
                    <a:p>
                      <a:pPr algn="ctr"/>
                      <a:r>
                        <a:rPr lang="en-IN" dirty="0">
                          <a:latin typeface="Times New Roman" panose="02020603050405020304" pitchFamily="18" charset="0"/>
                          <a:cs typeface="Times New Roman" panose="02020603050405020304" pitchFamily="18" charset="0"/>
                        </a:rPr>
                        <a:t>Paper 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latin typeface="Times New Roman" panose="02020603050405020304" pitchFamily="18" charset="0"/>
                          <a:cs typeface="Times New Roman" panose="02020603050405020304" pitchFamily="18" charset="0"/>
                        </a:rPr>
                        <a:t>Proposed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t>Methodology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t>Research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907930955"/>
                  </a:ext>
                </a:extLst>
              </a:tr>
              <a:tr h="3488798">
                <a:tc>
                  <a:txBody>
                    <a:bodyPr/>
                    <a:lstStyle/>
                    <a:p>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Title of paper:</a:t>
                      </a:r>
                    </a:p>
                    <a:p>
                      <a:r>
                        <a:rPr lang="en-IN" sz="1400" kern="1200" dirty="0">
                          <a:solidFill>
                            <a:schemeClr val="tx1"/>
                          </a:solidFill>
                          <a:effectLst/>
                          <a:latin typeface="Times New Roman" panose="02020603050405020304" pitchFamily="18" charset="0"/>
                          <a:ea typeface="+mn-ea"/>
                          <a:cs typeface="Times New Roman" panose="02020603050405020304" pitchFamily="18" charset="0"/>
                        </a:rPr>
                        <a:t>A circularly polarized </a:t>
                      </a:r>
                      <a:r>
                        <a:rPr lang="en-IN" sz="1400" kern="1200" dirty="0" err="1">
                          <a:solidFill>
                            <a:schemeClr val="tx1"/>
                          </a:solidFill>
                          <a:effectLst/>
                          <a:latin typeface="Times New Roman" panose="02020603050405020304" pitchFamily="18" charset="0"/>
                          <a:ea typeface="+mn-ea"/>
                          <a:cs typeface="Times New Roman" panose="02020603050405020304" pitchFamily="18" charset="0"/>
                        </a:rPr>
                        <a:t>microstrip</a:t>
                      </a:r>
                      <a:r>
                        <a:rPr lang="en-IN" sz="1400" kern="1200" dirty="0">
                          <a:solidFill>
                            <a:schemeClr val="tx1"/>
                          </a:solidFill>
                          <a:effectLst/>
                          <a:latin typeface="Times New Roman" panose="02020603050405020304" pitchFamily="18" charset="0"/>
                          <a:ea typeface="+mn-ea"/>
                          <a:cs typeface="Times New Roman" panose="02020603050405020304" pitchFamily="18" charset="0"/>
                        </a:rPr>
                        <a:t> phased array antenna for 5G communication</a:t>
                      </a:r>
                    </a:p>
                    <a:p>
                      <a:r>
                        <a:rPr lang="en-IN" sz="1800" b="1" kern="1200" dirty="0">
                          <a:solidFill>
                            <a:schemeClr val="tx1"/>
                          </a:solidFill>
                          <a:effectLst/>
                          <a:latin typeface="Times New Roman" panose="02020603050405020304" pitchFamily="18" charset="0"/>
                          <a:cs typeface="Times New Roman" panose="02020603050405020304" pitchFamily="18" charset="0"/>
                        </a:rPr>
                        <a:t>Author Names:</a:t>
                      </a:r>
                    </a:p>
                    <a:p>
                      <a:r>
                        <a:rPr lang="en-IN" sz="1400" dirty="0">
                          <a:latin typeface="Times New Roman" panose="02020603050405020304" pitchFamily="18" charset="0"/>
                          <a:cs typeface="Times New Roman" panose="02020603050405020304" pitchFamily="18" charset="0"/>
                        </a:rPr>
                        <a:t>Liang-Yong Yi, An-</a:t>
                      </a:r>
                      <a:r>
                        <a:rPr lang="en-IN" sz="1400" dirty="0" err="1">
                          <a:latin typeface="Times New Roman" panose="02020603050405020304" pitchFamily="18" charset="0"/>
                          <a:cs typeface="Times New Roman" panose="02020603050405020304" pitchFamily="18" charset="0"/>
                        </a:rPr>
                        <a:t>Zi</a:t>
                      </a:r>
                      <a:r>
                        <a:rPr lang="en-IN" sz="1400" dirty="0">
                          <a:latin typeface="Times New Roman" panose="02020603050405020304" pitchFamily="18" charset="0"/>
                          <a:cs typeface="Times New Roman" panose="02020603050405020304" pitchFamily="18" charset="0"/>
                        </a:rPr>
                        <a:t> Wang, Li Zhang, Shi Fang, </a:t>
                      </a:r>
                      <a:r>
                        <a:rPr lang="en-IN" sz="1400" dirty="0" err="1">
                          <a:latin typeface="Times New Roman" panose="02020603050405020304" pitchFamily="18" charset="0"/>
                          <a:cs typeface="Times New Roman" panose="02020603050405020304" pitchFamily="18" charset="0"/>
                        </a:rPr>
                        <a:t>Cai</a:t>
                      </a:r>
                      <a:r>
                        <a:rPr lang="en-IN" sz="1400" dirty="0">
                          <a:latin typeface="Times New Roman" panose="02020603050405020304" pitchFamily="18" charset="0"/>
                          <a:cs typeface="Times New Roman" panose="02020603050405020304" pitchFamily="18" charset="0"/>
                        </a:rPr>
                        <a:t>-Tao Hui </a:t>
                      </a:r>
                    </a:p>
                    <a:p>
                      <a:r>
                        <a:rPr lang="en-IN" sz="1800" b="1" kern="1200" dirty="0">
                          <a:solidFill>
                            <a:schemeClr val="tx1"/>
                          </a:solidFill>
                          <a:effectLst/>
                          <a:latin typeface="Times New Roman" panose="02020603050405020304" pitchFamily="18" charset="0"/>
                          <a:cs typeface="Times New Roman" panose="02020603050405020304" pitchFamily="18" charset="0"/>
                        </a:rPr>
                        <a:t>Year of Publication:</a:t>
                      </a:r>
                    </a:p>
                    <a:p>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2023</a:t>
                      </a:r>
                      <a:endParaRPr lang="en-IN" sz="1400" b="1" kern="1200" dirty="0">
                        <a:solidFill>
                          <a:schemeClr val="tx1"/>
                        </a:solidFill>
                        <a:effectLst/>
                        <a:latin typeface="Times New Roman" panose="02020603050405020304" pitchFamily="18" charset="0"/>
                        <a:cs typeface="Times New Roman" panose="02020603050405020304" pitchFamily="18" charset="0"/>
                      </a:endParaRPr>
                    </a:p>
                    <a:p>
                      <a:endParaRPr lang="en-IN" sz="1800" b="1" kern="1200" dirty="0">
                        <a:solidFill>
                          <a:schemeClr val="tx1"/>
                        </a:solidFill>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dirty="0">
                          <a:latin typeface="Times New Roman" panose="02020603050405020304" pitchFamily="18" charset="0"/>
                          <a:cs typeface="Times New Roman" panose="02020603050405020304" pitchFamily="18" charset="0"/>
                        </a:rPr>
                        <a:t>The proposed method in this study involves the design of a single-fed stacked </a:t>
                      </a:r>
                      <a:r>
                        <a:rPr lang="en-US" sz="1400" dirty="0" err="1">
                          <a:latin typeface="Times New Roman" panose="02020603050405020304" pitchFamily="18" charset="0"/>
                          <a:cs typeface="Times New Roman" panose="02020603050405020304" pitchFamily="18" charset="0"/>
                        </a:rPr>
                        <a:t>microstrip</a:t>
                      </a:r>
                      <a:r>
                        <a:rPr lang="en-US" sz="1400" dirty="0">
                          <a:latin typeface="Times New Roman" panose="02020603050405020304" pitchFamily="18" charset="0"/>
                          <a:cs typeface="Times New Roman" panose="02020603050405020304" pitchFamily="18" charset="0"/>
                        </a:rPr>
                        <a:t> antenna unit aimed at enhancing the performance of phased arrays for 5G communication.</a:t>
                      </a:r>
                      <a:endParaRPr lang="en-IN" sz="1400" b="1" kern="1200" dirty="0">
                        <a:solidFill>
                          <a:schemeClr val="tx1"/>
                        </a:solidFill>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dirty="0">
                          <a:latin typeface="Times New Roman" panose="02020603050405020304" pitchFamily="18" charset="0"/>
                          <a:cs typeface="Times New Roman" panose="02020603050405020304" pitchFamily="18" charset="0"/>
                        </a:rPr>
                        <a:t>The design of the circularly polarized </a:t>
                      </a:r>
                      <a:r>
                        <a:rPr lang="en-US" sz="1400" dirty="0" err="1">
                          <a:latin typeface="Times New Roman" panose="02020603050405020304" pitchFamily="18" charset="0"/>
                          <a:cs typeface="Times New Roman" panose="02020603050405020304" pitchFamily="18" charset="0"/>
                        </a:rPr>
                        <a:t>microstrip</a:t>
                      </a:r>
                      <a:r>
                        <a:rPr lang="en-US" sz="1400" dirty="0">
                          <a:latin typeface="Times New Roman" panose="02020603050405020304" pitchFamily="18" charset="0"/>
                          <a:cs typeface="Times New Roman" panose="02020603050405020304" pitchFamily="18" charset="0"/>
                        </a:rPr>
                        <a:t> phased array antenna features a stacked square patch configuration with perturbation stubs for enhanced polarization. A 5x5 array is simulated at 3.4-3.7GHz, focusing on optimal reflection coefficients and axial ratios. Simulation results confirm the design's effectiveness for 5G communication applications.</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dirty="0">
                          <a:latin typeface="Times New Roman" panose="02020603050405020304" pitchFamily="18" charset="0"/>
                          <a:cs typeface="Times New Roman" panose="02020603050405020304" pitchFamily="18" charset="0"/>
                        </a:rPr>
                        <a:t>Need for wider beam scanning capabilities without compromising on gain and circular polarization performance</a:t>
                      </a:r>
                    </a:p>
                    <a:p>
                      <a:r>
                        <a:rPr lang="en-IN" sz="1400" dirty="0">
                          <a:latin typeface="Times New Roman" panose="02020603050405020304" pitchFamily="18" charset="0"/>
                          <a:cs typeface="Times New Roman" panose="02020603050405020304" pitchFamily="18" charset="0"/>
                        </a:rPr>
                        <a:t>Size and Profile Concerns</a:t>
                      </a:r>
                      <a:endParaRPr lang="en-US" sz="1400" dirty="0">
                        <a:latin typeface="Times New Roman" panose="02020603050405020304" pitchFamily="18" charset="0"/>
                        <a:cs typeface="Times New Roman" panose="02020603050405020304" pitchFamily="18" charset="0"/>
                      </a:endParaRPr>
                    </a:p>
                    <a:p>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53791261"/>
                  </a:ext>
                </a:extLst>
              </a:tr>
            </a:tbl>
          </a:graphicData>
        </a:graphic>
      </p:graphicFrame>
      <p:sp>
        <p:nvSpPr>
          <p:cNvPr id="2" name="Rectangle: Rounded Corners 1">
            <a:extLst>
              <a:ext uri="{FF2B5EF4-FFF2-40B4-BE49-F238E27FC236}">
                <a16:creationId xmlns:a16="http://schemas.microsoft.com/office/drawing/2014/main" id="{47D6B1C5-DCD5-94C8-79EB-D04ED55BA7E8}"/>
              </a:ext>
            </a:extLst>
          </p:cNvPr>
          <p:cNvSpPr/>
          <p:nvPr/>
        </p:nvSpPr>
        <p:spPr bwMode="auto">
          <a:xfrm>
            <a:off x="0" y="46835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MAJOR PROJECT PHASE 1 (BEC685)</a:t>
            </a:r>
          </a:p>
        </p:txBody>
      </p:sp>
      <p:pic>
        <p:nvPicPr>
          <p:cNvPr id="4" name="Picture 3"/>
          <p:cNvPicPr>
            <a:picLocks noChangeAspect="1"/>
          </p:cNvPicPr>
          <p:nvPr/>
        </p:nvPicPr>
        <p:blipFill>
          <a:blip r:embed="rId2"/>
          <a:stretch>
            <a:fillRect/>
          </a:stretch>
        </p:blipFill>
        <p:spPr>
          <a:xfrm>
            <a:off x="2133600" y="2434950"/>
            <a:ext cx="2667000" cy="2118000"/>
          </a:xfrm>
          <a:prstGeom prst="rect">
            <a:avLst/>
          </a:prstGeom>
        </p:spPr>
      </p:pic>
      <p:sp>
        <p:nvSpPr>
          <p:cNvPr id="6" name="Rectangle: Rounded Corners 1">
            <a:extLst>
              <a:ext uri="{FF2B5EF4-FFF2-40B4-BE49-F238E27FC236}">
                <a16:creationId xmlns:a16="http://schemas.microsoft.com/office/drawing/2014/main" id="{434D85A4-3AE9-8DD6-914A-EF1A4D5EB778}"/>
              </a:ext>
            </a:extLst>
          </p:cNvPr>
          <p:cNvSpPr/>
          <p:nvPr/>
        </p:nvSpPr>
        <p:spPr bwMode="auto">
          <a:xfrm>
            <a:off x="0" y="4740846"/>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Circularly Polarized Multi-Band </a:t>
            </a:r>
            <a:r>
              <a:rPr lang="en-US" sz="1600" b="1" dirty="0" err="1">
                <a:solidFill>
                  <a:schemeClr val="bg1"/>
                </a:solidFill>
                <a:latin typeface="Times New Roman" panose="02020603050405020304" pitchFamily="18" charset="0"/>
                <a:cs typeface="Times New Roman" panose="02020603050405020304" pitchFamily="18" charset="0"/>
              </a:rPr>
              <a:t>Microstrip</a:t>
            </a:r>
            <a:r>
              <a:rPr lang="en-US" sz="1600" b="1" dirty="0">
                <a:solidFill>
                  <a:schemeClr val="bg1"/>
                </a:solidFill>
                <a:latin typeface="Times New Roman" panose="02020603050405020304" pitchFamily="18" charset="0"/>
                <a:cs typeface="Times New Roman" panose="02020603050405020304" pitchFamily="18" charset="0"/>
              </a:rPr>
              <a:t> Patch Antenna for 5G and </a:t>
            </a:r>
            <a:r>
              <a:rPr lang="en-US" sz="1600" b="1" dirty="0" err="1">
                <a:solidFill>
                  <a:schemeClr val="bg1"/>
                </a:solidFill>
                <a:latin typeface="Times New Roman" panose="02020603050405020304" pitchFamily="18" charset="0"/>
                <a:cs typeface="Times New Roman" panose="02020603050405020304" pitchFamily="18" charset="0"/>
              </a:rPr>
              <a:t>IoT</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7" name="Rectangle: Rounded Corners 1">
            <a:extLst>
              <a:ext uri="{FF2B5EF4-FFF2-40B4-BE49-F238E27FC236}">
                <a16:creationId xmlns:a16="http://schemas.microsoft.com/office/drawing/2014/main" id="{434D85A4-3AE9-8DD6-914A-EF1A4D5EB778}"/>
              </a:ext>
            </a:extLst>
          </p:cNvPr>
          <p:cNvSpPr/>
          <p:nvPr/>
        </p:nvSpPr>
        <p:spPr bwMode="auto">
          <a:xfrm>
            <a:off x="0" y="4735753"/>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8959301"/>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400" y="63449"/>
            <a:ext cx="8368363" cy="409459"/>
          </a:xfrm>
          <a:prstGeom prst="rect">
            <a:avLst/>
          </a:prstGeom>
        </p:spPr>
        <p:txBody>
          <a:bodyPr>
            <a:normAutofit fontScale="90000"/>
          </a:bodyPr>
          <a:lstStyle/>
          <a:p>
            <a:r>
              <a:rPr lang="en-US" b="1" dirty="0">
                <a:solidFill>
                  <a:schemeClr val="tx1"/>
                </a:solidFill>
                <a:latin typeface="Times New Roman" panose="02020603050405020304" pitchFamily="18" charset="0"/>
                <a:cs typeface="Times New Roman" panose="02020603050405020304" pitchFamily="18" charset="0"/>
              </a:rPr>
              <a:t>LITERATURE SURVEY</a:t>
            </a:r>
          </a:p>
        </p:txBody>
      </p:sp>
      <p:graphicFrame>
        <p:nvGraphicFramePr>
          <p:cNvPr id="8" name="Table 7">
            <a:extLst>
              <a:ext uri="{FF2B5EF4-FFF2-40B4-BE49-F238E27FC236}">
                <a16:creationId xmlns:a16="http://schemas.microsoft.com/office/drawing/2014/main" id="{61C99CA8-B06D-C59B-A27C-BC95F21956FB}"/>
              </a:ext>
            </a:extLst>
          </p:cNvPr>
          <p:cNvGraphicFramePr>
            <a:graphicFrameLocks noGrp="1"/>
          </p:cNvGraphicFramePr>
          <p:nvPr>
            <p:extLst>
              <p:ext uri="{D42A27DB-BD31-4B8C-83A1-F6EECF244321}">
                <p14:modId xmlns:p14="http://schemas.microsoft.com/office/powerpoint/2010/main" val="2613906611"/>
              </p:ext>
            </p:extLst>
          </p:nvPr>
        </p:nvGraphicFramePr>
        <p:xfrm>
          <a:off x="76201" y="472908"/>
          <a:ext cx="8915398" cy="4284539"/>
        </p:xfrm>
        <a:graphic>
          <a:graphicData uri="http://schemas.openxmlformats.org/drawingml/2006/table">
            <a:tbl>
              <a:tblPr firstRow="1" bandRow="1">
                <a:tableStyleId>{C083E6E3-FA7D-4D7B-A595-EF9225AFEA82}</a:tableStyleId>
              </a:tblPr>
              <a:tblGrid>
                <a:gridCol w="1904999">
                  <a:extLst>
                    <a:ext uri="{9D8B030D-6E8A-4147-A177-3AD203B41FA5}">
                      <a16:colId xmlns:a16="http://schemas.microsoft.com/office/drawing/2014/main" val="832363294"/>
                    </a:ext>
                  </a:extLst>
                </a:gridCol>
                <a:gridCol w="2743200">
                  <a:extLst>
                    <a:ext uri="{9D8B030D-6E8A-4147-A177-3AD203B41FA5}">
                      <a16:colId xmlns:a16="http://schemas.microsoft.com/office/drawing/2014/main" val="3400072118"/>
                    </a:ext>
                  </a:extLst>
                </a:gridCol>
                <a:gridCol w="2286000">
                  <a:extLst>
                    <a:ext uri="{9D8B030D-6E8A-4147-A177-3AD203B41FA5}">
                      <a16:colId xmlns:a16="http://schemas.microsoft.com/office/drawing/2014/main" val="2122441354"/>
                    </a:ext>
                  </a:extLst>
                </a:gridCol>
                <a:gridCol w="1981199">
                  <a:extLst>
                    <a:ext uri="{9D8B030D-6E8A-4147-A177-3AD203B41FA5}">
                      <a16:colId xmlns:a16="http://schemas.microsoft.com/office/drawing/2014/main" val="3160507268"/>
                    </a:ext>
                  </a:extLst>
                </a:gridCol>
              </a:tblGrid>
              <a:tr h="779339">
                <a:tc>
                  <a:txBody>
                    <a:bodyPr/>
                    <a:lstStyle/>
                    <a:p>
                      <a:pPr algn="ctr"/>
                      <a:r>
                        <a:rPr lang="en-IN" dirty="0">
                          <a:latin typeface="Times New Roman" panose="02020603050405020304" pitchFamily="18" charset="0"/>
                          <a:cs typeface="Times New Roman" panose="02020603050405020304" pitchFamily="18" charset="0"/>
                        </a:rPr>
                        <a:t>Paper 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latin typeface="Times New Roman" panose="02020603050405020304" pitchFamily="18" charset="0"/>
                          <a:cs typeface="Times New Roman" panose="02020603050405020304" pitchFamily="18" charset="0"/>
                        </a:rPr>
                        <a:t>Proposed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t>Methodology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t>Research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907930955"/>
                  </a:ext>
                </a:extLst>
              </a:tr>
              <a:tr h="3300704">
                <a:tc>
                  <a:txBody>
                    <a:bodyPr/>
                    <a:lstStyle/>
                    <a:p>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Title of paper:</a:t>
                      </a:r>
                    </a:p>
                    <a:p>
                      <a:r>
                        <a:rPr lang="en-US" sz="1400" dirty="0">
                          <a:latin typeface="Times New Roman" panose="02020603050405020304" pitchFamily="18" charset="0"/>
                          <a:cs typeface="Times New Roman" panose="02020603050405020304" pitchFamily="18" charset="0"/>
                        </a:rPr>
                        <a:t>Broadband Circularly Polarized Antenna Design and Simulation for 5G </a:t>
                      </a:r>
                      <a:r>
                        <a:rPr lang="en-US" sz="1400" dirty="0" err="1">
                          <a:latin typeface="Times New Roman" panose="02020603050405020304" pitchFamily="18" charset="0"/>
                          <a:cs typeface="Times New Roman" panose="02020603050405020304" pitchFamily="18" charset="0"/>
                        </a:rPr>
                        <a:t>loTApplication</a:t>
                      </a:r>
                      <a:endParaRPr lang="en-US" sz="1400" dirty="0">
                        <a:latin typeface="Times New Roman" panose="02020603050405020304" pitchFamily="18" charset="0"/>
                        <a:cs typeface="Times New Roman" panose="02020603050405020304" pitchFamily="18" charset="0"/>
                      </a:endParaRPr>
                    </a:p>
                    <a:p>
                      <a:r>
                        <a:rPr lang="en-IN" sz="1800" b="1" kern="1200" dirty="0">
                          <a:solidFill>
                            <a:schemeClr val="tx1"/>
                          </a:solidFill>
                          <a:effectLst/>
                          <a:latin typeface="Times New Roman" panose="02020603050405020304" pitchFamily="18" charset="0"/>
                          <a:cs typeface="Times New Roman" panose="02020603050405020304" pitchFamily="18" charset="0"/>
                        </a:rPr>
                        <a:t>Author Names:</a:t>
                      </a:r>
                    </a:p>
                    <a:p>
                      <a:r>
                        <a:rPr lang="en-IN" sz="1400" b="0" kern="1200" dirty="0">
                          <a:solidFill>
                            <a:schemeClr val="tx1"/>
                          </a:solidFill>
                          <a:effectLst/>
                          <a:latin typeface="Times New Roman" panose="02020603050405020304" pitchFamily="18" charset="0"/>
                          <a:cs typeface="Times New Roman" panose="02020603050405020304" pitchFamily="18" charset="0"/>
                        </a:rPr>
                        <a:t>Lili </a:t>
                      </a:r>
                      <a:r>
                        <a:rPr lang="en-IN" sz="1400" b="0" kern="1200" dirty="0" err="1">
                          <a:solidFill>
                            <a:schemeClr val="tx1"/>
                          </a:solidFill>
                          <a:effectLst/>
                          <a:latin typeface="Times New Roman" panose="02020603050405020304" pitchFamily="18" charset="0"/>
                          <a:cs typeface="Times New Roman" panose="02020603050405020304" pitchFamily="18" charset="0"/>
                        </a:rPr>
                        <a:t>Wan,Shenghai</a:t>
                      </a:r>
                      <a:r>
                        <a:rPr lang="en-IN" sz="1400" b="0" kern="1200" dirty="0">
                          <a:solidFill>
                            <a:schemeClr val="tx1"/>
                          </a:solidFill>
                          <a:effectLst/>
                          <a:latin typeface="Times New Roman" panose="02020603050405020304" pitchFamily="18" charset="0"/>
                          <a:cs typeface="Times New Roman" panose="02020603050405020304" pitchFamily="18" charset="0"/>
                        </a:rPr>
                        <a:t> </a:t>
                      </a:r>
                      <a:r>
                        <a:rPr lang="en-IN" sz="1400" b="0" kern="1200" dirty="0" err="1">
                          <a:solidFill>
                            <a:schemeClr val="tx1"/>
                          </a:solidFill>
                          <a:effectLst/>
                          <a:latin typeface="Times New Roman" panose="02020603050405020304" pitchFamily="18" charset="0"/>
                          <a:cs typeface="Times New Roman" panose="02020603050405020304" pitchFamily="18" charset="0"/>
                        </a:rPr>
                        <a:t>Chen,Ni</a:t>
                      </a:r>
                      <a:r>
                        <a:rPr lang="en-IN" sz="1400" b="0" kern="1200" dirty="0">
                          <a:solidFill>
                            <a:schemeClr val="tx1"/>
                          </a:solidFill>
                          <a:effectLst/>
                          <a:latin typeface="Times New Roman" panose="02020603050405020304" pitchFamily="18" charset="0"/>
                          <a:cs typeface="Times New Roman" panose="02020603050405020304" pitchFamily="18" charset="0"/>
                        </a:rPr>
                        <a:t> Zhou</a:t>
                      </a:r>
                    </a:p>
                    <a:p>
                      <a:r>
                        <a:rPr lang="en-IN" sz="1800" b="1" kern="1200" dirty="0">
                          <a:solidFill>
                            <a:schemeClr val="tx1"/>
                          </a:solidFill>
                          <a:effectLst/>
                          <a:latin typeface="Times New Roman" panose="02020603050405020304" pitchFamily="18" charset="0"/>
                          <a:cs typeface="Times New Roman" panose="02020603050405020304" pitchFamily="18" charset="0"/>
                        </a:rPr>
                        <a:t>Year of Publication:</a:t>
                      </a:r>
                    </a:p>
                    <a:p>
                      <a:r>
                        <a:rPr lang="en-IN" sz="1400" b="0" i="0" kern="1200" dirty="0">
                          <a:solidFill>
                            <a:schemeClr val="tx1"/>
                          </a:solidFill>
                          <a:effectLst/>
                          <a:latin typeface="+mn-lt"/>
                          <a:ea typeface="+mn-ea"/>
                          <a:cs typeface="+mn-cs"/>
                        </a:rPr>
                        <a:t>2021</a:t>
                      </a:r>
                      <a:endParaRPr lang="en-IN" sz="1400" b="1" kern="1200" dirty="0">
                        <a:solidFill>
                          <a:schemeClr val="tx1"/>
                        </a:solidFill>
                        <a:effectLst/>
                        <a:latin typeface="Times New Roman" panose="02020603050405020304" pitchFamily="18" charset="0"/>
                        <a:cs typeface="Times New Roman" panose="02020603050405020304" pitchFamily="18" charset="0"/>
                      </a:endParaRPr>
                    </a:p>
                    <a:p>
                      <a:endParaRPr lang="en-IN" sz="1800" b="1" kern="1200" dirty="0">
                        <a:solidFill>
                          <a:schemeClr val="tx1"/>
                        </a:solidFill>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The proposed work involves the design and optimization of a broadband circularly polarized antenna with a resonant frequency of 2.45 GHz, utilizing a square-shaped radiator and dual-coaxial probe feeding. </a:t>
                      </a:r>
                      <a:endParaRPr lang="en-IN" sz="1400" b="1" kern="1200" dirty="0">
                        <a:solidFill>
                          <a:schemeClr val="tx1"/>
                        </a:solidFill>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The methodology includes designing a square patch antenna on an FR4 substrate (80 x 80 x 8.5 mm³) and</a:t>
                      </a:r>
                      <a:r>
                        <a:rPr lang="en-US" sz="1400" b="0" i="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simulating it using HFSS software to assess performance metrics. Adjustments are made to the feeding mechanism and geometry to optimize impedance and axial ratio bandwidths. This process ensures effective circular polarization. The final design targets applications in 5G </a:t>
                      </a:r>
                      <a:r>
                        <a:rPr lang="en-US" sz="1400" b="0" i="0" kern="1200" dirty="0" err="1">
                          <a:solidFill>
                            <a:schemeClr val="tx1"/>
                          </a:solidFill>
                          <a:effectLst/>
                          <a:latin typeface="Times New Roman" panose="02020603050405020304" pitchFamily="18" charset="0"/>
                          <a:ea typeface="+mn-ea"/>
                          <a:cs typeface="Times New Roman" panose="02020603050405020304" pitchFamily="18" charset="0"/>
                        </a:rPr>
                        <a:t>IoT</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Struggle to achieve both broad impedance and axial ratio bandwidths while maintaining high performance.</a:t>
                      </a:r>
                    </a:p>
                    <a:p>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53791261"/>
                  </a:ext>
                </a:extLst>
              </a:tr>
            </a:tbl>
          </a:graphicData>
        </a:graphic>
      </p:graphicFrame>
      <p:pic>
        <p:nvPicPr>
          <p:cNvPr id="4" name="Picture 3"/>
          <p:cNvPicPr>
            <a:picLocks noChangeAspect="1"/>
          </p:cNvPicPr>
          <p:nvPr/>
        </p:nvPicPr>
        <p:blipFill>
          <a:blip r:embed="rId2"/>
          <a:stretch>
            <a:fillRect/>
          </a:stretch>
        </p:blipFill>
        <p:spPr>
          <a:xfrm>
            <a:off x="0" y="4708411"/>
            <a:ext cx="9156986" cy="463336"/>
          </a:xfrm>
          <a:prstGeom prst="rect">
            <a:avLst/>
          </a:prstGeom>
        </p:spPr>
      </p:pic>
      <p:pic>
        <p:nvPicPr>
          <p:cNvPr id="5" name="Picture 4"/>
          <p:cNvPicPr>
            <a:picLocks noChangeAspect="1"/>
          </p:cNvPicPr>
          <p:nvPr/>
        </p:nvPicPr>
        <p:blipFill>
          <a:blip r:embed="rId3"/>
          <a:stretch>
            <a:fillRect/>
          </a:stretch>
        </p:blipFill>
        <p:spPr>
          <a:xfrm>
            <a:off x="2057400" y="2833174"/>
            <a:ext cx="2362200" cy="1844789"/>
          </a:xfrm>
          <a:prstGeom prst="rect">
            <a:avLst/>
          </a:prstGeom>
        </p:spPr>
      </p:pic>
      <p:sp>
        <p:nvSpPr>
          <p:cNvPr id="6" name="Rectangle: Rounded Corners 1">
            <a:extLst>
              <a:ext uri="{FF2B5EF4-FFF2-40B4-BE49-F238E27FC236}">
                <a16:creationId xmlns:a16="http://schemas.microsoft.com/office/drawing/2014/main" id="{434D85A4-3AE9-8DD6-914A-EF1A4D5EB778}"/>
              </a:ext>
            </a:extLst>
          </p:cNvPr>
          <p:cNvSpPr/>
          <p:nvPr/>
        </p:nvSpPr>
        <p:spPr bwMode="auto">
          <a:xfrm>
            <a:off x="10839" y="47284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Circularly Polarized Multi-Band </a:t>
            </a:r>
            <a:r>
              <a:rPr lang="en-US" sz="1600" b="1" dirty="0" err="1">
                <a:solidFill>
                  <a:schemeClr val="bg1"/>
                </a:solidFill>
                <a:latin typeface="Times New Roman" panose="02020603050405020304" pitchFamily="18" charset="0"/>
                <a:cs typeface="Times New Roman" panose="02020603050405020304" pitchFamily="18" charset="0"/>
              </a:rPr>
              <a:t>Microstrip</a:t>
            </a:r>
            <a:r>
              <a:rPr lang="en-US" sz="1600" b="1" dirty="0">
                <a:solidFill>
                  <a:schemeClr val="bg1"/>
                </a:solidFill>
                <a:latin typeface="Times New Roman" panose="02020603050405020304" pitchFamily="18" charset="0"/>
                <a:cs typeface="Times New Roman" panose="02020603050405020304" pitchFamily="18" charset="0"/>
              </a:rPr>
              <a:t> Patch Antenna for 5G and </a:t>
            </a:r>
            <a:r>
              <a:rPr lang="en-US" sz="1600" b="1" dirty="0" err="1">
                <a:solidFill>
                  <a:schemeClr val="bg1"/>
                </a:solidFill>
                <a:latin typeface="Times New Roman" panose="02020603050405020304" pitchFamily="18" charset="0"/>
                <a:cs typeface="Times New Roman" panose="02020603050405020304" pitchFamily="18" charset="0"/>
              </a:rPr>
              <a:t>IoT</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7" name="Rectangle: Rounded Corners 1">
            <a:extLst>
              <a:ext uri="{FF2B5EF4-FFF2-40B4-BE49-F238E27FC236}">
                <a16:creationId xmlns:a16="http://schemas.microsoft.com/office/drawing/2014/main" id="{434D85A4-3AE9-8DD6-914A-EF1A4D5EB778}"/>
              </a:ext>
            </a:extLst>
          </p:cNvPr>
          <p:cNvSpPr/>
          <p:nvPr/>
        </p:nvSpPr>
        <p:spPr bwMode="auto">
          <a:xfrm>
            <a:off x="0" y="4725852"/>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1125846"/>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400" y="63449"/>
            <a:ext cx="8368363" cy="409459"/>
          </a:xfrm>
          <a:prstGeom prst="rect">
            <a:avLst/>
          </a:prstGeom>
        </p:spPr>
        <p:txBody>
          <a:bodyPr>
            <a:normAutofit fontScale="90000"/>
          </a:bodyPr>
          <a:lstStyle/>
          <a:p>
            <a:r>
              <a:rPr lang="en-US" b="1" dirty="0">
                <a:solidFill>
                  <a:schemeClr val="tx1"/>
                </a:solidFill>
                <a:latin typeface="Times New Roman" panose="02020603050405020304" pitchFamily="18" charset="0"/>
                <a:cs typeface="Times New Roman" panose="02020603050405020304" pitchFamily="18" charset="0"/>
              </a:rPr>
              <a:t>LITERATURE SURVEY</a:t>
            </a:r>
          </a:p>
        </p:txBody>
      </p:sp>
      <p:graphicFrame>
        <p:nvGraphicFramePr>
          <p:cNvPr id="8" name="Table 7">
            <a:extLst>
              <a:ext uri="{FF2B5EF4-FFF2-40B4-BE49-F238E27FC236}">
                <a16:creationId xmlns:a16="http://schemas.microsoft.com/office/drawing/2014/main" id="{61C99CA8-B06D-C59B-A27C-BC95F21956FB}"/>
              </a:ext>
            </a:extLst>
          </p:cNvPr>
          <p:cNvGraphicFramePr>
            <a:graphicFrameLocks noGrp="1"/>
          </p:cNvGraphicFramePr>
          <p:nvPr>
            <p:extLst>
              <p:ext uri="{D42A27DB-BD31-4B8C-83A1-F6EECF244321}">
                <p14:modId xmlns:p14="http://schemas.microsoft.com/office/powerpoint/2010/main" val="4148944339"/>
              </p:ext>
            </p:extLst>
          </p:nvPr>
        </p:nvGraphicFramePr>
        <p:xfrm>
          <a:off x="76201" y="472908"/>
          <a:ext cx="8915398" cy="4375979"/>
        </p:xfrm>
        <a:graphic>
          <a:graphicData uri="http://schemas.openxmlformats.org/drawingml/2006/table">
            <a:tbl>
              <a:tblPr firstRow="1" bandRow="1">
                <a:tableStyleId>{C083E6E3-FA7D-4D7B-A595-EF9225AFEA82}</a:tableStyleId>
              </a:tblPr>
              <a:tblGrid>
                <a:gridCol w="2057399">
                  <a:extLst>
                    <a:ext uri="{9D8B030D-6E8A-4147-A177-3AD203B41FA5}">
                      <a16:colId xmlns:a16="http://schemas.microsoft.com/office/drawing/2014/main" val="832363294"/>
                    </a:ext>
                  </a:extLst>
                </a:gridCol>
                <a:gridCol w="2743200">
                  <a:extLst>
                    <a:ext uri="{9D8B030D-6E8A-4147-A177-3AD203B41FA5}">
                      <a16:colId xmlns:a16="http://schemas.microsoft.com/office/drawing/2014/main" val="3400072118"/>
                    </a:ext>
                  </a:extLst>
                </a:gridCol>
                <a:gridCol w="2057400">
                  <a:extLst>
                    <a:ext uri="{9D8B030D-6E8A-4147-A177-3AD203B41FA5}">
                      <a16:colId xmlns:a16="http://schemas.microsoft.com/office/drawing/2014/main" val="2122441354"/>
                    </a:ext>
                  </a:extLst>
                </a:gridCol>
                <a:gridCol w="2057399">
                  <a:extLst>
                    <a:ext uri="{9D8B030D-6E8A-4147-A177-3AD203B41FA5}">
                      <a16:colId xmlns:a16="http://schemas.microsoft.com/office/drawing/2014/main" val="3160507268"/>
                    </a:ext>
                  </a:extLst>
                </a:gridCol>
              </a:tblGrid>
              <a:tr h="779339">
                <a:tc>
                  <a:txBody>
                    <a:bodyPr/>
                    <a:lstStyle/>
                    <a:p>
                      <a:pPr algn="ctr"/>
                      <a:r>
                        <a:rPr lang="en-IN" dirty="0">
                          <a:latin typeface="Times New Roman" panose="02020603050405020304" pitchFamily="18" charset="0"/>
                          <a:cs typeface="Times New Roman" panose="02020603050405020304" pitchFamily="18" charset="0"/>
                        </a:rPr>
                        <a:t>Paper 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latin typeface="Times New Roman" panose="02020603050405020304" pitchFamily="18" charset="0"/>
                          <a:cs typeface="Times New Roman" panose="02020603050405020304" pitchFamily="18" charset="0"/>
                        </a:rPr>
                        <a:t>Proposed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t>Methodology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IN" dirty="0"/>
                        <a:t>Research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907930955"/>
                  </a:ext>
                </a:extLst>
              </a:tr>
              <a:tr h="3300704">
                <a:tc>
                  <a:txBody>
                    <a:bodyPr/>
                    <a:lstStyle/>
                    <a:p>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Title of paper:</a:t>
                      </a:r>
                    </a:p>
                    <a:p>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DGS-Based Circularly Polarized Patch Antenna</a:t>
                      </a:r>
                      <a:br>
                        <a:rPr lang="en-US" sz="1400" dirty="0">
                          <a:latin typeface="Times New Roman" panose="02020603050405020304" pitchFamily="18" charset="0"/>
                          <a:cs typeface="Times New Roman" panose="02020603050405020304" pitchFamily="18" charset="0"/>
                        </a:rPr>
                      </a:b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with enhanced Bandwidth for 5G Application</a:t>
                      </a:r>
                    </a:p>
                    <a:p>
                      <a:r>
                        <a:rPr lang="en-IN" sz="1800" b="1" kern="1200" dirty="0">
                          <a:solidFill>
                            <a:schemeClr val="tx1"/>
                          </a:solidFill>
                          <a:effectLst/>
                          <a:latin typeface="Times New Roman" panose="02020603050405020304" pitchFamily="18" charset="0"/>
                          <a:cs typeface="Times New Roman" panose="02020603050405020304" pitchFamily="18" charset="0"/>
                        </a:rPr>
                        <a:t>Author Names:</a:t>
                      </a:r>
                    </a:p>
                    <a:p>
                      <a:r>
                        <a:rPr lang="en-IN" sz="1400" b="0" i="0" kern="1200" dirty="0" err="1">
                          <a:solidFill>
                            <a:schemeClr val="tx1"/>
                          </a:solidFill>
                          <a:effectLst/>
                          <a:latin typeface="Times New Roman" panose="02020603050405020304" pitchFamily="18" charset="0"/>
                          <a:ea typeface="+mn-ea"/>
                          <a:cs typeface="Times New Roman" panose="02020603050405020304" pitchFamily="18" charset="0"/>
                        </a:rPr>
                        <a:t>Syam</a:t>
                      </a:r>
                      <a:r>
                        <a:rPr lang="en-IN" sz="1400" b="0" i="0" kern="1200" dirty="0">
                          <a:solidFill>
                            <a:schemeClr val="tx1"/>
                          </a:solidFill>
                          <a:effectLst/>
                          <a:latin typeface="Times New Roman" panose="02020603050405020304" pitchFamily="18" charset="0"/>
                          <a:ea typeface="+mn-ea"/>
                          <a:cs typeface="Times New Roman" panose="02020603050405020304" pitchFamily="18" charset="0"/>
                        </a:rPr>
                        <a:t> Sai G, </a:t>
                      </a:r>
                      <a:r>
                        <a:rPr lang="en-IN" sz="1400" b="0" i="0" kern="1200" dirty="0" err="1">
                          <a:solidFill>
                            <a:schemeClr val="tx1"/>
                          </a:solidFill>
                          <a:effectLst/>
                          <a:latin typeface="Times New Roman" panose="02020603050405020304" pitchFamily="18" charset="0"/>
                          <a:ea typeface="+mn-ea"/>
                          <a:cs typeface="Times New Roman" panose="02020603050405020304" pitchFamily="18" charset="0"/>
                        </a:rPr>
                        <a:t>Sesha</a:t>
                      </a:r>
                      <a:r>
                        <a:rPr lang="en-IN" sz="1400" b="0" i="0" kern="1200" dirty="0">
                          <a:solidFill>
                            <a:schemeClr val="tx1"/>
                          </a:solidFill>
                          <a:effectLst/>
                          <a:latin typeface="Times New Roman" panose="02020603050405020304" pitchFamily="18" charset="0"/>
                          <a:ea typeface="+mn-ea"/>
                          <a:cs typeface="Times New Roman" panose="02020603050405020304" pitchFamily="18" charset="0"/>
                        </a:rPr>
                        <a:t> Sai </a:t>
                      </a:r>
                      <a:r>
                        <a:rPr lang="en-IN" sz="1400" b="0" i="0" kern="1200" dirty="0" err="1">
                          <a:solidFill>
                            <a:schemeClr val="tx1"/>
                          </a:solidFill>
                          <a:effectLst/>
                          <a:latin typeface="Times New Roman" panose="02020603050405020304" pitchFamily="18" charset="0"/>
                          <a:ea typeface="+mn-ea"/>
                          <a:cs typeface="Times New Roman" panose="02020603050405020304" pitchFamily="18" charset="0"/>
                        </a:rPr>
                        <a:t>Harshitha</a:t>
                      </a:r>
                      <a:r>
                        <a:rPr lang="en-IN" sz="1400" b="0" i="0" kern="1200" dirty="0">
                          <a:solidFill>
                            <a:schemeClr val="tx1"/>
                          </a:solidFill>
                          <a:effectLst/>
                          <a:latin typeface="Times New Roman" panose="02020603050405020304" pitchFamily="18" charset="0"/>
                          <a:ea typeface="+mn-ea"/>
                          <a:cs typeface="Times New Roman" panose="02020603050405020304" pitchFamily="18" charset="0"/>
                        </a:rPr>
                        <a:t> K, </a:t>
                      </a:r>
                      <a:r>
                        <a:rPr lang="en-IN" sz="1400" b="0" i="0" kern="1200" dirty="0" err="1">
                          <a:solidFill>
                            <a:schemeClr val="tx1"/>
                          </a:solidFill>
                          <a:effectLst/>
                          <a:latin typeface="Times New Roman" panose="02020603050405020304" pitchFamily="18" charset="0"/>
                          <a:ea typeface="+mn-ea"/>
                          <a:cs typeface="Times New Roman" panose="02020603050405020304" pitchFamily="18" charset="0"/>
                        </a:rPr>
                        <a:t>Praneeth</a:t>
                      </a:r>
                      <a:r>
                        <a:rPr lang="en-IN" sz="1400" b="0" i="0" kern="1200" dirty="0">
                          <a:solidFill>
                            <a:schemeClr val="tx1"/>
                          </a:solidFill>
                          <a:effectLst/>
                          <a:latin typeface="Times New Roman" panose="02020603050405020304" pitchFamily="18" charset="0"/>
                          <a:ea typeface="+mn-ea"/>
                          <a:cs typeface="Times New Roman" panose="02020603050405020304" pitchFamily="18" charset="0"/>
                        </a:rPr>
                        <a:t> Kumar P, </a:t>
                      </a:r>
                      <a:r>
                        <a:rPr lang="en-IN" sz="1400" b="0" i="0" kern="1200" dirty="0" err="1">
                          <a:solidFill>
                            <a:schemeClr val="tx1"/>
                          </a:solidFill>
                          <a:effectLst/>
                          <a:latin typeface="Times New Roman" panose="02020603050405020304" pitchFamily="18" charset="0"/>
                          <a:ea typeface="+mn-ea"/>
                          <a:cs typeface="Times New Roman" panose="02020603050405020304" pitchFamily="18" charset="0"/>
                        </a:rPr>
                        <a:t>Damodhar</a:t>
                      </a:r>
                      <a:r>
                        <a:rPr lang="en-IN" sz="1400" b="0" i="0" kern="1200" dirty="0">
                          <a:solidFill>
                            <a:schemeClr val="tx1"/>
                          </a:solidFill>
                          <a:effectLst/>
                          <a:latin typeface="Times New Roman" panose="02020603050405020304" pitchFamily="18" charset="0"/>
                          <a:ea typeface="+mn-ea"/>
                          <a:cs typeface="Times New Roman" panose="02020603050405020304" pitchFamily="18" charset="0"/>
                        </a:rPr>
                        <a:t> Reddy P and </a:t>
                      </a:r>
                      <a:r>
                        <a:rPr lang="en-IN" sz="1400" b="0" i="0" kern="1200" dirty="0" err="1">
                          <a:solidFill>
                            <a:schemeClr val="tx1"/>
                          </a:solidFill>
                          <a:effectLst/>
                          <a:latin typeface="Times New Roman" panose="02020603050405020304" pitchFamily="18" charset="0"/>
                          <a:ea typeface="+mn-ea"/>
                          <a:cs typeface="Times New Roman" panose="02020603050405020304" pitchFamily="18" charset="0"/>
                        </a:rPr>
                        <a:t>Mekaladevi</a:t>
                      </a:r>
                      <a:r>
                        <a:rPr lang="en-IN" sz="1400" b="0" i="0" kern="1200" dirty="0">
                          <a:solidFill>
                            <a:schemeClr val="tx1"/>
                          </a:solidFill>
                          <a:effectLst/>
                          <a:latin typeface="Times New Roman" panose="02020603050405020304" pitchFamily="18" charset="0"/>
                          <a:ea typeface="+mn-ea"/>
                          <a:cs typeface="Times New Roman" panose="02020603050405020304" pitchFamily="18" charset="0"/>
                        </a:rPr>
                        <a:t> V</a:t>
                      </a:r>
                    </a:p>
                    <a:p>
                      <a:r>
                        <a:rPr lang="en-IN" sz="1800" b="1" kern="1200" dirty="0">
                          <a:solidFill>
                            <a:schemeClr val="tx1"/>
                          </a:solidFill>
                          <a:effectLst/>
                          <a:latin typeface="Times New Roman" panose="02020603050405020304" pitchFamily="18" charset="0"/>
                          <a:cs typeface="Times New Roman" panose="02020603050405020304" pitchFamily="18" charset="0"/>
                        </a:rPr>
                        <a:t>Year of Publication:</a:t>
                      </a:r>
                    </a:p>
                    <a:p>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2024</a:t>
                      </a:r>
                      <a:endParaRPr lang="en-IN" sz="1400" b="1" kern="1200" dirty="0">
                        <a:solidFill>
                          <a:schemeClr val="tx1"/>
                        </a:solidFill>
                        <a:effectLst/>
                        <a:latin typeface="Times New Roman" panose="02020603050405020304" pitchFamily="18" charset="0"/>
                        <a:cs typeface="Times New Roman" panose="02020603050405020304" pitchFamily="18" charset="0"/>
                      </a:endParaRPr>
                    </a:p>
                    <a:p>
                      <a:endParaRPr lang="en-IN" sz="1800" b="1" kern="1200" dirty="0">
                        <a:solidFill>
                          <a:schemeClr val="tx1"/>
                        </a:solidFill>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just"/>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This work introduces a </a:t>
                      </a:r>
                      <a:r>
                        <a:rPr lang="en-US" sz="1400" b="0" i="0" kern="1200" dirty="0" err="1">
                          <a:solidFill>
                            <a:schemeClr val="tx1"/>
                          </a:solidFill>
                          <a:effectLst/>
                          <a:latin typeface="Times New Roman" panose="02020603050405020304" pitchFamily="18" charset="0"/>
                          <a:ea typeface="+mn-ea"/>
                          <a:cs typeface="Times New Roman" panose="02020603050405020304" pitchFamily="18" charset="0"/>
                        </a:rPr>
                        <a:t>microstrip</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patch antenna for5G applications that is circularly polarized, has slots, and a </a:t>
                      </a:r>
                      <a:r>
                        <a:rPr lang="en-US" sz="1400" b="0" i="0" kern="1200" dirty="0" err="1">
                          <a:solidFill>
                            <a:schemeClr val="tx1"/>
                          </a:solidFill>
                          <a:effectLst/>
                          <a:latin typeface="Times New Roman" panose="02020603050405020304" pitchFamily="18" charset="0"/>
                          <a:ea typeface="+mn-ea"/>
                          <a:cs typeface="Times New Roman" panose="02020603050405020304" pitchFamily="18" charset="0"/>
                        </a:rPr>
                        <a:t>faultyground</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structure. The designed antenna is printed on Rogers 5880substrate with overall size of 60 mm × 60 mm × 5.8 mm.</a:t>
                      </a:r>
                      <a:endParaRPr lang="en-IN" sz="1400" b="1" kern="1200" dirty="0">
                        <a:solidFill>
                          <a:schemeClr val="tx1"/>
                        </a:solidFill>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r>
                        <a:rPr lang="en-US" sz="1400" dirty="0">
                          <a:latin typeface="Times New Roman" panose="02020603050405020304" pitchFamily="18" charset="0"/>
                          <a:cs typeface="Times New Roman" panose="02020603050405020304" pitchFamily="18" charset="0"/>
                        </a:rPr>
                        <a:t>The methodology involves designing a </a:t>
                      </a:r>
                      <a:r>
                        <a:rPr lang="en-US" sz="1400" dirty="0" err="1">
                          <a:latin typeface="Times New Roman" panose="02020603050405020304" pitchFamily="18" charset="0"/>
                          <a:cs typeface="Times New Roman" panose="02020603050405020304" pitchFamily="18" charset="0"/>
                        </a:rPr>
                        <a:t>microstrip</a:t>
                      </a:r>
                      <a:r>
                        <a:rPr lang="en-US" sz="1400" dirty="0">
                          <a:latin typeface="Times New Roman" panose="02020603050405020304" pitchFamily="18" charset="0"/>
                          <a:cs typeface="Times New Roman" panose="02020603050405020304" pitchFamily="18" charset="0"/>
                        </a:rPr>
                        <a:t> circularly polarized antenna on a Rogers 5880 substrate with etched slots to achieve circular polarization. It includes simulations to evaluate impedance bandwidth and axial ratio bandwidth, optimizing design parameters for effective performance within the 5G.</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r>
                        <a:rPr lang="en-US" sz="1400" dirty="0">
                          <a:latin typeface="Times New Roman" panose="02020603050405020304" pitchFamily="18" charset="0"/>
                          <a:cs typeface="Times New Roman" panose="02020603050405020304" pitchFamily="18" charset="0"/>
                        </a:rPr>
                        <a:t>Low gain, reduced radiation efficiency, and complex structures leading to difficulties in manufacturing and alignment. </a:t>
                      </a:r>
                      <a:endParaRPr lang="en-IN"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53791261"/>
                  </a:ext>
                </a:extLst>
              </a:tr>
            </a:tbl>
          </a:graphicData>
        </a:graphic>
      </p:graphicFrame>
      <p:sp>
        <p:nvSpPr>
          <p:cNvPr id="2" name="Rectangle: Rounded Corners 1">
            <a:extLst>
              <a:ext uri="{FF2B5EF4-FFF2-40B4-BE49-F238E27FC236}">
                <a16:creationId xmlns:a16="http://schemas.microsoft.com/office/drawing/2014/main" id="{47D6B1C5-DCD5-94C8-79EB-D04ED55BA7E8}"/>
              </a:ext>
            </a:extLst>
          </p:cNvPr>
          <p:cNvSpPr/>
          <p:nvPr/>
        </p:nvSpPr>
        <p:spPr bwMode="auto">
          <a:xfrm>
            <a:off x="0" y="46835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MAJOR POJECT PHASE 1 (BEC685)</a:t>
            </a:r>
          </a:p>
        </p:txBody>
      </p:sp>
      <p:pic>
        <p:nvPicPr>
          <p:cNvPr id="4" name="Picture 3"/>
          <p:cNvPicPr>
            <a:picLocks noChangeAspect="1"/>
          </p:cNvPicPr>
          <p:nvPr/>
        </p:nvPicPr>
        <p:blipFill>
          <a:blip r:embed="rId2"/>
          <a:stretch>
            <a:fillRect/>
          </a:stretch>
        </p:blipFill>
        <p:spPr>
          <a:xfrm>
            <a:off x="2279182" y="2862005"/>
            <a:ext cx="2057399" cy="1828800"/>
          </a:xfrm>
          <a:prstGeom prst="rect">
            <a:avLst/>
          </a:prstGeom>
        </p:spPr>
      </p:pic>
      <p:sp>
        <p:nvSpPr>
          <p:cNvPr id="6" name="Rectangle: Rounded Corners 1">
            <a:extLst>
              <a:ext uri="{FF2B5EF4-FFF2-40B4-BE49-F238E27FC236}">
                <a16:creationId xmlns:a16="http://schemas.microsoft.com/office/drawing/2014/main" id="{434D85A4-3AE9-8DD6-914A-EF1A4D5EB778}"/>
              </a:ext>
            </a:extLst>
          </p:cNvPr>
          <p:cNvSpPr/>
          <p:nvPr/>
        </p:nvSpPr>
        <p:spPr bwMode="auto">
          <a:xfrm>
            <a:off x="0" y="46835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Circularly Polarized Multi-Band </a:t>
            </a:r>
            <a:r>
              <a:rPr lang="en-US" sz="1600" b="1" dirty="0" err="1">
                <a:solidFill>
                  <a:schemeClr val="bg1"/>
                </a:solidFill>
                <a:latin typeface="Times New Roman" panose="02020603050405020304" pitchFamily="18" charset="0"/>
                <a:cs typeface="Times New Roman" panose="02020603050405020304" pitchFamily="18" charset="0"/>
              </a:rPr>
              <a:t>Microstrip</a:t>
            </a:r>
            <a:r>
              <a:rPr lang="en-US" sz="1600" b="1" dirty="0">
                <a:solidFill>
                  <a:schemeClr val="bg1"/>
                </a:solidFill>
                <a:latin typeface="Times New Roman" panose="02020603050405020304" pitchFamily="18" charset="0"/>
                <a:cs typeface="Times New Roman" panose="02020603050405020304" pitchFamily="18" charset="0"/>
              </a:rPr>
              <a:t> Patch Antenna for 5G and </a:t>
            </a:r>
            <a:r>
              <a:rPr lang="en-US" sz="1600" b="1" dirty="0" err="1">
                <a:solidFill>
                  <a:schemeClr val="bg1"/>
                </a:solidFill>
                <a:latin typeface="Times New Roman" panose="02020603050405020304" pitchFamily="18" charset="0"/>
                <a:cs typeface="Times New Roman" panose="02020603050405020304" pitchFamily="18" charset="0"/>
              </a:rPr>
              <a:t>IoT</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7" name="Rectangle: Rounded Corners 1">
            <a:extLst>
              <a:ext uri="{FF2B5EF4-FFF2-40B4-BE49-F238E27FC236}">
                <a16:creationId xmlns:a16="http://schemas.microsoft.com/office/drawing/2014/main" id="{434D85A4-3AE9-8DD6-914A-EF1A4D5EB778}"/>
              </a:ext>
            </a:extLst>
          </p:cNvPr>
          <p:cNvSpPr/>
          <p:nvPr/>
        </p:nvSpPr>
        <p:spPr bwMode="auto">
          <a:xfrm>
            <a:off x="0" y="4683578"/>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2540680"/>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489A1-FFD0-29A5-365D-810C4DC9060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D8666B7-8CB9-9168-98B1-DEBDB5D4C98A}"/>
              </a:ext>
            </a:extLst>
          </p:cNvPr>
          <p:cNvSpPr>
            <a:spLocks noGrp="1"/>
          </p:cNvSpPr>
          <p:nvPr>
            <p:ph type="title"/>
          </p:nvPr>
        </p:nvSpPr>
        <p:spPr>
          <a:xfrm>
            <a:off x="387819" y="282611"/>
            <a:ext cx="8368363" cy="409459"/>
          </a:xfrm>
          <a:prstGeom prst="rect">
            <a:avLst/>
          </a:prstGeom>
        </p:spPr>
        <p:txBody>
          <a:bodyPr>
            <a:normAutofit fontScale="90000"/>
          </a:bodyPr>
          <a:lstStyle/>
          <a:p>
            <a:r>
              <a:rPr lang="en-US" b="1" dirty="0">
                <a:latin typeface="Times New Roman" panose="02020603050405020304" pitchFamily="18" charset="0"/>
                <a:cs typeface="Times New Roman" panose="02020603050405020304" pitchFamily="18" charset="0"/>
              </a:rPr>
              <a:t>RESEARCH GAP</a:t>
            </a:r>
          </a:p>
        </p:txBody>
      </p:sp>
      <p:sp>
        <p:nvSpPr>
          <p:cNvPr id="13" name="Rounded Rectangle 1">
            <a:extLst>
              <a:ext uri="{FF2B5EF4-FFF2-40B4-BE49-F238E27FC236}">
                <a16:creationId xmlns:a16="http://schemas.microsoft.com/office/drawing/2014/main" id="{89248315-4952-4283-50D1-E0C66B26B326}"/>
              </a:ext>
            </a:extLst>
          </p:cNvPr>
          <p:cNvSpPr/>
          <p:nvPr/>
        </p:nvSpPr>
        <p:spPr bwMode="auto">
          <a:xfrm>
            <a:off x="266700" y="905203"/>
            <a:ext cx="8724900" cy="2961947"/>
          </a:xfrm>
          <a:prstGeom prst="roundRect">
            <a:avLst>
              <a:gd name="adj" fmla="val 2440"/>
            </a:avLst>
          </a:prstGeom>
          <a:solidFill>
            <a:schemeClr val="bg2"/>
          </a:solidFill>
          <a:ln w="9525">
            <a:noFill/>
            <a:round/>
            <a:headEnd/>
            <a:tailEnd/>
          </a:ln>
        </p:spPr>
        <p:txBody>
          <a:bodyPr vert="horz" wrap="square" lIns="91440" tIns="45720" rIns="91440" bIns="45720" numCol="1" rtlCol="0" anchor="t" anchorCtr="0" compatLnSpc="1">
            <a:prstTxWarp prst="textNoShape">
              <a:avLst/>
            </a:prstTxWarp>
          </a:bodyPr>
          <a:lstStyle/>
          <a:p>
            <a:pPr algn="just"/>
            <a:r>
              <a:rPr lang="en-US" sz="1400" dirty="0">
                <a:latin typeface="Times New Roman" panose="02020603050405020304" pitchFamily="18" charset="0"/>
                <a:cs typeface="Times New Roman" panose="02020603050405020304" pitchFamily="18" charset="0"/>
              </a:rPr>
              <a:t>Only limited literature addresses a simple single-band circular patch antenna specifically tuned for 2.45 GHz ISM applications while using FR4, despite its cost advantage and availability in academic environments. Furthermore, many existing works do not provide optimization strategies to overcome FR4-related drawbacks such as high dielectric loss, reduced gain, and narrow bandwidth. There is also a lack of studies that adopt an HFSS-based simulation workflow focused on improving impedance matching, return loss, and radiation characteristics for a compact circular geometry suitable for student-level fabrication and low-cost wireless systems. This gap indicates the need for a design approach that is both practically implementable and performance-optimized, which this project aims to fulfill.</a:t>
            </a:r>
            <a:br>
              <a:rPr lang="en-US" sz="1400" dirty="0"/>
            </a:br>
            <a:endParaRPr lang="en-US" sz="1400" b="1" dirty="0">
              <a:latin typeface="Times New Roman" panose="02020603050405020304" pitchFamily="18" charset="0"/>
              <a:cs typeface="Times New Roman" panose="02020603050405020304" pitchFamily="18" charset="0"/>
            </a:endParaRPr>
          </a:p>
        </p:txBody>
      </p:sp>
      <p:sp>
        <p:nvSpPr>
          <p:cNvPr id="2" name="Rectangle: Rounded Corners 1">
            <a:extLst>
              <a:ext uri="{FF2B5EF4-FFF2-40B4-BE49-F238E27FC236}">
                <a16:creationId xmlns:a16="http://schemas.microsoft.com/office/drawing/2014/main" id="{28381E2C-F42D-07D3-3016-77AE101D245B}"/>
              </a:ext>
            </a:extLst>
          </p:cNvPr>
          <p:cNvSpPr/>
          <p:nvPr/>
        </p:nvSpPr>
        <p:spPr bwMode="auto">
          <a:xfrm>
            <a:off x="0" y="46835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MAJOR PROJECT PHASE 1 (BEC685)</a:t>
            </a:r>
          </a:p>
        </p:txBody>
      </p:sp>
      <p:sp>
        <p:nvSpPr>
          <p:cNvPr id="5" name="Rectangle: Rounded Corners 1">
            <a:extLst>
              <a:ext uri="{FF2B5EF4-FFF2-40B4-BE49-F238E27FC236}">
                <a16:creationId xmlns:a16="http://schemas.microsoft.com/office/drawing/2014/main" id="{434D85A4-3AE9-8DD6-914A-EF1A4D5EB778}"/>
              </a:ext>
            </a:extLst>
          </p:cNvPr>
          <p:cNvSpPr/>
          <p:nvPr/>
        </p:nvSpPr>
        <p:spPr bwMode="auto">
          <a:xfrm>
            <a:off x="10839" y="47284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Circularly Polarized Multi-Band </a:t>
            </a:r>
            <a:r>
              <a:rPr lang="en-US" sz="1600" b="1" dirty="0" err="1">
                <a:solidFill>
                  <a:schemeClr val="bg1"/>
                </a:solidFill>
                <a:latin typeface="Times New Roman" panose="02020603050405020304" pitchFamily="18" charset="0"/>
                <a:cs typeface="Times New Roman" panose="02020603050405020304" pitchFamily="18" charset="0"/>
              </a:rPr>
              <a:t>Microstrip</a:t>
            </a:r>
            <a:r>
              <a:rPr lang="en-US" sz="1600" b="1" dirty="0">
                <a:solidFill>
                  <a:schemeClr val="bg1"/>
                </a:solidFill>
                <a:latin typeface="Times New Roman" panose="02020603050405020304" pitchFamily="18" charset="0"/>
                <a:cs typeface="Times New Roman" panose="02020603050405020304" pitchFamily="18" charset="0"/>
              </a:rPr>
              <a:t> Patch Antenna for 5G and </a:t>
            </a:r>
            <a:r>
              <a:rPr lang="en-US" sz="1600" b="1" dirty="0" err="1">
                <a:solidFill>
                  <a:schemeClr val="bg1"/>
                </a:solidFill>
                <a:latin typeface="Times New Roman" panose="02020603050405020304" pitchFamily="18" charset="0"/>
                <a:cs typeface="Times New Roman" panose="02020603050405020304" pitchFamily="18" charset="0"/>
              </a:rPr>
              <a:t>IoT</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6" name="Rectangle: Rounded Corners 1">
            <a:extLst>
              <a:ext uri="{FF2B5EF4-FFF2-40B4-BE49-F238E27FC236}">
                <a16:creationId xmlns:a16="http://schemas.microsoft.com/office/drawing/2014/main" id="{434D85A4-3AE9-8DD6-914A-EF1A4D5EB778}"/>
              </a:ext>
            </a:extLst>
          </p:cNvPr>
          <p:cNvSpPr/>
          <p:nvPr/>
        </p:nvSpPr>
        <p:spPr bwMode="auto">
          <a:xfrm>
            <a:off x="0" y="470602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46712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18000" decel="8200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7818" y="421966"/>
            <a:ext cx="8368363" cy="409459"/>
          </a:xfrm>
          <a:prstGeom prst="rect">
            <a:avLst/>
          </a:prstGeom>
        </p:spPr>
        <p:txBody>
          <a:bodyPr>
            <a:normAutofit fontScale="90000"/>
          </a:bodyPr>
          <a:lstStyle/>
          <a:p>
            <a:r>
              <a:rPr lang="en-US" b="1" dirty="0">
                <a:latin typeface="Times New Roman" panose="02020603050405020304" pitchFamily="18" charset="0"/>
                <a:cs typeface="Times New Roman" panose="02020603050405020304" pitchFamily="18" charset="0"/>
              </a:rPr>
              <a:t>PROBLEM STATEMENT</a:t>
            </a:r>
          </a:p>
        </p:txBody>
      </p:sp>
      <p:sp>
        <p:nvSpPr>
          <p:cNvPr id="13" name="Rounded Rectangle 1">
            <a:extLst>
              <a:ext uri="{FF2B5EF4-FFF2-40B4-BE49-F238E27FC236}">
                <a16:creationId xmlns:a16="http://schemas.microsoft.com/office/drawing/2014/main" id="{B70D5117-D066-437B-A406-394C32871E07}"/>
              </a:ext>
            </a:extLst>
          </p:cNvPr>
          <p:cNvSpPr/>
          <p:nvPr/>
        </p:nvSpPr>
        <p:spPr bwMode="auto">
          <a:xfrm>
            <a:off x="228600" y="1035594"/>
            <a:ext cx="8763000" cy="3603085"/>
          </a:xfrm>
          <a:prstGeom prst="roundRect">
            <a:avLst>
              <a:gd name="adj" fmla="val 2440"/>
            </a:avLst>
          </a:prstGeom>
          <a:solidFill>
            <a:schemeClr val="bg2"/>
          </a:solidFill>
          <a:ln w="9525">
            <a:noFill/>
            <a:round/>
            <a:headEnd/>
            <a:tailEnd/>
          </a:ln>
        </p:spPr>
        <p:txBody>
          <a:bodyPr vert="horz" wrap="square" lIns="91440" tIns="45720" rIns="91440" bIns="45720" numCol="1" rtlCol="0" anchor="t" anchorCtr="0" compatLnSpc="1">
            <a:prstTxWarp prst="textNoShape">
              <a:avLst/>
            </a:prstTxWarp>
          </a:bodyPr>
          <a:lstStyle/>
          <a:p>
            <a:pPr algn="just">
              <a:lnSpc>
                <a:spcPct val="150000"/>
              </a:lnSpc>
            </a:pPr>
            <a:r>
              <a:rPr lang="en-US" sz="1600" dirty="0">
                <a:latin typeface="Times New Roman" panose="02020603050405020304" pitchFamily="18" charset="0"/>
                <a:cs typeface="Times New Roman" panose="02020603050405020304" pitchFamily="18" charset="0"/>
              </a:rPr>
              <a:t>Achieving proper impedance matching, acceptable return loss, and stable radiation characteristics remains a significant challenge when designing low-cost antenna solutions for wireless systems operating at 2.45 GHz. The use of FR4 as a substrate further contributes to performance limitations due to dielectric losses and bandwidth reduction. Therefore, this project focuses on addressing these constraints by designing and simulating a circular </a:t>
            </a:r>
            <a:r>
              <a:rPr lang="en-US" sz="1600" dirty="0" err="1">
                <a:latin typeface="Times New Roman" panose="02020603050405020304" pitchFamily="18" charset="0"/>
                <a:cs typeface="Times New Roman" panose="02020603050405020304" pitchFamily="18" charset="0"/>
              </a:rPr>
              <a:t>microstrip</a:t>
            </a:r>
            <a:r>
              <a:rPr lang="en-US" sz="1600" dirty="0">
                <a:latin typeface="Times New Roman" panose="02020603050405020304" pitchFamily="18" charset="0"/>
                <a:cs typeface="Times New Roman" panose="02020603050405020304" pitchFamily="18" charset="0"/>
              </a:rPr>
              <a:t> patch antenna using ANSYS HFSS to obtain improved impedance matching and reliable radiation performance suitable for practical wireless communication applications.</a:t>
            </a:r>
            <a:endParaRPr lang="en-US" b="1" dirty="0">
              <a:latin typeface="Times New Roman" panose="02020603050405020304" pitchFamily="18" charset="0"/>
              <a:cs typeface="Times New Roman" panose="02020603050405020304" pitchFamily="18" charset="0"/>
            </a:endParaRPr>
          </a:p>
        </p:txBody>
      </p:sp>
      <p:sp>
        <p:nvSpPr>
          <p:cNvPr id="2" name="Rectangle: Rounded Corners 1">
            <a:extLst>
              <a:ext uri="{FF2B5EF4-FFF2-40B4-BE49-F238E27FC236}">
                <a16:creationId xmlns:a16="http://schemas.microsoft.com/office/drawing/2014/main" id="{2C9BC463-8ED6-B613-1CC3-D119C8F3966B}"/>
              </a:ext>
            </a:extLst>
          </p:cNvPr>
          <p:cNvSpPr/>
          <p:nvPr/>
        </p:nvSpPr>
        <p:spPr bwMode="auto">
          <a:xfrm>
            <a:off x="0" y="46835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MAJOR PROJECT PHASE 1 (BEC685)</a:t>
            </a:r>
          </a:p>
        </p:txBody>
      </p:sp>
      <p:sp>
        <p:nvSpPr>
          <p:cNvPr id="5" name="Rectangle: Rounded Corners 1">
            <a:extLst>
              <a:ext uri="{FF2B5EF4-FFF2-40B4-BE49-F238E27FC236}">
                <a16:creationId xmlns:a16="http://schemas.microsoft.com/office/drawing/2014/main" id="{434D85A4-3AE9-8DD6-914A-EF1A4D5EB778}"/>
              </a:ext>
            </a:extLst>
          </p:cNvPr>
          <p:cNvSpPr/>
          <p:nvPr/>
        </p:nvSpPr>
        <p:spPr bwMode="auto">
          <a:xfrm>
            <a:off x="10839" y="47284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Circularly Polarized Multi-Band </a:t>
            </a:r>
            <a:r>
              <a:rPr lang="en-US" sz="1600" b="1" dirty="0" err="1">
                <a:solidFill>
                  <a:schemeClr val="bg1"/>
                </a:solidFill>
                <a:latin typeface="Times New Roman" panose="02020603050405020304" pitchFamily="18" charset="0"/>
                <a:cs typeface="Times New Roman" panose="02020603050405020304" pitchFamily="18" charset="0"/>
              </a:rPr>
              <a:t>Microstrip</a:t>
            </a:r>
            <a:r>
              <a:rPr lang="en-US" sz="1600" b="1" dirty="0">
                <a:solidFill>
                  <a:schemeClr val="bg1"/>
                </a:solidFill>
                <a:latin typeface="Times New Roman" panose="02020603050405020304" pitchFamily="18" charset="0"/>
                <a:cs typeface="Times New Roman" panose="02020603050405020304" pitchFamily="18" charset="0"/>
              </a:rPr>
              <a:t> Patch Antenna for 5G and </a:t>
            </a:r>
            <a:r>
              <a:rPr lang="en-US" sz="1600" b="1" dirty="0" err="1">
                <a:solidFill>
                  <a:schemeClr val="bg1"/>
                </a:solidFill>
                <a:latin typeface="Times New Roman" panose="02020603050405020304" pitchFamily="18" charset="0"/>
                <a:cs typeface="Times New Roman" panose="02020603050405020304" pitchFamily="18" charset="0"/>
              </a:rPr>
              <a:t>IoT</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6" name="Rectangle: Rounded Corners 1">
            <a:extLst>
              <a:ext uri="{FF2B5EF4-FFF2-40B4-BE49-F238E27FC236}">
                <a16:creationId xmlns:a16="http://schemas.microsoft.com/office/drawing/2014/main" id="{434D85A4-3AE9-8DD6-914A-EF1A4D5EB778}"/>
              </a:ext>
            </a:extLst>
          </p:cNvPr>
          <p:cNvSpPr/>
          <p:nvPr/>
        </p:nvSpPr>
        <p:spPr bwMode="auto">
          <a:xfrm>
            <a:off x="38100" y="4709198"/>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3939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18000" decel="8200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514600" y="73818"/>
            <a:ext cx="8368363" cy="409459"/>
          </a:xfrm>
          <a:prstGeom prst="rect">
            <a:avLst/>
          </a:prstGeom>
        </p:spPr>
        <p:txBody>
          <a:bodyPr>
            <a:normAutofit fontScale="90000"/>
          </a:bodyPr>
          <a:lstStyle/>
          <a:p>
            <a:r>
              <a:rPr lang="en-US" b="1" dirty="0">
                <a:latin typeface="Times New Roman" panose="02020603050405020304" pitchFamily="18" charset="0"/>
                <a:cs typeface="Times New Roman" panose="02020603050405020304" pitchFamily="18" charset="0"/>
              </a:rPr>
              <a:t>RESEARCH OBJECTIVES</a:t>
            </a:r>
          </a:p>
        </p:txBody>
      </p:sp>
      <p:sp>
        <p:nvSpPr>
          <p:cNvPr id="8" name="Freeform 5">
            <a:extLst>
              <a:ext uri="{FF2B5EF4-FFF2-40B4-BE49-F238E27FC236}">
                <a16:creationId xmlns:a16="http://schemas.microsoft.com/office/drawing/2014/main" id="{42E09CA1-8C92-4646-AE3E-CDB182489B86}"/>
              </a:ext>
            </a:extLst>
          </p:cNvPr>
          <p:cNvSpPr>
            <a:spLocks noEditPoints="1"/>
          </p:cNvSpPr>
          <p:nvPr/>
        </p:nvSpPr>
        <p:spPr bwMode="auto">
          <a:xfrm>
            <a:off x="5411152" y="1168648"/>
            <a:ext cx="3328988" cy="3328988"/>
          </a:xfrm>
          <a:custGeom>
            <a:avLst/>
            <a:gdLst>
              <a:gd name="T0" fmla="*/ 1997 w 2048"/>
              <a:gd name="T1" fmla="*/ 390 h 2048"/>
              <a:gd name="T2" fmla="*/ 1960 w 2048"/>
              <a:gd name="T3" fmla="*/ 288 h 2048"/>
              <a:gd name="T4" fmla="*/ 1760 w 2048"/>
              <a:gd name="T5" fmla="*/ 88 h 2048"/>
              <a:gd name="T6" fmla="*/ 1658 w 2048"/>
              <a:gd name="T7" fmla="*/ 51 h 2048"/>
              <a:gd name="T8" fmla="*/ 1024 w 2048"/>
              <a:gd name="T9" fmla="*/ 0 h 2048"/>
              <a:gd name="T10" fmla="*/ 0 w 2048"/>
              <a:gd name="T11" fmla="*/ 1024 h 2048"/>
              <a:gd name="T12" fmla="*/ 1024 w 2048"/>
              <a:gd name="T13" fmla="*/ 2048 h 2048"/>
              <a:gd name="T14" fmla="*/ 2048 w 2048"/>
              <a:gd name="T15" fmla="*/ 1024 h 2048"/>
              <a:gd name="T16" fmla="*/ 1660 w 2048"/>
              <a:gd name="T17" fmla="*/ 333 h 2048"/>
              <a:gd name="T18" fmla="*/ 1821 w 2048"/>
              <a:gd name="T19" fmla="*/ 397 h 2048"/>
              <a:gd name="T20" fmla="*/ 1521 w 2048"/>
              <a:gd name="T21" fmla="*/ 527 h 2048"/>
              <a:gd name="T22" fmla="*/ 1651 w 2048"/>
              <a:gd name="T23" fmla="*/ 227 h 2048"/>
              <a:gd name="T24" fmla="*/ 1228 w 2048"/>
              <a:gd name="T25" fmla="*/ 1024 h 2048"/>
              <a:gd name="T26" fmla="*/ 820 w 2048"/>
              <a:gd name="T27" fmla="*/ 1024 h 2048"/>
              <a:gd name="T28" fmla="*/ 1119 w 2048"/>
              <a:gd name="T29" fmla="*/ 844 h 2048"/>
              <a:gd name="T30" fmla="*/ 982 w 2048"/>
              <a:gd name="T31" fmla="*/ 1066 h 2048"/>
              <a:gd name="T32" fmla="*/ 1066 w 2048"/>
              <a:gd name="T33" fmla="*/ 1066 h 2048"/>
              <a:gd name="T34" fmla="*/ 1228 w 2048"/>
              <a:gd name="T35" fmla="*/ 1024 h 2048"/>
              <a:gd name="T36" fmla="*/ 1024 w 2048"/>
              <a:gd name="T37" fmla="*/ 700 h 2048"/>
              <a:gd name="T38" fmla="*/ 1024 w 2048"/>
              <a:gd name="T39" fmla="*/ 1348 h 2048"/>
              <a:gd name="T40" fmla="*/ 1291 w 2048"/>
              <a:gd name="T41" fmla="*/ 841 h 2048"/>
              <a:gd name="T42" fmla="*/ 1588 w 2048"/>
              <a:gd name="T43" fmla="*/ 1024 h 2048"/>
              <a:gd name="T44" fmla="*/ 460 w 2048"/>
              <a:gd name="T45" fmla="*/ 1024 h 2048"/>
              <a:gd name="T46" fmla="*/ 1378 w 2048"/>
              <a:gd name="T47" fmla="*/ 585 h 2048"/>
              <a:gd name="T48" fmla="*/ 1663 w 2048"/>
              <a:gd name="T49" fmla="*/ 1663 h 2048"/>
              <a:gd name="T50" fmla="*/ 385 w 2048"/>
              <a:gd name="T51" fmla="*/ 1663 h 2048"/>
              <a:gd name="T52" fmla="*/ 385 w 2048"/>
              <a:gd name="T53" fmla="*/ 385 h 2048"/>
              <a:gd name="T54" fmla="*/ 1471 w 2048"/>
              <a:gd name="T55" fmla="*/ 238 h 2048"/>
              <a:gd name="T56" fmla="*/ 1385 w 2048"/>
              <a:gd name="T57" fmla="*/ 346 h 2048"/>
              <a:gd name="T58" fmla="*/ 1394 w 2048"/>
              <a:gd name="T59" fmla="*/ 449 h 2048"/>
              <a:gd name="T60" fmla="*/ 340 w 2048"/>
              <a:gd name="T61" fmla="*/ 1024 h 2048"/>
              <a:gd name="T62" fmla="*/ 1708 w 2048"/>
              <a:gd name="T63" fmla="*/ 1024 h 2048"/>
              <a:gd name="T64" fmla="*/ 1695 w 2048"/>
              <a:gd name="T65" fmla="*/ 662 h 2048"/>
              <a:gd name="T66" fmla="*/ 1701 w 2048"/>
              <a:gd name="T67" fmla="*/ 663 h 2048"/>
              <a:gd name="T68" fmla="*/ 1707 w 2048"/>
              <a:gd name="T69" fmla="*/ 662 h 2048"/>
              <a:gd name="T70" fmla="*/ 1713 w 2048"/>
              <a:gd name="T71" fmla="*/ 661 h 2048"/>
              <a:gd name="T72" fmla="*/ 1719 w 2048"/>
              <a:gd name="T73" fmla="*/ 659 h 2048"/>
              <a:gd name="T74" fmla="*/ 1725 w 2048"/>
              <a:gd name="T75" fmla="*/ 657 h 2048"/>
              <a:gd name="T76" fmla="*/ 1731 w 2048"/>
              <a:gd name="T77" fmla="*/ 654 h 2048"/>
              <a:gd name="T78" fmla="*/ 1736 w 2048"/>
              <a:gd name="T79" fmla="*/ 650 h 2048"/>
              <a:gd name="T80" fmla="*/ 1742 w 2048"/>
              <a:gd name="T81" fmla="*/ 645 h 2048"/>
              <a:gd name="T82" fmla="*/ 1928 w 2048"/>
              <a:gd name="T83" fmla="*/ 1024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48" h="2048">
                <a:moveTo>
                  <a:pt x="1898" y="490"/>
                </a:moveTo>
                <a:cubicBezTo>
                  <a:pt x="1997" y="390"/>
                  <a:pt x="1997" y="390"/>
                  <a:pt x="1997" y="390"/>
                </a:cubicBezTo>
                <a:cubicBezTo>
                  <a:pt x="2013" y="374"/>
                  <a:pt x="2019" y="349"/>
                  <a:pt x="2011" y="327"/>
                </a:cubicBezTo>
                <a:cubicBezTo>
                  <a:pt x="2003" y="305"/>
                  <a:pt x="1983" y="290"/>
                  <a:pt x="1960" y="288"/>
                </a:cubicBezTo>
                <a:cubicBezTo>
                  <a:pt x="1775" y="273"/>
                  <a:pt x="1775" y="273"/>
                  <a:pt x="1775" y="273"/>
                </a:cubicBezTo>
                <a:cubicBezTo>
                  <a:pt x="1760" y="88"/>
                  <a:pt x="1760" y="88"/>
                  <a:pt x="1760" y="88"/>
                </a:cubicBezTo>
                <a:cubicBezTo>
                  <a:pt x="1758" y="65"/>
                  <a:pt x="1743" y="45"/>
                  <a:pt x="1721" y="37"/>
                </a:cubicBezTo>
                <a:cubicBezTo>
                  <a:pt x="1699" y="29"/>
                  <a:pt x="1674" y="35"/>
                  <a:pt x="1658" y="51"/>
                </a:cubicBezTo>
                <a:cubicBezTo>
                  <a:pt x="1558" y="150"/>
                  <a:pt x="1558" y="150"/>
                  <a:pt x="1558" y="150"/>
                </a:cubicBezTo>
                <a:cubicBezTo>
                  <a:pt x="1398" y="52"/>
                  <a:pt x="1214" y="0"/>
                  <a:pt x="1024" y="0"/>
                </a:cubicBezTo>
                <a:cubicBezTo>
                  <a:pt x="750" y="0"/>
                  <a:pt x="493" y="107"/>
                  <a:pt x="300" y="300"/>
                </a:cubicBezTo>
                <a:cubicBezTo>
                  <a:pt x="107" y="493"/>
                  <a:pt x="0" y="750"/>
                  <a:pt x="0" y="1024"/>
                </a:cubicBezTo>
                <a:cubicBezTo>
                  <a:pt x="0" y="1298"/>
                  <a:pt x="107" y="1555"/>
                  <a:pt x="300" y="1748"/>
                </a:cubicBezTo>
                <a:cubicBezTo>
                  <a:pt x="493" y="1941"/>
                  <a:pt x="750" y="2048"/>
                  <a:pt x="1024" y="2048"/>
                </a:cubicBezTo>
                <a:cubicBezTo>
                  <a:pt x="1298" y="2048"/>
                  <a:pt x="1555" y="1941"/>
                  <a:pt x="1748" y="1748"/>
                </a:cubicBezTo>
                <a:cubicBezTo>
                  <a:pt x="1941" y="1555"/>
                  <a:pt x="2048" y="1298"/>
                  <a:pt x="2048" y="1024"/>
                </a:cubicBezTo>
                <a:cubicBezTo>
                  <a:pt x="2048" y="834"/>
                  <a:pt x="1996" y="650"/>
                  <a:pt x="1898" y="490"/>
                </a:cubicBezTo>
                <a:close/>
                <a:moveTo>
                  <a:pt x="1660" y="333"/>
                </a:moveTo>
                <a:cubicBezTo>
                  <a:pt x="1662" y="362"/>
                  <a:pt x="1686" y="386"/>
                  <a:pt x="1715" y="388"/>
                </a:cubicBezTo>
                <a:cubicBezTo>
                  <a:pt x="1821" y="397"/>
                  <a:pt x="1821" y="397"/>
                  <a:pt x="1821" y="397"/>
                </a:cubicBezTo>
                <a:cubicBezTo>
                  <a:pt x="1677" y="540"/>
                  <a:pt x="1677" y="540"/>
                  <a:pt x="1677" y="540"/>
                </a:cubicBezTo>
                <a:cubicBezTo>
                  <a:pt x="1521" y="527"/>
                  <a:pt x="1521" y="527"/>
                  <a:pt x="1521" y="527"/>
                </a:cubicBezTo>
                <a:cubicBezTo>
                  <a:pt x="1508" y="371"/>
                  <a:pt x="1508" y="371"/>
                  <a:pt x="1508" y="371"/>
                </a:cubicBezTo>
                <a:cubicBezTo>
                  <a:pt x="1651" y="227"/>
                  <a:pt x="1651" y="227"/>
                  <a:pt x="1651" y="227"/>
                </a:cubicBezTo>
                <a:lnTo>
                  <a:pt x="1660" y="333"/>
                </a:lnTo>
                <a:close/>
                <a:moveTo>
                  <a:pt x="1228" y="1024"/>
                </a:moveTo>
                <a:cubicBezTo>
                  <a:pt x="1228" y="1136"/>
                  <a:pt x="1136" y="1228"/>
                  <a:pt x="1024" y="1228"/>
                </a:cubicBezTo>
                <a:cubicBezTo>
                  <a:pt x="912" y="1228"/>
                  <a:pt x="820" y="1136"/>
                  <a:pt x="820" y="1024"/>
                </a:cubicBezTo>
                <a:cubicBezTo>
                  <a:pt x="820" y="912"/>
                  <a:pt x="912" y="820"/>
                  <a:pt x="1024" y="820"/>
                </a:cubicBezTo>
                <a:cubicBezTo>
                  <a:pt x="1058" y="820"/>
                  <a:pt x="1091" y="829"/>
                  <a:pt x="1119" y="844"/>
                </a:cubicBezTo>
                <a:cubicBezTo>
                  <a:pt x="982" y="982"/>
                  <a:pt x="982" y="982"/>
                  <a:pt x="982" y="982"/>
                </a:cubicBezTo>
                <a:cubicBezTo>
                  <a:pt x="958" y="1005"/>
                  <a:pt x="958" y="1043"/>
                  <a:pt x="982" y="1066"/>
                </a:cubicBezTo>
                <a:cubicBezTo>
                  <a:pt x="993" y="1078"/>
                  <a:pt x="1009" y="1084"/>
                  <a:pt x="1024" y="1084"/>
                </a:cubicBezTo>
                <a:cubicBezTo>
                  <a:pt x="1039" y="1084"/>
                  <a:pt x="1055" y="1078"/>
                  <a:pt x="1066" y="1066"/>
                </a:cubicBezTo>
                <a:cubicBezTo>
                  <a:pt x="1204" y="929"/>
                  <a:pt x="1204" y="929"/>
                  <a:pt x="1204" y="929"/>
                </a:cubicBezTo>
                <a:cubicBezTo>
                  <a:pt x="1219" y="957"/>
                  <a:pt x="1228" y="990"/>
                  <a:pt x="1228" y="1024"/>
                </a:cubicBezTo>
                <a:close/>
                <a:moveTo>
                  <a:pt x="1207" y="757"/>
                </a:moveTo>
                <a:cubicBezTo>
                  <a:pt x="1155" y="721"/>
                  <a:pt x="1092" y="700"/>
                  <a:pt x="1024" y="700"/>
                </a:cubicBezTo>
                <a:cubicBezTo>
                  <a:pt x="845" y="700"/>
                  <a:pt x="700" y="845"/>
                  <a:pt x="700" y="1024"/>
                </a:cubicBezTo>
                <a:cubicBezTo>
                  <a:pt x="700" y="1203"/>
                  <a:pt x="845" y="1348"/>
                  <a:pt x="1024" y="1348"/>
                </a:cubicBezTo>
                <a:cubicBezTo>
                  <a:pt x="1203" y="1348"/>
                  <a:pt x="1348" y="1203"/>
                  <a:pt x="1348" y="1024"/>
                </a:cubicBezTo>
                <a:cubicBezTo>
                  <a:pt x="1348" y="956"/>
                  <a:pt x="1327" y="893"/>
                  <a:pt x="1291" y="841"/>
                </a:cubicBezTo>
                <a:cubicBezTo>
                  <a:pt x="1463" y="670"/>
                  <a:pt x="1463" y="670"/>
                  <a:pt x="1463" y="670"/>
                </a:cubicBezTo>
                <a:cubicBezTo>
                  <a:pt x="1541" y="767"/>
                  <a:pt x="1588" y="890"/>
                  <a:pt x="1588" y="1024"/>
                </a:cubicBezTo>
                <a:cubicBezTo>
                  <a:pt x="1588" y="1335"/>
                  <a:pt x="1335" y="1588"/>
                  <a:pt x="1024" y="1588"/>
                </a:cubicBezTo>
                <a:cubicBezTo>
                  <a:pt x="713" y="1588"/>
                  <a:pt x="460" y="1335"/>
                  <a:pt x="460" y="1024"/>
                </a:cubicBezTo>
                <a:cubicBezTo>
                  <a:pt x="460" y="713"/>
                  <a:pt x="713" y="460"/>
                  <a:pt x="1024" y="460"/>
                </a:cubicBezTo>
                <a:cubicBezTo>
                  <a:pt x="1158" y="460"/>
                  <a:pt x="1281" y="507"/>
                  <a:pt x="1378" y="585"/>
                </a:cubicBezTo>
                <a:lnTo>
                  <a:pt x="1207" y="757"/>
                </a:lnTo>
                <a:close/>
                <a:moveTo>
                  <a:pt x="1663" y="1663"/>
                </a:moveTo>
                <a:cubicBezTo>
                  <a:pt x="1492" y="1834"/>
                  <a:pt x="1265" y="1928"/>
                  <a:pt x="1024" y="1928"/>
                </a:cubicBezTo>
                <a:cubicBezTo>
                  <a:pt x="783" y="1928"/>
                  <a:pt x="556" y="1834"/>
                  <a:pt x="385" y="1663"/>
                </a:cubicBezTo>
                <a:cubicBezTo>
                  <a:pt x="214" y="1492"/>
                  <a:pt x="120" y="1265"/>
                  <a:pt x="120" y="1024"/>
                </a:cubicBezTo>
                <a:cubicBezTo>
                  <a:pt x="120" y="783"/>
                  <a:pt x="214" y="556"/>
                  <a:pt x="385" y="385"/>
                </a:cubicBezTo>
                <a:cubicBezTo>
                  <a:pt x="556" y="214"/>
                  <a:pt x="783" y="120"/>
                  <a:pt x="1024" y="120"/>
                </a:cubicBezTo>
                <a:cubicBezTo>
                  <a:pt x="1182" y="120"/>
                  <a:pt x="1335" y="161"/>
                  <a:pt x="1471" y="238"/>
                </a:cubicBezTo>
                <a:cubicBezTo>
                  <a:pt x="1403" y="306"/>
                  <a:pt x="1403" y="306"/>
                  <a:pt x="1403" y="306"/>
                </a:cubicBezTo>
                <a:cubicBezTo>
                  <a:pt x="1392" y="317"/>
                  <a:pt x="1386" y="331"/>
                  <a:pt x="1385" y="346"/>
                </a:cubicBezTo>
                <a:cubicBezTo>
                  <a:pt x="1385" y="349"/>
                  <a:pt x="1385" y="351"/>
                  <a:pt x="1386" y="353"/>
                </a:cubicBezTo>
                <a:cubicBezTo>
                  <a:pt x="1394" y="449"/>
                  <a:pt x="1394" y="449"/>
                  <a:pt x="1394" y="449"/>
                </a:cubicBezTo>
                <a:cubicBezTo>
                  <a:pt x="1287" y="380"/>
                  <a:pt x="1160" y="340"/>
                  <a:pt x="1024" y="340"/>
                </a:cubicBezTo>
                <a:cubicBezTo>
                  <a:pt x="647" y="340"/>
                  <a:pt x="340" y="647"/>
                  <a:pt x="340" y="1024"/>
                </a:cubicBezTo>
                <a:cubicBezTo>
                  <a:pt x="340" y="1401"/>
                  <a:pt x="647" y="1708"/>
                  <a:pt x="1024" y="1708"/>
                </a:cubicBezTo>
                <a:cubicBezTo>
                  <a:pt x="1401" y="1708"/>
                  <a:pt x="1708" y="1401"/>
                  <a:pt x="1708" y="1024"/>
                </a:cubicBezTo>
                <a:cubicBezTo>
                  <a:pt x="1708" y="888"/>
                  <a:pt x="1668" y="761"/>
                  <a:pt x="1599" y="654"/>
                </a:cubicBezTo>
                <a:cubicBezTo>
                  <a:pt x="1695" y="662"/>
                  <a:pt x="1695" y="662"/>
                  <a:pt x="1695" y="662"/>
                </a:cubicBezTo>
                <a:cubicBezTo>
                  <a:pt x="1697" y="662"/>
                  <a:pt x="1698" y="663"/>
                  <a:pt x="1700" y="663"/>
                </a:cubicBezTo>
                <a:cubicBezTo>
                  <a:pt x="1700" y="663"/>
                  <a:pt x="1701" y="663"/>
                  <a:pt x="1701" y="663"/>
                </a:cubicBezTo>
                <a:cubicBezTo>
                  <a:pt x="1702" y="663"/>
                  <a:pt x="1702" y="662"/>
                  <a:pt x="1703" y="662"/>
                </a:cubicBezTo>
                <a:cubicBezTo>
                  <a:pt x="1705" y="662"/>
                  <a:pt x="1706" y="662"/>
                  <a:pt x="1707" y="662"/>
                </a:cubicBezTo>
                <a:cubicBezTo>
                  <a:pt x="1708" y="662"/>
                  <a:pt x="1709" y="662"/>
                  <a:pt x="1710" y="662"/>
                </a:cubicBezTo>
                <a:cubicBezTo>
                  <a:pt x="1711" y="662"/>
                  <a:pt x="1712" y="661"/>
                  <a:pt x="1713" y="661"/>
                </a:cubicBezTo>
                <a:cubicBezTo>
                  <a:pt x="1714" y="661"/>
                  <a:pt x="1715" y="661"/>
                  <a:pt x="1716" y="660"/>
                </a:cubicBezTo>
                <a:cubicBezTo>
                  <a:pt x="1717" y="660"/>
                  <a:pt x="1718" y="660"/>
                  <a:pt x="1719" y="659"/>
                </a:cubicBezTo>
                <a:cubicBezTo>
                  <a:pt x="1720" y="659"/>
                  <a:pt x="1721" y="659"/>
                  <a:pt x="1722" y="658"/>
                </a:cubicBezTo>
                <a:cubicBezTo>
                  <a:pt x="1723" y="658"/>
                  <a:pt x="1724" y="658"/>
                  <a:pt x="1725" y="657"/>
                </a:cubicBezTo>
                <a:cubicBezTo>
                  <a:pt x="1726" y="657"/>
                  <a:pt x="1727" y="656"/>
                  <a:pt x="1727" y="656"/>
                </a:cubicBezTo>
                <a:cubicBezTo>
                  <a:pt x="1728" y="655"/>
                  <a:pt x="1730" y="655"/>
                  <a:pt x="1731" y="654"/>
                </a:cubicBezTo>
                <a:cubicBezTo>
                  <a:pt x="1731" y="654"/>
                  <a:pt x="1732" y="653"/>
                  <a:pt x="1733" y="653"/>
                </a:cubicBezTo>
                <a:cubicBezTo>
                  <a:pt x="1734" y="652"/>
                  <a:pt x="1735" y="651"/>
                  <a:pt x="1736" y="650"/>
                </a:cubicBezTo>
                <a:cubicBezTo>
                  <a:pt x="1737" y="650"/>
                  <a:pt x="1737" y="650"/>
                  <a:pt x="1738" y="649"/>
                </a:cubicBezTo>
                <a:cubicBezTo>
                  <a:pt x="1739" y="648"/>
                  <a:pt x="1741" y="646"/>
                  <a:pt x="1742" y="645"/>
                </a:cubicBezTo>
                <a:cubicBezTo>
                  <a:pt x="1810" y="577"/>
                  <a:pt x="1810" y="577"/>
                  <a:pt x="1810" y="577"/>
                </a:cubicBezTo>
                <a:cubicBezTo>
                  <a:pt x="1887" y="713"/>
                  <a:pt x="1928" y="866"/>
                  <a:pt x="1928" y="1024"/>
                </a:cubicBezTo>
                <a:cubicBezTo>
                  <a:pt x="1928" y="1265"/>
                  <a:pt x="1834" y="1492"/>
                  <a:pt x="1663" y="1663"/>
                </a:cubicBezTo>
                <a:close/>
              </a:path>
            </a:pathLst>
          </a:custGeom>
          <a:solidFill>
            <a:schemeClr val="bg1">
              <a:lumMod val="95000"/>
              <a:alpha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Inhaltsplatzhalter 4">
            <a:extLst>
              <a:ext uri="{FF2B5EF4-FFF2-40B4-BE49-F238E27FC236}">
                <a16:creationId xmlns:a16="http://schemas.microsoft.com/office/drawing/2014/main" id="{63609B37-9F07-476A-A0FC-C4C1E9D5BA8C}"/>
              </a:ext>
            </a:extLst>
          </p:cNvPr>
          <p:cNvSpPr txBox="1">
            <a:spLocks/>
          </p:cNvSpPr>
          <p:nvPr/>
        </p:nvSpPr>
        <p:spPr>
          <a:xfrm>
            <a:off x="978650" y="614375"/>
            <a:ext cx="3628584" cy="960263"/>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0000"/>
              </a:lnSpc>
              <a:buNone/>
            </a:pPr>
            <a:r>
              <a:rPr lang="en-US" sz="1600" b="1" dirty="0">
                <a:solidFill>
                  <a:schemeClr val="tx1"/>
                </a:solidFill>
                <a:latin typeface="Times New Roman" panose="02020603050405020304" pitchFamily="18" charset="0"/>
                <a:cs typeface="Times New Roman" panose="02020603050405020304" pitchFamily="18" charset="0"/>
              </a:rPr>
              <a:t>Objective 1</a:t>
            </a:r>
            <a:br>
              <a:rPr lang="en-US" sz="1600" b="1" dirty="0">
                <a:solidFill>
                  <a:schemeClr val="tx1"/>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Designing and simulating circular </a:t>
            </a:r>
            <a:r>
              <a:rPr lang="en-US" sz="1600" dirty="0" err="1">
                <a:solidFill>
                  <a:schemeClr val="tx1"/>
                </a:solidFill>
                <a:latin typeface="Times New Roman" panose="02020603050405020304" pitchFamily="18" charset="0"/>
                <a:cs typeface="Times New Roman" panose="02020603050405020304" pitchFamily="18" charset="0"/>
              </a:rPr>
              <a:t>microstrip</a:t>
            </a:r>
            <a:r>
              <a:rPr lang="en-US" sz="1600" dirty="0">
                <a:solidFill>
                  <a:schemeClr val="tx1"/>
                </a:solidFill>
                <a:latin typeface="Times New Roman" panose="02020603050405020304" pitchFamily="18" charset="0"/>
                <a:cs typeface="Times New Roman" panose="02020603050405020304" pitchFamily="18" charset="0"/>
              </a:rPr>
              <a:t> patch antenna.</a:t>
            </a:r>
          </a:p>
        </p:txBody>
      </p:sp>
      <p:grpSp>
        <p:nvGrpSpPr>
          <p:cNvPr id="11" name="Group 10">
            <a:extLst>
              <a:ext uri="{FF2B5EF4-FFF2-40B4-BE49-F238E27FC236}">
                <a16:creationId xmlns:a16="http://schemas.microsoft.com/office/drawing/2014/main" id="{B766F0EB-8E38-4976-9B73-890A82AE0CA5}"/>
              </a:ext>
            </a:extLst>
          </p:cNvPr>
          <p:cNvGrpSpPr/>
          <p:nvPr/>
        </p:nvGrpSpPr>
        <p:grpSpPr>
          <a:xfrm>
            <a:off x="396411" y="504504"/>
            <a:ext cx="474222" cy="474222"/>
            <a:chOff x="2133600" y="3181350"/>
            <a:chExt cx="1362075" cy="1362075"/>
          </a:xfrm>
          <a:solidFill>
            <a:schemeClr val="accent1"/>
          </a:solidFill>
        </p:grpSpPr>
        <p:sp>
          <p:nvSpPr>
            <p:cNvPr id="12" name="Freeform 14">
              <a:extLst>
                <a:ext uri="{FF2B5EF4-FFF2-40B4-BE49-F238E27FC236}">
                  <a16:creationId xmlns:a16="http://schemas.microsoft.com/office/drawing/2014/main" id="{8E3D36C3-363F-481A-8ADE-4066CA776E79}"/>
                </a:ext>
              </a:extLst>
            </p:cNvPr>
            <p:cNvSpPr>
              <a:spLocks noEditPoints="1"/>
            </p:cNvSpPr>
            <p:nvPr/>
          </p:nvSpPr>
          <p:spPr bwMode="auto">
            <a:xfrm>
              <a:off x="2133600" y="3181350"/>
              <a:ext cx="1362075" cy="1362075"/>
            </a:xfrm>
            <a:custGeom>
              <a:avLst/>
              <a:gdLst>
                <a:gd name="T0" fmla="*/ 1428 w 3432"/>
                <a:gd name="T1" fmla="*/ 253 h 3432"/>
                <a:gd name="T2" fmla="*/ 1073 w 3432"/>
                <a:gd name="T3" fmla="*/ 371 h 3432"/>
                <a:gd name="T4" fmla="*/ 763 w 3432"/>
                <a:gd name="T5" fmla="*/ 570 h 3432"/>
                <a:gd name="T6" fmla="*/ 513 w 3432"/>
                <a:gd name="T7" fmla="*/ 836 h 3432"/>
                <a:gd name="T8" fmla="*/ 334 w 3432"/>
                <a:gd name="T9" fmla="*/ 1158 h 3432"/>
                <a:gd name="T10" fmla="*/ 237 w 3432"/>
                <a:gd name="T11" fmla="*/ 1522 h 3432"/>
                <a:gd name="T12" fmla="*/ 237 w 3432"/>
                <a:gd name="T13" fmla="*/ 1910 h 3432"/>
                <a:gd name="T14" fmla="*/ 334 w 3432"/>
                <a:gd name="T15" fmla="*/ 2274 h 3432"/>
                <a:gd name="T16" fmla="*/ 513 w 3432"/>
                <a:gd name="T17" fmla="*/ 2596 h 3432"/>
                <a:gd name="T18" fmla="*/ 763 w 3432"/>
                <a:gd name="T19" fmla="*/ 2862 h 3432"/>
                <a:gd name="T20" fmla="*/ 1073 w 3432"/>
                <a:gd name="T21" fmla="*/ 3061 h 3432"/>
                <a:gd name="T22" fmla="*/ 1428 w 3432"/>
                <a:gd name="T23" fmla="*/ 3179 h 3432"/>
                <a:gd name="T24" fmla="*/ 1814 w 3432"/>
                <a:gd name="T25" fmla="*/ 3204 h 3432"/>
                <a:gd name="T26" fmla="*/ 2187 w 3432"/>
                <a:gd name="T27" fmla="*/ 3130 h 3432"/>
                <a:gd name="T28" fmla="*/ 2520 w 3432"/>
                <a:gd name="T29" fmla="*/ 2971 h 3432"/>
                <a:gd name="T30" fmla="*/ 2802 w 3432"/>
                <a:gd name="T31" fmla="*/ 2737 h 3432"/>
                <a:gd name="T32" fmla="*/ 3018 w 3432"/>
                <a:gd name="T33" fmla="*/ 2441 h 3432"/>
                <a:gd name="T34" fmla="*/ 3157 w 3432"/>
                <a:gd name="T35" fmla="*/ 2097 h 3432"/>
                <a:gd name="T36" fmla="*/ 3207 w 3432"/>
                <a:gd name="T37" fmla="*/ 1716 h 3432"/>
                <a:gd name="T38" fmla="*/ 3157 w 3432"/>
                <a:gd name="T39" fmla="*/ 1335 h 3432"/>
                <a:gd name="T40" fmla="*/ 3018 w 3432"/>
                <a:gd name="T41" fmla="*/ 991 h 3432"/>
                <a:gd name="T42" fmla="*/ 2802 w 3432"/>
                <a:gd name="T43" fmla="*/ 695 h 3432"/>
                <a:gd name="T44" fmla="*/ 2520 w 3432"/>
                <a:gd name="T45" fmla="*/ 461 h 3432"/>
                <a:gd name="T46" fmla="*/ 2187 w 3432"/>
                <a:gd name="T47" fmla="*/ 302 h 3432"/>
                <a:gd name="T48" fmla="*/ 1814 w 3432"/>
                <a:gd name="T49" fmla="*/ 228 h 3432"/>
                <a:gd name="T50" fmla="*/ 1923 w 3432"/>
                <a:gd name="T51" fmla="*/ 12 h 3432"/>
                <a:gd name="T52" fmla="*/ 2314 w 3432"/>
                <a:gd name="T53" fmla="*/ 107 h 3432"/>
                <a:gd name="T54" fmla="*/ 2664 w 3432"/>
                <a:gd name="T55" fmla="*/ 287 h 3432"/>
                <a:gd name="T56" fmla="*/ 2963 w 3432"/>
                <a:gd name="T57" fmla="*/ 538 h 3432"/>
                <a:gd name="T58" fmla="*/ 3197 w 3432"/>
                <a:gd name="T59" fmla="*/ 851 h 3432"/>
                <a:gd name="T60" fmla="*/ 3356 w 3432"/>
                <a:gd name="T61" fmla="*/ 1213 h 3432"/>
                <a:gd name="T62" fmla="*/ 3429 w 3432"/>
                <a:gd name="T63" fmla="*/ 1612 h 3432"/>
                <a:gd name="T64" fmla="*/ 3404 w 3432"/>
                <a:gd name="T65" fmla="*/ 2024 h 3432"/>
                <a:gd name="T66" fmla="*/ 3287 w 3432"/>
                <a:gd name="T67" fmla="*/ 2406 h 3432"/>
                <a:gd name="T68" fmla="*/ 3089 w 3432"/>
                <a:gd name="T69" fmla="*/ 2745 h 3432"/>
                <a:gd name="T70" fmla="*/ 2820 w 3432"/>
                <a:gd name="T71" fmla="*/ 3027 h 3432"/>
                <a:gd name="T72" fmla="*/ 2495 w 3432"/>
                <a:gd name="T73" fmla="*/ 3245 h 3432"/>
                <a:gd name="T74" fmla="*/ 2123 w 3432"/>
                <a:gd name="T75" fmla="*/ 3383 h 3432"/>
                <a:gd name="T76" fmla="*/ 1715 w 3432"/>
                <a:gd name="T77" fmla="*/ 3432 h 3432"/>
                <a:gd name="T78" fmla="*/ 1309 w 3432"/>
                <a:gd name="T79" fmla="*/ 3383 h 3432"/>
                <a:gd name="T80" fmla="*/ 937 w 3432"/>
                <a:gd name="T81" fmla="*/ 3245 h 3432"/>
                <a:gd name="T82" fmla="*/ 610 w 3432"/>
                <a:gd name="T83" fmla="*/ 3027 h 3432"/>
                <a:gd name="T84" fmla="*/ 343 w 3432"/>
                <a:gd name="T85" fmla="*/ 2745 h 3432"/>
                <a:gd name="T86" fmla="*/ 145 w 3432"/>
                <a:gd name="T87" fmla="*/ 2406 h 3432"/>
                <a:gd name="T88" fmla="*/ 28 w 3432"/>
                <a:gd name="T89" fmla="*/ 2024 h 3432"/>
                <a:gd name="T90" fmla="*/ 3 w 3432"/>
                <a:gd name="T91" fmla="*/ 1612 h 3432"/>
                <a:gd name="T92" fmla="*/ 76 w 3432"/>
                <a:gd name="T93" fmla="*/ 1213 h 3432"/>
                <a:gd name="T94" fmla="*/ 235 w 3432"/>
                <a:gd name="T95" fmla="*/ 851 h 3432"/>
                <a:gd name="T96" fmla="*/ 469 w 3432"/>
                <a:gd name="T97" fmla="*/ 538 h 3432"/>
                <a:gd name="T98" fmla="*/ 768 w 3432"/>
                <a:gd name="T99" fmla="*/ 287 h 3432"/>
                <a:gd name="T100" fmla="*/ 1118 w 3432"/>
                <a:gd name="T101" fmla="*/ 107 h 3432"/>
                <a:gd name="T102" fmla="*/ 1509 w 3432"/>
                <a:gd name="T103" fmla="*/ 12 h 3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432" h="3432">
                  <a:moveTo>
                    <a:pt x="1715" y="225"/>
                  </a:moveTo>
                  <a:lnTo>
                    <a:pt x="1618" y="228"/>
                  </a:lnTo>
                  <a:lnTo>
                    <a:pt x="1522" y="237"/>
                  </a:lnTo>
                  <a:lnTo>
                    <a:pt x="1428" y="253"/>
                  </a:lnTo>
                  <a:lnTo>
                    <a:pt x="1335" y="275"/>
                  </a:lnTo>
                  <a:lnTo>
                    <a:pt x="1245" y="302"/>
                  </a:lnTo>
                  <a:lnTo>
                    <a:pt x="1158" y="334"/>
                  </a:lnTo>
                  <a:lnTo>
                    <a:pt x="1073" y="371"/>
                  </a:lnTo>
                  <a:lnTo>
                    <a:pt x="991" y="414"/>
                  </a:lnTo>
                  <a:lnTo>
                    <a:pt x="912" y="461"/>
                  </a:lnTo>
                  <a:lnTo>
                    <a:pt x="836" y="513"/>
                  </a:lnTo>
                  <a:lnTo>
                    <a:pt x="763" y="570"/>
                  </a:lnTo>
                  <a:lnTo>
                    <a:pt x="695" y="630"/>
                  </a:lnTo>
                  <a:lnTo>
                    <a:pt x="630" y="695"/>
                  </a:lnTo>
                  <a:lnTo>
                    <a:pt x="570" y="763"/>
                  </a:lnTo>
                  <a:lnTo>
                    <a:pt x="513" y="836"/>
                  </a:lnTo>
                  <a:lnTo>
                    <a:pt x="461" y="912"/>
                  </a:lnTo>
                  <a:lnTo>
                    <a:pt x="414" y="991"/>
                  </a:lnTo>
                  <a:lnTo>
                    <a:pt x="371" y="1073"/>
                  </a:lnTo>
                  <a:lnTo>
                    <a:pt x="334" y="1158"/>
                  </a:lnTo>
                  <a:lnTo>
                    <a:pt x="302" y="1245"/>
                  </a:lnTo>
                  <a:lnTo>
                    <a:pt x="275" y="1335"/>
                  </a:lnTo>
                  <a:lnTo>
                    <a:pt x="253" y="1428"/>
                  </a:lnTo>
                  <a:lnTo>
                    <a:pt x="237" y="1522"/>
                  </a:lnTo>
                  <a:lnTo>
                    <a:pt x="228" y="1618"/>
                  </a:lnTo>
                  <a:lnTo>
                    <a:pt x="225" y="1716"/>
                  </a:lnTo>
                  <a:lnTo>
                    <a:pt x="228" y="1814"/>
                  </a:lnTo>
                  <a:lnTo>
                    <a:pt x="237" y="1910"/>
                  </a:lnTo>
                  <a:lnTo>
                    <a:pt x="253" y="2004"/>
                  </a:lnTo>
                  <a:lnTo>
                    <a:pt x="275" y="2097"/>
                  </a:lnTo>
                  <a:lnTo>
                    <a:pt x="302" y="2187"/>
                  </a:lnTo>
                  <a:lnTo>
                    <a:pt x="334" y="2274"/>
                  </a:lnTo>
                  <a:lnTo>
                    <a:pt x="371" y="2359"/>
                  </a:lnTo>
                  <a:lnTo>
                    <a:pt x="414" y="2441"/>
                  </a:lnTo>
                  <a:lnTo>
                    <a:pt x="461" y="2520"/>
                  </a:lnTo>
                  <a:lnTo>
                    <a:pt x="513" y="2596"/>
                  </a:lnTo>
                  <a:lnTo>
                    <a:pt x="570" y="2669"/>
                  </a:lnTo>
                  <a:lnTo>
                    <a:pt x="630" y="2737"/>
                  </a:lnTo>
                  <a:lnTo>
                    <a:pt x="695" y="2802"/>
                  </a:lnTo>
                  <a:lnTo>
                    <a:pt x="763" y="2862"/>
                  </a:lnTo>
                  <a:lnTo>
                    <a:pt x="836" y="2919"/>
                  </a:lnTo>
                  <a:lnTo>
                    <a:pt x="912" y="2971"/>
                  </a:lnTo>
                  <a:lnTo>
                    <a:pt x="991" y="3018"/>
                  </a:lnTo>
                  <a:lnTo>
                    <a:pt x="1073" y="3061"/>
                  </a:lnTo>
                  <a:lnTo>
                    <a:pt x="1158" y="3098"/>
                  </a:lnTo>
                  <a:lnTo>
                    <a:pt x="1245" y="3130"/>
                  </a:lnTo>
                  <a:lnTo>
                    <a:pt x="1335" y="3157"/>
                  </a:lnTo>
                  <a:lnTo>
                    <a:pt x="1428" y="3179"/>
                  </a:lnTo>
                  <a:lnTo>
                    <a:pt x="1522" y="3195"/>
                  </a:lnTo>
                  <a:lnTo>
                    <a:pt x="1618" y="3204"/>
                  </a:lnTo>
                  <a:lnTo>
                    <a:pt x="1715" y="3207"/>
                  </a:lnTo>
                  <a:lnTo>
                    <a:pt x="1814" y="3204"/>
                  </a:lnTo>
                  <a:lnTo>
                    <a:pt x="1910" y="3195"/>
                  </a:lnTo>
                  <a:lnTo>
                    <a:pt x="2004" y="3179"/>
                  </a:lnTo>
                  <a:lnTo>
                    <a:pt x="2097" y="3157"/>
                  </a:lnTo>
                  <a:lnTo>
                    <a:pt x="2187" y="3130"/>
                  </a:lnTo>
                  <a:lnTo>
                    <a:pt x="2274" y="3098"/>
                  </a:lnTo>
                  <a:lnTo>
                    <a:pt x="2359" y="3061"/>
                  </a:lnTo>
                  <a:lnTo>
                    <a:pt x="2441" y="3018"/>
                  </a:lnTo>
                  <a:lnTo>
                    <a:pt x="2520" y="2971"/>
                  </a:lnTo>
                  <a:lnTo>
                    <a:pt x="2596" y="2919"/>
                  </a:lnTo>
                  <a:lnTo>
                    <a:pt x="2669" y="2862"/>
                  </a:lnTo>
                  <a:lnTo>
                    <a:pt x="2737" y="2802"/>
                  </a:lnTo>
                  <a:lnTo>
                    <a:pt x="2802" y="2737"/>
                  </a:lnTo>
                  <a:lnTo>
                    <a:pt x="2862" y="2669"/>
                  </a:lnTo>
                  <a:lnTo>
                    <a:pt x="2919" y="2596"/>
                  </a:lnTo>
                  <a:lnTo>
                    <a:pt x="2971" y="2520"/>
                  </a:lnTo>
                  <a:lnTo>
                    <a:pt x="3018" y="2441"/>
                  </a:lnTo>
                  <a:lnTo>
                    <a:pt x="3061" y="2359"/>
                  </a:lnTo>
                  <a:lnTo>
                    <a:pt x="3098" y="2274"/>
                  </a:lnTo>
                  <a:lnTo>
                    <a:pt x="3130" y="2187"/>
                  </a:lnTo>
                  <a:lnTo>
                    <a:pt x="3157" y="2097"/>
                  </a:lnTo>
                  <a:lnTo>
                    <a:pt x="3179" y="2004"/>
                  </a:lnTo>
                  <a:lnTo>
                    <a:pt x="3195" y="1910"/>
                  </a:lnTo>
                  <a:lnTo>
                    <a:pt x="3204" y="1814"/>
                  </a:lnTo>
                  <a:lnTo>
                    <a:pt x="3207" y="1716"/>
                  </a:lnTo>
                  <a:lnTo>
                    <a:pt x="3204" y="1618"/>
                  </a:lnTo>
                  <a:lnTo>
                    <a:pt x="3195" y="1522"/>
                  </a:lnTo>
                  <a:lnTo>
                    <a:pt x="3179" y="1428"/>
                  </a:lnTo>
                  <a:lnTo>
                    <a:pt x="3157" y="1335"/>
                  </a:lnTo>
                  <a:lnTo>
                    <a:pt x="3130" y="1245"/>
                  </a:lnTo>
                  <a:lnTo>
                    <a:pt x="3098" y="1158"/>
                  </a:lnTo>
                  <a:lnTo>
                    <a:pt x="3061" y="1073"/>
                  </a:lnTo>
                  <a:lnTo>
                    <a:pt x="3018" y="991"/>
                  </a:lnTo>
                  <a:lnTo>
                    <a:pt x="2971" y="912"/>
                  </a:lnTo>
                  <a:lnTo>
                    <a:pt x="2919" y="836"/>
                  </a:lnTo>
                  <a:lnTo>
                    <a:pt x="2862" y="763"/>
                  </a:lnTo>
                  <a:lnTo>
                    <a:pt x="2802" y="695"/>
                  </a:lnTo>
                  <a:lnTo>
                    <a:pt x="2737" y="630"/>
                  </a:lnTo>
                  <a:lnTo>
                    <a:pt x="2669" y="570"/>
                  </a:lnTo>
                  <a:lnTo>
                    <a:pt x="2596" y="513"/>
                  </a:lnTo>
                  <a:lnTo>
                    <a:pt x="2520" y="461"/>
                  </a:lnTo>
                  <a:lnTo>
                    <a:pt x="2441" y="414"/>
                  </a:lnTo>
                  <a:lnTo>
                    <a:pt x="2359" y="371"/>
                  </a:lnTo>
                  <a:lnTo>
                    <a:pt x="2274" y="334"/>
                  </a:lnTo>
                  <a:lnTo>
                    <a:pt x="2187" y="302"/>
                  </a:lnTo>
                  <a:lnTo>
                    <a:pt x="2097" y="275"/>
                  </a:lnTo>
                  <a:lnTo>
                    <a:pt x="2004" y="253"/>
                  </a:lnTo>
                  <a:lnTo>
                    <a:pt x="1910" y="237"/>
                  </a:lnTo>
                  <a:lnTo>
                    <a:pt x="1814" y="228"/>
                  </a:lnTo>
                  <a:lnTo>
                    <a:pt x="1715" y="225"/>
                  </a:lnTo>
                  <a:close/>
                  <a:moveTo>
                    <a:pt x="1715" y="0"/>
                  </a:moveTo>
                  <a:lnTo>
                    <a:pt x="1820" y="3"/>
                  </a:lnTo>
                  <a:lnTo>
                    <a:pt x="1923" y="12"/>
                  </a:lnTo>
                  <a:lnTo>
                    <a:pt x="2024" y="28"/>
                  </a:lnTo>
                  <a:lnTo>
                    <a:pt x="2123" y="49"/>
                  </a:lnTo>
                  <a:lnTo>
                    <a:pt x="2219" y="76"/>
                  </a:lnTo>
                  <a:lnTo>
                    <a:pt x="2314" y="107"/>
                  </a:lnTo>
                  <a:lnTo>
                    <a:pt x="2406" y="145"/>
                  </a:lnTo>
                  <a:lnTo>
                    <a:pt x="2495" y="187"/>
                  </a:lnTo>
                  <a:lnTo>
                    <a:pt x="2581" y="235"/>
                  </a:lnTo>
                  <a:lnTo>
                    <a:pt x="2664" y="287"/>
                  </a:lnTo>
                  <a:lnTo>
                    <a:pt x="2745" y="343"/>
                  </a:lnTo>
                  <a:lnTo>
                    <a:pt x="2820" y="405"/>
                  </a:lnTo>
                  <a:lnTo>
                    <a:pt x="2894" y="469"/>
                  </a:lnTo>
                  <a:lnTo>
                    <a:pt x="2963" y="538"/>
                  </a:lnTo>
                  <a:lnTo>
                    <a:pt x="3027" y="612"/>
                  </a:lnTo>
                  <a:lnTo>
                    <a:pt x="3089" y="687"/>
                  </a:lnTo>
                  <a:lnTo>
                    <a:pt x="3145" y="768"/>
                  </a:lnTo>
                  <a:lnTo>
                    <a:pt x="3197" y="851"/>
                  </a:lnTo>
                  <a:lnTo>
                    <a:pt x="3245" y="937"/>
                  </a:lnTo>
                  <a:lnTo>
                    <a:pt x="3287" y="1026"/>
                  </a:lnTo>
                  <a:lnTo>
                    <a:pt x="3325" y="1118"/>
                  </a:lnTo>
                  <a:lnTo>
                    <a:pt x="3356" y="1213"/>
                  </a:lnTo>
                  <a:lnTo>
                    <a:pt x="3383" y="1309"/>
                  </a:lnTo>
                  <a:lnTo>
                    <a:pt x="3404" y="1408"/>
                  </a:lnTo>
                  <a:lnTo>
                    <a:pt x="3420" y="1509"/>
                  </a:lnTo>
                  <a:lnTo>
                    <a:pt x="3429" y="1612"/>
                  </a:lnTo>
                  <a:lnTo>
                    <a:pt x="3432" y="1716"/>
                  </a:lnTo>
                  <a:lnTo>
                    <a:pt x="3429" y="1820"/>
                  </a:lnTo>
                  <a:lnTo>
                    <a:pt x="3420" y="1923"/>
                  </a:lnTo>
                  <a:lnTo>
                    <a:pt x="3404" y="2024"/>
                  </a:lnTo>
                  <a:lnTo>
                    <a:pt x="3383" y="2123"/>
                  </a:lnTo>
                  <a:lnTo>
                    <a:pt x="3356" y="2219"/>
                  </a:lnTo>
                  <a:lnTo>
                    <a:pt x="3325" y="2314"/>
                  </a:lnTo>
                  <a:lnTo>
                    <a:pt x="3287" y="2406"/>
                  </a:lnTo>
                  <a:lnTo>
                    <a:pt x="3245" y="2495"/>
                  </a:lnTo>
                  <a:lnTo>
                    <a:pt x="3197" y="2581"/>
                  </a:lnTo>
                  <a:lnTo>
                    <a:pt x="3145" y="2664"/>
                  </a:lnTo>
                  <a:lnTo>
                    <a:pt x="3089" y="2745"/>
                  </a:lnTo>
                  <a:lnTo>
                    <a:pt x="3027" y="2820"/>
                  </a:lnTo>
                  <a:lnTo>
                    <a:pt x="2963" y="2894"/>
                  </a:lnTo>
                  <a:lnTo>
                    <a:pt x="2894" y="2963"/>
                  </a:lnTo>
                  <a:lnTo>
                    <a:pt x="2820" y="3027"/>
                  </a:lnTo>
                  <a:lnTo>
                    <a:pt x="2745" y="3089"/>
                  </a:lnTo>
                  <a:lnTo>
                    <a:pt x="2664" y="3145"/>
                  </a:lnTo>
                  <a:lnTo>
                    <a:pt x="2581" y="3197"/>
                  </a:lnTo>
                  <a:lnTo>
                    <a:pt x="2495" y="3245"/>
                  </a:lnTo>
                  <a:lnTo>
                    <a:pt x="2406" y="3287"/>
                  </a:lnTo>
                  <a:lnTo>
                    <a:pt x="2314" y="3325"/>
                  </a:lnTo>
                  <a:lnTo>
                    <a:pt x="2219" y="3356"/>
                  </a:lnTo>
                  <a:lnTo>
                    <a:pt x="2123" y="3383"/>
                  </a:lnTo>
                  <a:lnTo>
                    <a:pt x="2024" y="3404"/>
                  </a:lnTo>
                  <a:lnTo>
                    <a:pt x="1923" y="3420"/>
                  </a:lnTo>
                  <a:lnTo>
                    <a:pt x="1820" y="3429"/>
                  </a:lnTo>
                  <a:lnTo>
                    <a:pt x="1715" y="3432"/>
                  </a:lnTo>
                  <a:lnTo>
                    <a:pt x="1612" y="3429"/>
                  </a:lnTo>
                  <a:lnTo>
                    <a:pt x="1509" y="3420"/>
                  </a:lnTo>
                  <a:lnTo>
                    <a:pt x="1408" y="3404"/>
                  </a:lnTo>
                  <a:lnTo>
                    <a:pt x="1309" y="3383"/>
                  </a:lnTo>
                  <a:lnTo>
                    <a:pt x="1213" y="3356"/>
                  </a:lnTo>
                  <a:lnTo>
                    <a:pt x="1118" y="3325"/>
                  </a:lnTo>
                  <a:lnTo>
                    <a:pt x="1025" y="3287"/>
                  </a:lnTo>
                  <a:lnTo>
                    <a:pt x="937" y="3245"/>
                  </a:lnTo>
                  <a:lnTo>
                    <a:pt x="851" y="3197"/>
                  </a:lnTo>
                  <a:lnTo>
                    <a:pt x="768" y="3145"/>
                  </a:lnTo>
                  <a:lnTo>
                    <a:pt x="687" y="3089"/>
                  </a:lnTo>
                  <a:lnTo>
                    <a:pt x="610" y="3027"/>
                  </a:lnTo>
                  <a:lnTo>
                    <a:pt x="538" y="2963"/>
                  </a:lnTo>
                  <a:lnTo>
                    <a:pt x="469" y="2894"/>
                  </a:lnTo>
                  <a:lnTo>
                    <a:pt x="405" y="2820"/>
                  </a:lnTo>
                  <a:lnTo>
                    <a:pt x="343" y="2745"/>
                  </a:lnTo>
                  <a:lnTo>
                    <a:pt x="287" y="2664"/>
                  </a:lnTo>
                  <a:lnTo>
                    <a:pt x="235" y="2581"/>
                  </a:lnTo>
                  <a:lnTo>
                    <a:pt x="187" y="2495"/>
                  </a:lnTo>
                  <a:lnTo>
                    <a:pt x="145" y="2406"/>
                  </a:lnTo>
                  <a:lnTo>
                    <a:pt x="107" y="2314"/>
                  </a:lnTo>
                  <a:lnTo>
                    <a:pt x="76" y="2219"/>
                  </a:lnTo>
                  <a:lnTo>
                    <a:pt x="49" y="2123"/>
                  </a:lnTo>
                  <a:lnTo>
                    <a:pt x="28" y="2024"/>
                  </a:lnTo>
                  <a:lnTo>
                    <a:pt x="12" y="1923"/>
                  </a:lnTo>
                  <a:lnTo>
                    <a:pt x="3" y="1820"/>
                  </a:lnTo>
                  <a:lnTo>
                    <a:pt x="0" y="1716"/>
                  </a:lnTo>
                  <a:lnTo>
                    <a:pt x="3" y="1612"/>
                  </a:lnTo>
                  <a:lnTo>
                    <a:pt x="12" y="1509"/>
                  </a:lnTo>
                  <a:lnTo>
                    <a:pt x="28" y="1408"/>
                  </a:lnTo>
                  <a:lnTo>
                    <a:pt x="49" y="1309"/>
                  </a:lnTo>
                  <a:lnTo>
                    <a:pt x="76" y="1213"/>
                  </a:lnTo>
                  <a:lnTo>
                    <a:pt x="107" y="1118"/>
                  </a:lnTo>
                  <a:lnTo>
                    <a:pt x="145" y="1026"/>
                  </a:lnTo>
                  <a:lnTo>
                    <a:pt x="187" y="937"/>
                  </a:lnTo>
                  <a:lnTo>
                    <a:pt x="235" y="851"/>
                  </a:lnTo>
                  <a:lnTo>
                    <a:pt x="287" y="768"/>
                  </a:lnTo>
                  <a:lnTo>
                    <a:pt x="343" y="687"/>
                  </a:lnTo>
                  <a:lnTo>
                    <a:pt x="405" y="612"/>
                  </a:lnTo>
                  <a:lnTo>
                    <a:pt x="469" y="538"/>
                  </a:lnTo>
                  <a:lnTo>
                    <a:pt x="538" y="469"/>
                  </a:lnTo>
                  <a:lnTo>
                    <a:pt x="610" y="405"/>
                  </a:lnTo>
                  <a:lnTo>
                    <a:pt x="687" y="343"/>
                  </a:lnTo>
                  <a:lnTo>
                    <a:pt x="768" y="287"/>
                  </a:lnTo>
                  <a:lnTo>
                    <a:pt x="851" y="235"/>
                  </a:lnTo>
                  <a:lnTo>
                    <a:pt x="937" y="187"/>
                  </a:lnTo>
                  <a:lnTo>
                    <a:pt x="1025" y="145"/>
                  </a:lnTo>
                  <a:lnTo>
                    <a:pt x="1118" y="107"/>
                  </a:lnTo>
                  <a:lnTo>
                    <a:pt x="1213" y="76"/>
                  </a:lnTo>
                  <a:lnTo>
                    <a:pt x="1309" y="49"/>
                  </a:lnTo>
                  <a:lnTo>
                    <a:pt x="1408" y="28"/>
                  </a:lnTo>
                  <a:lnTo>
                    <a:pt x="1509" y="12"/>
                  </a:lnTo>
                  <a:lnTo>
                    <a:pt x="1612" y="3"/>
                  </a:lnTo>
                  <a:lnTo>
                    <a:pt x="17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lumMod val="65000"/>
                  </a:schemeClr>
                </a:solidFill>
              </a:endParaRPr>
            </a:p>
          </p:txBody>
        </p:sp>
        <p:sp>
          <p:nvSpPr>
            <p:cNvPr id="13" name="Freeform 15">
              <a:extLst>
                <a:ext uri="{FF2B5EF4-FFF2-40B4-BE49-F238E27FC236}">
                  <a16:creationId xmlns:a16="http://schemas.microsoft.com/office/drawing/2014/main" id="{9074BDD4-4A1E-42CF-9065-007B9C00850F}"/>
                </a:ext>
              </a:extLst>
            </p:cNvPr>
            <p:cNvSpPr>
              <a:spLocks/>
            </p:cNvSpPr>
            <p:nvPr/>
          </p:nvSpPr>
          <p:spPr bwMode="auto">
            <a:xfrm>
              <a:off x="2492375" y="3625850"/>
              <a:ext cx="644525" cy="473075"/>
            </a:xfrm>
            <a:custGeom>
              <a:avLst/>
              <a:gdLst>
                <a:gd name="T0" fmla="*/ 1514 w 1626"/>
                <a:gd name="T1" fmla="*/ 0 h 1190"/>
                <a:gd name="T2" fmla="*/ 1536 w 1626"/>
                <a:gd name="T3" fmla="*/ 2 h 1190"/>
                <a:gd name="T4" fmla="*/ 1557 w 1626"/>
                <a:gd name="T5" fmla="*/ 8 h 1190"/>
                <a:gd name="T6" fmla="*/ 1575 w 1626"/>
                <a:gd name="T7" fmla="*/ 19 h 1190"/>
                <a:gd name="T8" fmla="*/ 1593 w 1626"/>
                <a:gd name="T9" fmla="*/ 33 h 1190"/>
                <a:gd name="T10" fmla="*/ 1608 w 1626"/>
                <a:gd name="T11" fmla="*/ 51 h 1190"/>
                <a:gd name="T12" fmla="*/ 1618 w 1626"/>
                <a:gd name="T13" fmla="*/ 71 h 1190"/>
                <a:gd name="T14" fmla="*/ 1624 w 1626"/>
                <a:gd name="T15" fmla="*/ 92 h 1190"/>
                <a:gd name="T16" fmla="*/ 1626 w 1626"/>
                <a:gd name="T17" fmla="*/ 112 h 1190"/>
                <a:gd name="T18" fmla="*/ 1624 w 1626"/>
                <a:gd name="T19" fmla="*/ 134 h 1190"/>
                <a:gd name="T20" fmla="*/ 1618 w 1626"/>
                <a:gd name="T21" fmla="*/ 155 h 1190"/>
                <a:gd name="T22" fmla="*/ 1608 w 1626"/>
                <a:gd name="T23" fmla="*/ 175 h 1190"/>
                <a:gd name="T24" fmla="*/ 1593 w 1626"/>
                <a:gd name="T25" fmla="*/ 193 h 1190"/>
                <a:gd name="T26" fmla="*/ 629 w 1626"/>
                <a:gd name="T27" fmla="*/ 1157 h 1190"/>
                <a:gd name="T28" fmla="*/ 629 w 1626"/>
                <a:gd name="T29" fmla="*/ 1157 h 1190"/>
                <a:gd name="T30" fmla="*/ 611 w 1626"/>
                <a:gd name="T31" fmla="*/ 1171 h 1190"/>
                <a:gd name="T32" fmla="*/ 591 w 1626"/>
                <a:gd name="T33" fmla="*/ 1182 h 1190"/>
                <a:gd name="T34" fmla="*/ 571 w 1626"/>
                <a:gd name="T35" fmla="*/ 1188 h 1190"/>
                <a:gd name="T36" fmla="*/ 550 w 1626"/>
                <a:gd name="T37" fmla="*/ 1190 h 1190"/>
                <a:gd name="T38" fmla="*/ 528 w 1626"/>
                <a:gd name="T39" fmla="*/ 1188 h 1190"/>
                <a:gd name="T40" fmla="*/ 507 w 1626"/>
                <a:gd name="T41" fmla="*/ 1182 h 1190"/>
                <a:gd name="T42" fmla="*/ 487 w 1626"/>
                <a:gd name="T43" fmla="*/ 1171 h 1190"/>
                <a:gd name="T44" fmla="*/ 470 w 1626"/>
                <a:gd name="T45" fmla="*/ 1157 h 1190"/>
                <a:gd name="T46" fmla="*/ 33 w 1626"/>
                <a:gd name="T47" fmla="*/ 720 h 1190"/>
                <a:gd name="T48" fmla="*/ 18 w 1626"/>
                <a:gd name="T49" fmla="*/ 702 h 1190"/>
                <a:gd name="T50" fmla="*/ 8 w 1626"/>
                <a:gd name="T51" fmla="*/ 682 h 1190"/>
                <a:gd name="T52" fmla="*/ 2 w 1626"/>
                <a:gd name="T53" fmla="*/ 662 h 1190"/>
                <a:gd name="T54" fmla="*/ 0 w 1626"/>
                <a:gd name="T55" fmla="*/ 640 h 1190"/>
                <a:gd name="T56" fmla="*/ 2 w 1626"/>
                <a:gd name="T57" fmla="*/ 619 h 1190"/>
                <a:gd name="T58" fmla="*/ 8 w 1626"/>
                <a:gd name="T59" fmla="*/ 598 h 1190"/>
                <a:gd name="T60" fmla="*/ 18 w 1626"/>
                <a:gd name="T61" fmla="*/ 578 h 1190"/>
                <a:gd name="T62" fmla="*/ 33 w 1626"/>
                <a:gd name="T63" fmla="*/ 561 h 1190"/>
                <a:gd name="T64" fmla="*/ 51 w 1626"/>
                <a:gd name="T65" fmla="*/ 546 h 1190"/>
                <a:gd name="T66" fmla="*/ 69 w 1626"/>
                <a:gd name="T67" fmla="*/ 536 h 1190"/>
                <a:gd name="T68" fmla="*/ 90 w 1626"/>
                <a:gd name="T69" fmla="*/ 529 h 1190"/>
                <a:gd name="T70" fmla="*/ 112 w 1626"/>
                <a:gd name="T71" fmla="*/ 527 h 1190"/>
                <a:gd name="T72" fmla="*/ 134 w 1626"/>
                <a:gd name="T73" fmla="*/ 529 h 1190"/>
                <a:gd name="T74" fmla="*/ 155 w 1626"/>
                <a:gd name="T75" fmla="*/ 536 h 1190"/>
                <a:gd name="T76" fmla="*/ 174 w 1626"/>
                <a:gd name="T77" fmla="*/ 546 h 1190"/>
                <a:gd name="T78" fmla="*/ 192 w 1626"/>
                <a:gd name="T79" fmla="*/ 561 h 1190"/>
                <a:gd name="T80" fmla="*/ 550 w 1626"/>
                <a:gd name="T81" fmla="*/ 918 h 1190"/>
                <a:gd name="T82" fmla="*/ 1434 w 1626"/>
                <a:gd name="T83" fmla="*/ 33 h 1190"/>
                <a:gd name="T84" fmla="*/ 1452 w 1626"/>
                <a:gd name="T85" fmla="*/ 19 h 1190"/>
                <a:gd name="T86" fmla="*/ 1471 w 1626"/>
                <a:gd name="T87" fmla="*/ 8 h 1190"/>
                <a:gd name="T88" fmla="*/ 1492 w 1626"/>
                <a:gd name="T89" fmla="*/ 2 h 1190"/>
                <a:gd name="T90" fmla="*/ 1514 w 1626"/>
                <a:gd name="T91" fmla="*/ 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26" h="1190">
                  <a:moveTo>
                    <a:pt x="1514" y="0"/>
                  </a:moveTo>
                  <a:lnTo>
                    <a:pt x="1536" y="2"/>
                  </a:lnTo>
                  <a:lnTo>
                    <a:pt x="1557" y="8"/>
                  </a:lnTo>
                  <a:lnTo>
                    <a:pt x="1575" y="19"/>
                  </a:lnTo>
                  <a:lnTo>
                    <a:pt x="1593" y="33"/>
                  </a:lnTo>
                  <a:lnTo>
                    <a:pt x="1608" y="51"/>
                  </a:lnTo>
                  <a:lnTo>
                    <a:pt x="1618" y="71"/>
                  </a:lnTo>
                  <a:lnTo>
                    <a:pt x="1624" y="92"/>
                  </a:lnTo>
                  <a:lnTo>
                    <a:pt x="1626" y="112"/>
                  </a:lnTo>
                  <a:lnTo>
                    <a:pt x="1624" y="134"/>
                  </a:lnTo>
                  <a:lnTo>
                    <a:pt x="1618" y="155"/>
                  </a:lnTo>
                  <a:lnTo>
                    <a:pt x="1608" y="175"/>
                  </a:lnTo>
                  <a:lnTo>
                    <a:pt x="1593" y="193"/>
                  </a:lnTo>
                  <a:lnTo>
                    <a:pt x="629" y="1157"/>
                  </a:lnTo>
                  <a:lnTo>
                    <a:pt x="629" y="1157"/>
                  </a:lnTo>
                  <a:lnTo>
                    <a:pt x="611" y="1171"/>
                  </a:lnTo>
                  <a:lnTo>
                    <a:pt x="591" y="1182"/>
                  </a:lnTo>
                  <a:lnTo>
                    <a:pt x="571" y="1188"/>
                  </a:lnTo>
                  <a:lnTo>
                    <a:pt x="550" y="1190"/>
                  </a:lnTo>
                  <a:lnTo>
                    <a:pt x="528" y="1188"/>
                  </a:lnTo>
                  <a:lnTo>
                    <a:pt x="507" y="1182"/>
                  </a:lnTo>
                  <a:lnTo>
                    <a:pt x="487" y="1171"/>
                  </a:lnTo>
                  <a:lnTo>
                    <a:pt x="470" y="1157"/>
                  </a:lnTo>
                  <a:lnTo>
                    <a:pt x="33" y="720"/>
                  </a:lnTo>
                  <a:lnTo>
                    <a:pt x="18" y="702"/>
                  </a:lnTo>
                  <a:lnTo>
                    <a:pt x="8" y="682"/>
                  </a:lnTo>
                  <a:lnTo>
                    <a:pt x="2" y="662"/>
                  </a:lnTo>
                  <a:lnTo>
                    <a:pt x="0" y="640"/>
                  </a:lnTo>
                  <a:lnTo>
                    <a:pt x="2" y="619"/>
                  </a:lnTo>
                  <a:lnTo>
                    <a:pt x="8" y="598"/>
                  </a:lnTo>
                  <a:lnTo>
                    <a:pt x="18" y="578"/>
                  </a:lnTo>
                  <a:lnTo>
                    <a:pt x="33" y="561"/>
                  </a:lnTo>
                  <a:lnTo>
                    <a:pt x="51" y="546"/>
                  </a:lnTo>
                  <a:lnTo>
                    <a:pt x="69" y="536"/>
                  </a:lnTo>
                  <a:lnTo>
                    <a:pt x="90" y="529"/>
                  </a:lnTo>
                  <a:lnTo>
                    <a:pt x="112" y="527"/>
                  </a:lnTo>
                  <a:lnTo>
                    <a:pt x="134" y="529"/>
                  </a:lnTo>
                  <a:lnTo>
                    <a:pt x="155" y="536"/>
                  </a:lnTo>
                  <a:lnTo>
                    <a:pt x="174" y="546"/>
                  </a:lnTo>
                  <a:lnTo>
                    <a:pt x="192" y="561"/>
                  </a:lnTo>
                  <a:lnTo>
                    <a:pt x="550" y="918"/>
                  </a:lnTo>
                  <a:lnTo>
                    <a:pt x="1434" y="33"/>
                  </a:lnTo>
                  <a:lnTo>
                    <a:pt x="1452" y="19"/>
                  </a:lnTo>
                  <a:lnTo>
                    <a:pt x="1471" y="8"/>
                  </a:lnTo>
                  <a:lnTo>
                    <a:pt x="1492" y="2"/>
                  </a:lnTo>
                  <a:lnTo>
                    <a:pt x="15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lumMod val="65000"/>
                  </a:schemeClr>
                </a:solidFill>
              </a:endParaRPr>
            </a:p>
          </p:txBody>
        </p:sp>
      </p:grpSp>
      <p:sp>
        <p:nvSpPr>
          <p:cNvPr id="14" name="Inhaltsplatzhalter 4">
            <a:extLst>
              <a:ext uri="{FF2B5EF4-FFF2-40B4-BE49-F238E27FC236}">
                <a16:creationId xmlns:a16="http://schemas.microsoft.com/office/drawing/2014/main" id="{BEFA9BA1-4371-41B6-8217-66502FA3E7D8}"/>
              </a:ext>
            </a:extLst>
          </p:cNvPr>
          <p:cNvSpPr txBox="1">
            <a:spLocks/>
          </p:cNvSpPr>
          <p:nvPr/>
        </p:nvSpPr>
        <p:spPr>
          <a:xfrm>
            <a:off x="996095" y="1766387"/>
            <a:ext cx="4272466" cy="1648656"/>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0000"/>
              </a:lnSpc>
              <a:buNone/>
            </a:pPr>
            <a:r>
              <a:rPr lang="en-US" sz="1600" b="1" dirty="0">
                <a:solidFill>
                  <a:schemeClr val="tx1"/>
                </a:solidFill>
                <a:latin typeface="Times New Roman" panose="02020603050405020304" pitchFamily="18" charset="0"/>
                <a:cs typeface="Times New Roman" panose="02020603050405020304" pitchFamily="18" charset="0"/>
              </a:rPr>
              <a:t>Objective 2</a:t>
            </a:r>
          </a:p>
          <a:p>
            <a:pPr marL="0" indent="0">
              <a:lnSpc>
                <a:spcPct val="130000"/>
              </a:lnSpc>
              <a:buNone/>
            </a:pPr>
            <a:r>
              <a:rPr lang="en-US" sz="1600" dirty="0">
                <a:solidFill>
                  <a:schemeClr val="tx1"/>
                </a:solidFill>
                <a:latin typeface="Times New Roman" panose="02020603050405020304" pitchFamily="18" charset="0"/>
                <a:cs typeface="Times New Roman" panose="02020603050405020304" pitchFamily="18" charset="0"/>
              </a:rPr>
              <a:t>To simulate the antenna in HFSS and evaluate its S11, VSWR, radiation pattern, and gain for stable wireless performance.</a:t>
            </a:r>
            <a:br>
              <a:rPr lang="en-US" sz="1600" b="1" dirty="0">
                <a:solidFill>
                  <a:schemeClr val="bg1">
                    <a:lumMod val="65000"/>
                  </a:schemeClr>
                </a:solidFill>
                <a:latin typeface="Times New Roman" panose="02020603050405020304" pitchFamily="18" charset="0"/>
                <a:cs typeface="Times New Roman" panose="02020603050405020304" pitchFamily="18" charset="0"/>
              </a:rPr>
            </a:br>
            <a:endParaRPr lang="en-US" sz="12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grpSp>
        <p:nvGrpSpPr>
          <p:cNvPr id="15" name="Group 14">
            <a:extLst>
              <a:ext uri="{FF2B5EF4-FFF2-40B4-BE49-F238E27FC236}">
                <a16:creationId xmlns:a16="http://schemas.microsoft.com/office/drawing/2014/main" id="{227914CA-7591-41CE-84B1-31503A44F1A1}"/>
              </a:ext>
            </a:extLst>
          </p:cNvPr>
          <p:cNvGrpSpPr/>
          <p:nvPr/>
        </p:nvGrpSpPr>
        <p:grpSpPr>
          <a:xfrm>
            <a:off x="396961" y="1757931"/>
            <a:ext cx="474222" cy="474222"/>
            <a:chOff x="2133600" y="3181350"/>
            <a:chExt cx="1362075" cy="1362075"/>
          </a:xfrm>
          <a:solidFill>
            <a:schemeClr val="accent2"/>
          </a:solidFill>
        </p:grpSpPr>
        <p:sp>
          <p:nvSpPr>
            <p:cNvPr id="16" name="Freeform 14">
              <a:extLst>
                <a:ext uri="{FF2B5EF4-FFF2-40B4-BE49-F238E27FC236}">
                  <a16:creationId xmlns:a16="http://schemas.microsoft.com/office/drawing/2014/main" id="{4CB0E91A-9C68-453A-8314-382E35DBEBC9}"/>
                </a:ext>
              </a:extLst>
            </p:cNvPr>
            <p:cNvSpPr>
              <a:spLocks noEditPoints="1"/>
            </p:cNvSpPr>
            <p:nvPr/>
          </p:nvSpPr>
          <p:spPr bwMode="auto">
            <a:xfrm>
              <a:off x="2133600" y="3181350"/>
              <a:ext cx="1362075" cy="1362075"/>
            </a:xfrm>
            <a:custGeom>
              <a:avLst/>
              <a:gdLst>
                <a:gd name="T0" fmla="*/ 1428 w 3432"/>
                <a:gd name="T1" fmla="*/ 253 h 3432"/>
                <a:gd name="T2" fmla="*/ 1073 w 3432"/>
                <a:gd name="T3" fmla="*/ 371 h 3432"/>
                <a:gd name="T4" fmla="*/ 763 w 3432"/>
                <a:gd name="T5" fmla="*/ 570 h 3432"/>
                <a:gd name="T6" fmla="*/ 513 w 3432"/>
                <a:gd name="T7" fmla="*/ 836 h 3432"/>
                <a:gd name="T8" fmla="*/ 334 w 3432"/>
                <a:gd name="T9" fmla="*/ 1158 h 3432"/>
                <a:gd name="T10" fmla="*/ 237 w 3432"/>
                <a:gd name="T11" fmla="*/ 1522 h 3432"/>
                <a:gd name="T12" fmla="*/ 237 w 3432"/>
                <a:gd name="T13" fmla="*/ 1910 h 3432"/>
                <a:gd name="T14" fmla="*/ 334 w 3432"/>
                <a:gd name="T15" fmla="*/ 2274 h 3432"/>
                <a:gd name="T16" fmla="*/ 513 w 3432"/>
                <a:gd name="T17" fmla="*/ 2596 h 3432"/>
                <a:gd name="T18" fmla="*/ 763 w 3432"/>
                <a:gd name="T19" fmla="*/ 2862 h 3432"/>
                <a:gd name="T20" fmla="*/ 1073 w 3432"/>
                <a:gd name="T21" fmla="*/ 3061 h 3432"/>
                <a:gd name="T22" fmla="*/ 1428 w 3432"/>
                <a:gd name="T23" fmla="*/ 3179 h 3432"/>
                <a:gd name="T24" fmla="*/ 1814 w 3432"/>
                <a:gd name="T25" fmla="*/ 3204 h 3432"/>
                <a:gd name="T26" fmla="*/ 2187 w 3432"/>
                <a:gd name="T27" fmla="*/ 3130 h 3432"/>
                <a:gd name="T28" fmla="*/ 2520 w 3432"/>
                <a:gd name="T29" fmla="*/ 2971 h 3432"/>
                <a:gd name="T30" fmla="*/ 2802 w 3432"/>
                <a:gd name="T31" fmla="*/ 2737 h 3432"/>
                <a:gd name="T32" fmla="*/ 3018 w 3432"/>
                <a:gd name="T33" fmla="*/ 2441 h 3432"/>
                <a:gd name="T34" fmla="*/ 3157 w 3432"/>
                <a:gd name="T35" fmla="*/ 2097 h 3432"/>
                <a:gd name="T36" fmla="*/ 3207 w 3432"/>
                <a:gd name="T37" fmla="*/ 1716 h 3432"/>
                <a:gd name="T38" fmla="*/ 3157 w 3432"/>
                <a:gd name="T39" fmla="*/ 1335 h 3432"/>
                <a:gd name="T40" fmla="*/ 3018 w 3432"/>
                <a:gd name="T41" fmla="*/ 991 h 3432"/>
                <a:gd name="T42" fmla="*/ 2802 w 3432"/>
                <a:gd name="T43" fmla="*/ 695 h 3432"/>
                <a:gd name="T44" fmla="*/ 2520 w 3432"/>
                <a:gd name="T45" fmla="*/ 461 h 3432"/>
                <a:gd name="T46" fmla="*/ 2187 w 3432"/>
                <a:gd name="T47" fmla="*/ 302 h 3432"/>
                <a:gd name="T48" fmla="*/ 1814 w 3432"/>
                <a:gd name="T49" fmla="*/ 228 h 3432"/>
                <a:gd name="T50" fmla="*/ 1923 w 3432"/>
                <a:gd name="T51" fmla="*/ 12 h 3432"/>
                <a:gd name="T52" fmla="*/ 2314 w 3432"/>
                <a:gd name="T53" fmla="*/ 107 h 3432"/>
                <a:gd name="T54" fmla="*/ 2664 w 3432"/>
                <a:gd name="T55" fmla="*/ 287 h 3432"/>
                <a:gd name="T56" fmla="*/ 2963 w 3432"/>
                <a:gd name="T57" fmla="*/ 538 h 3432"/>
                <a:gd name="T58" fmla="*/ 3197 w 3432"/>
                <a:gd name="T59" fmla="*/ 851 h 3432"/>
                <a:gd name="T60" fmla="*/ 3356 w 3432"/>
                <a:gd name="T61" fmla="*/ 1213 h 3432"/>
                <a:gd name="T62" fmla="*/ 3429 w 3432"/>
                <a:gd name="T63" fmla="*/ 1612 h 3432"/>
                <a:gd name="T64" fmla="*/ 3404 w 3432"/>
                <a:gd name="T65" fmla="*/ 2024 h 3432"/>
                <a:gd name="T66" fmla="*/ 3287 w 3432"/>
                <a:gd name="T67" fmla="*/ 2406 h 3432"/>
                <a:gd name="T68" fmla="*/ 3089 w 3432"/>
                <a:gd name="T69" fmla="*/ 2745 h 3432"/>
                <a:gd name="T70" fmla="*/ 2820 w 3432"/>
                <a:gd name="T71" fmla="*/ 3027 h 3432"/>
                <a:gd name="T72" fmla="*/ 2495 w 3432"/>
                <a:gd name="T73" fmla="*/ 3245 h 3432"/>
                <a:gd name="T74" fmla="*/ 2123 w 3432"/>
                <a:gd name="T75" fmla="*/ 3383 h 3432"/>
                <a:gd name="T76" fmla="*/ 1715 w 3432"/>
                <a:gd name="T77" fmla="*/ 3432 h 3432"/>
                <a:gd name="T78" fmla="*/ 1309 w 3432"/>
                <a:gd name="T79" fmla="*/ 3383 h 3432"/>
                <a:gd name="T80" fmla="*/ 937 w 3432"/>
                <a:gd name="T81" fmla="*/ 3245 h 3432"/>
                <a:gd name="T82" fmla="*/ 610 w 3432"/>
                <a:gd name="T83" fmla="*/ 3027 h 3432"/>
                <a:gd name="T84" fmla="*/ 343 w 3432"/>
                <a:gd name="T85" fmla="*/ 2745 h 3432"/>
                <a:gd name="T86" fmla="*/ 145 w 3432"/>
                <a:gd name="T87" fmla="*/ 2406 h 3432"/>
                <a:gd name="T88" fmla="*/ 28 w 3432"/>
                <a:gd name="T89" fmla="*/ 2024 h 3432"/>
                <a:gd name="T90" fmla="*/ 3 w 3432"/>
                <a:gd name="T91" fmla="*/ 1612 h 3432"/>
                <a:gd name="T92" fmla="*/ 76 w 3432"/>
                <a:gd name="T93" fmla="*/ 1213 h 3432"/>
                <a:gd name="T94" fmla="*/ 235 w 3432"/>
                <a:gd name="T95" fmla="*/ 851 h 3432"/>
                <a:gd name="T96" fmla="*/ 469 w 3432"/>
                <a:gd name="T97" fmla="*/ 538 h 3432"/>
                <a:gd name="T98" fmla="*/ 768 w 3432"/>
                <a:gd name="T99" fmla="*/ 287 h 3432"/>
                <a:gd name="T100" fmla="*/ 1118 w 3432"/>
                <a:gd name="T101" fmla="*/ 107 h 3432"/>
                <a:gd name="T102" fmla="*/ 1509 w 3432"/>
                <a:gd name="T103" fmla="*/ 12 h 3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432" h="3432">
                  <a:moveTo>
                    <a:pt x="1715" y="225"/>
                  </a:moveTo>
                  <a:lnTo>
                    <a:pt x="1618" y="228"/>
                  </a:lnTo>
                  <a:lnTo>
                    <a:pt x="1522" y="237"/>
                  </a:lnTo>
                  <a:lnTo>
                    <a:pt x="1428" y="253"/>
                  </a:lnTo>
                  <a:lnTo>
                    <a:pt x="1335" y="275"/>
                  </a:lnTo>
                  <a:lnTo>
                    <a:pt x="1245" y="302"/>
                  </a:lnTo>
                  <a:lnTo>
                    <a:pt x="1158" y="334"/>
                  </a:lnTo>
                  <a:lnTo>
                    <a:pt x="1073" y="371"/>
                  </a:lnTo>
                  <a:lnTo>
                    <a:pt x="991" y="414"/>
                  </a:lnTo>
                  <a:lnTo>
                    <a:pt x="912" y="461"/>
                  </a:lnTo>
                  <a:lnTo>
                    <a:pt x="836" y="513"/>
                  </a:lnTo>
                  <a:lnTo>
                    <a:pt x="763" y="570"/>
                  </a:lnTo>
                  <a:lnTo>
                    <a:pt x="695" y="630"/>
                  </a:lnTo>
                  <a:lnTo>
                    <a:pt x="630" y="695"/>
                  </a:lnTo>
                  <a:lnTo>
                    <a:pt x="570" y="763"/>
                  </a:lnTo>
                  <a:lnTo>
                    <a:pt x="513" y="836"/>
                  </a:lnTo>
                  <a:lnTo>
                    <a:pt x="461" y="912"/>
                  </a:lnTo>
                  <a:lnTo>
                    <a:pt x="414" y="991"/>
                  </a:lnTo>
                  <a:lnTo>
                    <a:pt x="371" y="1073"/>
                  </a:lnTo>
                  <a:lnTo>
                    <a:pt x="334" y="1158"/>
                  </a:lnTo>
                  <a:lnTo>
                    <a:pt x="302" y="1245"/>
                  </a:lnTo>
                  <a:lnTo>
                    <a:pt x="275" y="1335"/>
                  </a:lnTo>
                  <a:lnTo>
                    <a:pt x="253" y="1428"/>
                  </a:lnTo>
                  <a:lnTo>
                    <a:pt x="237" y="1522"/>
                  </a:lnTo>
                  <a:lnTo>
                    <a:pt x="228" y="1618"/>
                  </a:lnTo>
                  <a:lnTo>
                    <a:pt x="225" y="1716"/>
                  </a:lnTo>
                  <a:lnTo>
                    <a:pt x="228" y="1814"/>
                  </a:lnTo>
                  <a:lnTo>
                    <a:pt x="237" y="1910"/>
                  </a:lnTo>
                  <a:lnTo>
                    <a:pt x="253" y="2004"/>
                  </a:lnTo>
                  <a:lnTo>
                    <a:pt x="275" y="2097"/>
                  </a:lnTo>
                  <a:lnTo>
                    <a:pt x="302" y="2187"/>
                  </a:lnTo>
                  <a:lnTo>
                    <a:pt x="334" y="2274"/>
                  </a:lnTo>
                  <a:lnTo>
                    <a:pt x="371" y="2359"/>
                  </a:lnTo>
                  <a:lnTo>
                    <a:pt x="414" y="2441"/>
                  </a:lnTo>
                  <a:lnTo>
                    <a:pt x="461" y="2520"/>
                  </a:lnTo>
                  <a:lnTo>
                    <a:pt x="513" y="2596"/>
                  </a:lnTo>
                  <a:lnTo>
                    <a:pt x="570" y="2669"/>
                  </a:lnTo>
                  <a:lnTo>
                    <a:pt x="630" y="2737"/>
                  </a:lnTo>
                  <a:lnTo>
                    <a:pt x="695" y="2802"/>
                  </a:lnTo>
                  <a:lnTo>
                    <a:pt x="763" y="2862"/>
                  </a:lnTo>
                  <a:lnTo>
                    <a:pt x="836" y="2919"/>
                  </a:lnTo>
                  <a:lnTo>
                    <a:pt x="912" y="2971"/>
                  </a:lnTo>
                  <a:lnTo>
                    <a:pt x="991" y="3018"/>
                  </a:lnTo>
                  <a:lnTo>
                    <a:pt x="1073" y="3061"/>
                  </a:lnTo>
                  <a:lnTo>
                    <a:pt x="1158" y="3098"/>
                  </a:lnTo>
                  <a:lnTo>
                    <a:pt x="1245" y="3130"/>
                  </a:lnTo>
                  <a:lnTo>
                    <a:pt x="1335" y="3157"/>
                  </a:lnTo>
                  <a:lnTo>
                    <a:pt x="1428" y="3179"/>
                  </a:lnTo>
                  <a:lnTo>
                    <a:pt x="1522" y="3195"/>
                  </a:lnTo>
                  <a:lnTo>
                    <a:pt x="1618" y="3204"/>
                  </a:lnTo>
                  <a:lnTo>
                    <a:pt x="1715" y="3207"/>
                  </a:lnTo>
                  <a:lnTo>
                    <a:pt x="1814" y="3204"/>
                  </a:lnTo>
                  <a:lnTo>
                    <a:pt x="1910" y="3195"/>
                  </a:lnTo>
                  <a:lnTo>
                    <a:pt x="2004" y="3179"/>
                  </a:lnTo>
                  <a:lnTo>
                    <a:pt x="2097" y="3157"/>
                  </a:lnTo>
                  <a:lnTo>
                    <a:pt x="2187" y="3130"/>
                  </a:lnTo>
                  <a:lnTo>
                    <a:pt x="2274" y="3098"/>
                  </a:lnTo>
                  <a:lnTo>
                    <a:pt x="2359" y="3061"/>
                  </a:lnTo>
                  <a:lnTo>
                    <a:pt x="2441" y="3018"/>
                  </a:lnTo>
                  <a:lnTo>
                    <a:pt x="2520" y="2971"/>
                  </a:lnTo>
                  <a:lnTo>
                    <a:pt x="2596" y="2919"/>
                  </a:lnTo>
                  <a:lnTo>
                    <a:pt x="2669" y="2862"/>
                  </a:lnTo>
                  <a:lnTo>
                    <a:pt x="2737" y="2802"/>
                  </a:lnTo>
                  <a:lnTo>
                    <a:pt x="2802" y="2737"/>
                  </a:lnTo>
                  <a:lnTo>
                    <a:pt x="2862" y="2669"/>
                  </a:lnTo>
                  <a:lnTo>
                    <a:pt x="2919" y="2596"/>
                  </a:lnTo>
                  <a:lnTo>
                    <a:pt x="2971" y="2520"/>
                  </a:lnTo>
                  <a:lnTo>
                    <a:pt x="3018" y="2441"/>
                  </a:lnTo>
                  <a:lnTo>
                    <a:pt x="3061" y="2359"/>
                  </a:lnTo>
                  <a:lnTo>
                    <a:pt x="3098" y="2274"/>
                  </a:lnTo>
                  <a:lnTo>
                    <a:pt x="3130" y="2187"/>
                  </a:lnTo>
                  <a:lnTo>
                    <a:pt x="3157" y="2097"/>
                  </a:lnTo>
                  <a:lnTo>
                    <a:pt x="3179" y="2004"/>
                  </a:lnTo>
                  <a:lnTo>
                    <a:pt x="3195" y="1910"/>
                  </a:lnTo>
                  <a:lnTo>
                    <a:pt x="3204" y="1814"/>
                  </a:lnTo>
                  <a:lnTo>
                    <a:pt x="3207" y="1716"/>
                  </a:lnTo>
                  <a:lnTo>
                    <a:pt x="3204" y="1618"/>
                  </a:lnTo>
                  <a:lnTo>
                    <a:pt x="3195" y="1522"/>
                  </a:lnTo>
                  <a:lnTo>
                    <a:pt x="3179" y="1428"/>
                  </a:lnTo>
                  <a:lnTo>
                    <a:pt x="3157" y="1335"/>
                  </a:lnTo>
                  <a:lnTo>
                    <a:pt x="3130" y="1245"/>
                  </a:lnTo>
                  <a:lnTo>
                    <a:pt x="3098" y="1158"/>
                  </a:lnTo>
                  <a:lnTo>
                    <a:pt x="3061" y="1073"/>
                  </a:lnTo>
                  <a:lnTo>
                    <a:pt x="3018" y="991"/>
                  </a:lnTo>
                  <a:lnTo>
                    <a:pt x="2971" y="912"/>
                  </a:lnTo>
                  <a:lnTo>
                    <a:pt x="2919" y="836"/>
                  </a:lnTo>
                  <a:lnTo>
                    <a:pt x="2862" y="763"/>
                  </a:lnTo>
                  <a:lnTo>
                    <a:pt x="2802" y="695"/>
                  </a:lnTo>
                  <a:lnTo>
                    <a:pt x="2737" y="630"/>
                  </a:lnTo>
                  <a:lnTo>
                    <a:pt x="2669" y="570"/>
                  </a:lnTo>
                  <a:lnTo>
                    <a:pt x="2596" y="513"/>
                  </a:lnTo>
                  <a:lnTo>
                    <a:pt x="2520" y="461"/>
                  </a:lnTo>
                  <a:lnTo>
                    <a:pt x="2441" y="414"/>
                  </a:lnTo>
                  <a:lnTo>
                    <a:pt x="2359" y="371"/>
                  </a:lnTo>
                  <a:lnTo>
                    <a:pt x="2274" y="334"/>
                  </a:lnTo>
                  <a:lnTo>
                    <a:pt x="2187" y="302"/>
                  </a:lnTo>
                  <a:lnTo>
                    <a:pt x="2097" y="275"/>
                  </a:lnTo>
                  <a:lnTo>
                    <a:pt x="2004" y="253"/>
                  </a:lnTo>
                  <a:lnTo>
                    <a:pt x="1910" y="237"/>
                  </a:lnTo>
                  <a:lnTo>
                    <a:pt x="1814" y="228"/>
                  </a:lnTo>
                  <a:lnTo>
                    <a:pt x="1715" y="225"/>
                  </a:lnTo>
                  <a:close/>
                  <a:moveTo>
                    <a:pt x="1715" y="0"/>
                  </a:moveTo>
                  <a:lnTo>
                    <a:pt x="1820" y="3"/>
                  </a:lnTo>
                  <a:lnTo>
                    <a:pt x="1923" y="12"/>
                  </a:lnTo>
                  <a:lnTo>
                    <a:pt x="2024" y="28"/>
                  </a:lnTo>
                  <a:lnTo>
                    <a:pt x="2123" y="49"/>
                  </a:lnTo>
                  <a:lnTo>
                    <a:pt x="2219" y="76"/>
                  </a:lnTo>
                  <a:lnTo>
                    <a:pt x="2314" y="107"/>
                  </a:lnTo>
                  <a:lnTo>
                    <a:pt x="2406" y="145"/>
                  </a:lnTo>
                  <a:lnTo>
                    <a:pt x="2495" y="187"/>
                  </a:lnTo>
                  <a:lnTo>
                    <a:pt x="2581" y="235"/>
                  </a:lnTo>
                  <a:lnTo>
                    <a:pt x="2664" y="287"/>
                  </a:lnTo>
                  <a:lnTo>
                    <a:pt x="2745" y="343"/>
                  </a:lnTo>
                  <a:lnTo>
                    <a:pt x="2820" y="405"/>
                  </a:lnTo>
                  <a:lnTo>
                    <a:pt x="2894" y="469"/>
                  </a:lnTo>
                  <a:lnTo>
                    <a:pt x="2963" y="538"/>
                  </a:lnTo>
                  <a:lnTo>
                    <a:pt x="3027" y="612"/>
                  </a:lnTo>
                  <a:lnTo>
                    <a:pt x="3089" y="687"/>
                  </a:lnTo>
                  <a:lnTo>
                    <a:pt x="3145" y="768"/>
                  </a:lnTo>
                  <a:lnTo>
                    <a:pt x="3197" y="851"/>
                  </a:lnTo>
                  <a:lnTo>
                    <a:pt x="3245" y="937"/>
                  </a:lnTo>
                  <a:lnTo>
                    <a:pt x="3287" y="1026"/>
                  </a:lnTo>
                  <a:lnTo>
                    <a:pt x="3325" y="1118"/>
                  </a:lnTo>
                  <a:lnTo>
                    <a:pt x="3356" y="1213"/>
                  </a:lnTo>
                  <a:lnTo>
                    <a:pt x="3383" y="1309"/>
                  </a:lnTo>
                  <a:lnTo>
                    <a:pt x="3404" y="1408"/>
                  </a:lnTo>
                  <a:lnTo>
                    <a:pt x="3420" y="1509"/>
                  </a:lnTo>
                  <a:lnTo>
                    <a:pt x="3429" y="1612"/>
                  </a:lnTo>
                  <a:lnTo>
                    <a:pt x="3432" y="1716"/>
                  </a:lnTo>
                  <a:lnTo>
                    <a:pt x="3429" y="1820"/>
                  </a:lnTo>
                  <a:lnTo>
                    <a:pt x="3420" y="1923"/>
                  </a:lnTo>
                  <a:lnTo>
                    <a:pt x="3404" y="2024"/>
                  </a:lnTo>
                  <a:lnTo>
                    <a:pt x="3383" y="2123"/>
                  </a:lnTo>
                  <a:lnTo>
                    <a:pt x="3356" y="2219"/>
                  </a:lnTo>
                  <a:lnTo>
                    <a:pt x="3325" y="2314"/>
                  </a:lnTo>
                  <a:lnTo>
                    <a:pt x="3287" y="2406"/>
                  </a:lnTo>
                  <a:lnTo>
                    <a:pt x="3245" y="2495"/>
                  </a:lnTo>
                  <a:lnTo>
                    <a:pt x="3197" y="2581"/>
                  </a:lnTo>
                  <a:lnTo>
                    <a:pt x="3145" y="2664"/>
                  </a:lnTo>
                  <a:lnTo>
                    <a:pt x="3089" y="2745"/>
                  </a:lnTo>
                  <a:lnTo>
                    <a:pt x="3027" y="2820"/>
                  </a:lnTo>
                  <a:lnTo>
                    <a:pt x="2963" y="2894"/>
                  </a:lnTo>
                  <a:lnTo>
                    <a:pt x="2894" y="2963"/>
                  </a:lnTo>
                  <a:lnTo>
                    <a:pt x="2820" y="3027"/>
                  </a:lnTo>
                  <a:lnTo>
                    <a:pt x="2745" y="3089"/>
                  </a:lnTo>
                  <a:lnTo>
                    <a:pt x="2664" y="3145"/>
                  </a:lnTo>
                  <a:lnTo>
                    <a:pt x="2581" y="3197"/>
                  </a:lnTo>
                  <a:lnTo>
                    <a:pt x="2495" y="3245"/>
                  </a:lnTo>
                  <a:lnTo>
                    <a:pt x="2406" y="3287"/>
                  </a:lnTo>
                  <a:lnTo>
                    <a:pt x="2314" y="3325"/>
                  </a:lnTo>
                  <a:lnTo>
                    <a:pt x="2219" y="3356"/>
                  </a:lnTo>
                  <a:lnTo>
                    <a:pt x="2123" y="3383"/>
                  </a:lnTo>
                  <a:lnTo>
                    <a:pt x="2024" y="3404"/>
                  </a:lnTo>
                  <a:lnTo>
                    <a:pt x="1923" y="3420"/>
                  </a:lnTo>
                  <a:lnTo>
                    <a:pt x="1820" y="3429"/>
                  </a:lnTo>
                  <a:lnTo>
                    <a:pt x="1715" y="3432"/>
                  </a:lnTo>
                  <a:lnTo>
                    <a:pt x="1612" y="3429"/>
                  </a:lnTo>
                  <a:lnTo>
                    <a:pt x="1509" y="3420"/>
                  </a:lnTo>
                  <a:lnTo>
                    <a:pt x="1408" y="3404"/>
                  </a:lnTo>
                  <a:lnTo>
                    <a:pt x="1309" y="3383"/>
                  </a:lnTo>
                  <a:lnTo>
                    <a:pt x="1213" y="3356"/>
                  </a:lnTo>
                  <a:lnTo>
                    <a:pt x="1118" y="3325"/>
                  </a:lnTo>
                  <a:lnTo>
                    <a:pt x="1025" y="3287"/>
                  </a:lnTo>
                  <a:lnTo>
                    <a:pt x="937" y="3245"/>
                  </a:lnTo>
                  <a:lnTo>
                    <a:pt x="851" y="3197"/>
                  </a:lnTo>
                  <a:lnTo>
                    <a:pt x="768" y="3145"/>
                  </a:lnTo>
                  <a:lnTo>
                    <a:pt x="687" y="3089"/>
                  </a:lnTo>
                  <a:lnTo>
                    <a:pt x="610" y="3027"/>
                  </a:lnTo>
                  <a:lnTo>
                    <a:pt x="538" y="2963"/>
                  </a:lnTo>
                  <a:lnTo>
                    <a:pt x="469" y="2894"/>
                  </a:lnTo>
                  <a:lnTo>
                    <a:pt x="405" y="2820"/>
                  </a:lnTo>
                  <a:lnTo>
                    <a:pt x="343" y="2745"/>
                  </a:lnTo>
                  <a:lnTo>
                    <a:pt x="287" y="2664"/>
                  </a:lnTo>
                  <a:lnTo>
                    <a:pt x="235" y="2581"/>
                  </a:lnTo>
                  <a:lnTo>
                    <a:pt x="187" y="2495"/>
                  </a:lnTo>
                  <a:lnTo>
                    <a:pt x="145" y="2406"/>
                  </a:lnTo>
                  <a:lnTo>
                    <a:pt x="107" y="2314"/>
                  </a:lnTo>
                  <a:lnTo>
                    <a:pt x="76" y="2219"/>
                  </a:lnTo>
                  <a:lnTo>
                    <a:pt x="49" y="2123"/>
                  </a:lnTo>
                  <a:lnTo>
                    <a:pt x="28" y="2024"/>
                  </a:lnTo>
                  <a:lnTo>
                    <a:pt x="12" y="1923"/>
                  </a:lnTo>
                  <a:lnTo>
                    <a:pt x="3" y="1820"/>
                  </a:lnTo>
                  <a:lnTo>
                    <a:pt x="0" y="1716"/>
                  </a:lnTo>
                  <a:lnTo>
                    <a:pt x="3" y="1612"/>
                  </a:lnTo>
                  <a:lnTo>
                    <a:pt x="12" y="1509"/>
                  </a:lnTo>
                  <a:lnTo>
                    <a:pt x="28" y="1408"/>
                  </a:lnTo>
                  <a:lnTo>
                    <a:pt x="49" y="1309"/>
                  </a:lnTo>
                  <a:lnTo>
                    <a:pt x="76" y="1213"/>
                  </a:lnTo>
                  <a:lnTo>
                    <a:pt x="107" y="1118"/>
                  </a:lnTo>
                  <a:lnTo>
                    <a:pt x="145" y="1026"/>
                  </a:lnTo>
                  <a:lnTo>
                    <a:pt x="187" y="937"/>
                  </a:lnTo>
                  <a:lnTo>
                    <a:pt x="235" y="851"/>
                  </a:lnTo>
                  <a:lnTo>
                    <a:pt x="287" y="768"/>
                  </a:lnTo>
                  <a:lnTo>
                    <a:pt x="343" y="687"/>
                  </a:lnTo>
                  <a:lnTo>
                    <a:pt x="405" y="612"/>
                  </a:lnTo>
                  <a:lnTo>
                    <a:pt x="469" y="538"/>
                  </a:lnTo>
                  <a:lnTo>
                    <a:pt x="538" y="469"/>
                  </a:lnTo>
                  <a:lnTo>
                    <a:pt x="610" y="405"/>
                  </a:lnTo>
                  <a:lnTo>
                    <a:pt x="687" y="343"/>
                  </a:lnTo>
                  <a:lnTo>
                    <a:pt x="768" y="287"/>
                  </a:lnTo>
                  <a:lnTo>
                    <a:pt x="851" y="235"/>
                  </a:lnTo>
                  <a:lnTo>
                    <a:pt x="937" y="187"/>
                  </a:lnTo>
                  <a:lnTo>
                    <a:pt x="1025" y="145"/>
                  </a:lnTo>
                  <a:lnTo>
                    <a:pt x="1118" y="107"/>
                  </a:lnTo>
                  <a:lnTo>
                    <a:pt x="1213" y="76"/>
                  </a:lnTo>
                  <a:lnTo>
                    <a:pt x="1309" y="49"/>
                  </a:lnTo>
                  <a:lnTo>
                    <a:pt x="1408" y="28"/>
                  </a:lnTo>
                  <a:lnTo>
                    <a:pt x="1509" y="12"/>
                  </a:lnTo>
                  <a:lnTo>
                    <a:pt x="1612" y="3"/>
                  </a:lnTo>
                  <a:lnTo>
                    <a:pt x="17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lumMod val="65000"/>
                  </a:schemeClr>
                </a:solidFill>
              </a:endParaRPr>
            </a:p>
          </p:txBody>
        </p:sp>
        <p:sp>
          <p:nvSpPr>
            <p:cNvPr id="17" name="Freeform 15">
              <a:extLst>
                <a:ext uri="{FF2B5EF4-FFF2-40B4-BE49-F238E27FC236}">
                  <a16:creationId xmlns:a16="http://schemas.microsoft.com/office/drawing/2014/main" id="{9DE1E48C-B311-41B1-991A-6A9F6F948D4D}"/>
                </a:ext>
              </a:extLst>
            </p:cNvPr>
            <p:cNvSpPr>
              <a:spLocks/>
            </p:cNvSpPr>
            <p:nvPr/>
          </p:nvSpPr>
          <p:spPr bwMode="auto">
            <a:xfrm>
              <a:off x="2492375" y="3625850"/>
              <a:ext cx="644525" cy="473075"/>
            </a:xfrm>
            <a:custGeom>
              <a:avLst/>
              <a:gdLst>
                <a:gd name="T0" fmla="*/ 1514 w 1626"/>
                <a:gd name="T1" fmla="*/ 0 h 1190"/>
                <a:gd name="T2" fmla="*/ 1536 w 1626"/>
                <a:gd name="T3" fmla="*/ 2 h 1190"/>
                <a:gd name="T4" fmla="*/ 1557 w 1626"/>
                <a:gd name="T5" fmla="*/ 8 h 1190"/>
                <a:gd name="T6" fmla="*/ 1575 w 1626"/>
                <a:gd name="T7" fmla="*/ 19 h 1190"/>
                <a:gd name="T8" fmla="*/ 1593 w 1626"/>
                <a:gd name="T9" fmla="*/ 33 h 1190"/>
                <a:gd name="T10" fmla="*/ 1608 w 1626"/>
                <a:gd name="T11" fmla="*/ 51 h 1190"/>
                <a:gd name="T12" fmla="*/ 1618 w 1626"/>
                <a:gd name="T13" fmla="*/ 71 h 1190"/>
                <a:gd name="T14" fmla="*/ 1624 w 1626"/>
                <a:gd name="T15" fmla="*/ 92 h 1190"/>
                <a:gd name="T16" fmla="*/ 1626 w 1626"/>
                <a:gd name="T17" fmla="*/ 112 h 1190"/>
                <a:gd name="T18" fmla="*/ 1624 w 1626"/>
                <a:gd name="T19" fmla="*/ 134 h 1190"/>
                <a:gd name="T20" fmla="*/ 1618 w 1626"/>
                <a:gd name="T21" fmla="*/ 155 h 1190"/>
                <a:gd name="T22" fmla="*/ 1608 w 1626"/>
                <a:gd name="T23" fmla="*/ 175 h 1190"/>
                <a:gd name="T24" fmla="*/ 1593 w 1626"/>
                <a:gd name="T25" fmla="*/ 193 h 1190"/>
                <a:gd name="T26" fmla="*/ 629 w 1626"/>
                <a:gd name="T27" fmla="*/ 1157 h 1190"/>
                <a:gd name="T28" fmla="*/ 629 w 1626"/>
                <a:gd name="T29" fmla="*/ 1157 h 1190"/>
                <a:gd name="T30" fmla="*/ 611 w 1626"/>
                <a:gd name="T31" fmla="*/ 1171 h 1190"/>
                <a:gd name="T32" fmla="*/ 591 w 1626"/>
                <a:gd name="T33" fmla="*/ 1182 h 1190"/>
                <a:gd name="T34" fmla="*/ 571 w 1626"/>
                <a:gd name="T35" fmla="*/ 1188 h 1190"/>
                <a:gd name="T36" fmla="*/ 550 w 1626"/>
                <a:gd name="T37" fmla="*/ 1190 h 1190"/>
                <a:gd name="T38" fmla="*/ 528 w 1626"/>
                <a:gd name="T39" fmla="*/ 1188 h 1190"/>
                <a:gd name="T40" fmla="*/ 507 w 1626"/>
                <a:gd name="T41" fmla="*/ 1182 h 1190"/>
                <a:gd name="T42" fmla="*/ 487 w 1626"/>
                <a:gd name="T43" fmla="*/ 1171 h 1190"/>
                <a:gd name="T44" fmla="*/ 470 w 1626"/>
                <a:gd name="T45" fmla="*/ 1157 h 1190"/>
                <a:gd name="T46" fmla="*/ 33 w 1626"/>
                <a:gd name="T47" fmla="*/ 720 h 1190"/>
                <a:gd name="T48" fmla="*/ 18 w 1626"/>
                <a:gd name="T49" fmla="*/ 702 h 1190"/>
                <a:gd name="T50" fmla="*/ 8 w 1626"/>
                <a:gd name="T51" fmla="*/ 682 h 1190"/>
                <a:gd name="T52" fmla="*/ 2 w 1626"/>
                <a:gd name="T53" fmla="*/ 662 h 1190"/>
                <a:gd name="T54" fmla="*/ 0 w 1626"/>
                <a:gd name="T55" fmla="*/ 640 h 1190"/>
                <a:gd name="T56" fmla="*/ 2 w 1626"/>
                <a:gd name="T57" fmla="*/ 619 h 1190"/>
                <a:gd name="T58" fmla="*/ 8 w 1626"/>
                <a:gd name="T59" fmla="*/ 598 h 1190"/>
                <a:gd name="T60" fmla="*/ 18 w 1626"/>
                <a:gd name="T61" fmla="*/ 578 h 1190"/>
                <a:gd name="T62" fmla="*/ 33 w 1626"/>
                <a:gd name="T63" fmla="*/ 561 h 1190"/>
                <a:gd name="T64" fmla="*/ 51 w 1626"/>
                <a:gd name="T65" fmla="*/ 546 h 1190"/>
                <a:gd name="T66" fmla="*/ 69 w 1626"/>
                <a:gd name="T67" fmla="*/ 536 h 1190"/>
                <a:gd name="T68" fmla="*/ 90 w 1626"/>
                <a:gd name="T69" fmla="*/ 529 h 1190"/>
                <a:gd name="T70" fmla="*/ 112 w 1626"/>
                <a:gd name="T71" fmla="*/ 527 h 1190"/>
                <a:gd name="T72" fmla="*/ 134 w 1626"/>
                <a:gd name="T73" fmla="*/ 529 h 1190"/>
                <a:gd name="T74" fmla="*/ 155 w 1626"/>
                <a:gd name="T75" fmla="*/ 536 h 1190"/>
                <a:gd name="T76" fmla="*/ 174 w 1626"/>
                <a:gd name="T77" fmla="*/ 546 h 1190"/>
                <a:gd name="T78" fmla="*/ 192 w 1626"/>
                <a:gd name="T79" fmla="*/ 561 h 1190"/>
                <a:gd name="T80" fmla="*/ 550 w 1626"/>
                <a:gd name="T81" fmla="*/ 918 h 1190"/>
                <a:gd name="T82" fmla="*/ 1434 w 1626"/>
                <a:gd name="T83" fmla="*/ 33 h 1190"/>
                <a:gd name="T84" fmla="*/ 1452 w 1626"/>
                <a:gd name="T85" fmla="*/ 19 h 1190"/>
                <a:gd name="T86" fmla="*/ 1471 w 1626"/>
                <a:gd name="T87" fmla="*/ 8 h 1190"/>
                <a:gd name="T88" fmla="*/ 1492 w 1626"/>
                <a:gd name="T89" fmla="*/ 2 h 1190"/>
                <a:gd name="T90" fmla="*/ 1514 w 1626"/>
                <a:gd name="T91" fmla="*/ 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26" h="1190">
                  <a:moveTo>
                    <a:pt x="1514" y="0"/>
                  </a:moveTo>
                  <a:lnTo>
                    <a:pt x="1536" y="2"/>
                  </a:lnTo>
                  <a:lnTo>
                    <a:pt x="1557" y="8"/>
                  </a:lnTo>
                  <a:lnTo>
                    <a:pt x="1575" y="19"/>
                  </a:lnTo>
                  <a:lnTo>
                    <a:pt x="1593" y="33"/>
                  </a:lnTo>
                  <a:lnTo>
                    <a:pt x="1608" y="51"/>
                  </a:lnTo>
                  <a:lnTo>
                    <a:pt x="1618" y="71"/>
                  </a:lnTo>
                  <a:lnTo>
                    <a:pt x="1624" y="92"/>
                  </a:lnTo>
                  <a:lnTo>
                    <a:pt x="1626" y="112"/>
                  </a:lnTo>
                  <a:lnTo>
                    <a:pt x="1624" y="134"/>
                  </a:lnTo>
                  <a:lnTo>
                    <a:pt x="1618" y="155"/>
                  </a:lnTo>
                  <a:lnTo>
                    <a:pt x="1608" y="175"/>
                  </a:lnTo>
                  <a:lnTo>
                    <a:pt x="1593" y="193"/>
                  </a:lnTo>
                  <a:lnTo>
                    <a:pt x="629" y="1157"/>
                  </a:lnTo>
                  <a:lnTo>
                    <a:pt x="629" y="1157"/>
                  </a:lnTo>
                  <a:lnTo>
                    <a:pt x="611" y="1171"/>
                  </a:lnTo>
                  <a:lnTo>
                    <a:pt x="591" y="1182"/>
                  </a:lnTo>
                  <a:lnTo>
                    <a:pt x="571" y="1188"/>
                  </a:lnTo>
                  <a:lnTo>
                    <a:pt x="550" y="1190"/>
                  </a:lnTo>
                  <a:lnTo>
                    <a:pt x="528" y="1188"/>
                  </a:lnTo>
                  <a:lnTo>
                    <a:pt x="507" y="1182"/>
                  </a:lnTo>
                  <a:lnTo>
                    <a:pt x="487" y="1171"/>
                  </a:lnTo>
                  <a:lnTo>
                    <a:pt x="470" y="1157"/>
                  </a:lnTo>
                  <a:lnTo>
                    <a:pt x="33" y="720"/>
                  </a:lnTo>
                  <a:lnTo>
                    <a:pt x="18" y="702"/>
                  </a:lnTo>
                  <a:lnTo>
                    <a:pt x="8" y="682"/>
                  </a:lnTo>
                  <a:lnTo>
                    <a:pt x="2" y="662"/>
                  </a:lnTo>
                  <a:lnTo>
                    <a:pt x="0" y="640"/>
                  </a:lnTo>
                  <a:lnTo>
                    <a:pt x="2" y="619"/>
                  </a:lnTo>
                  <a:lnTo>
                    <a:pt x="8" y="598"/>
                  </a:lnTo>
                  <a:lnTo>
                    <a:pt x="18" y="578"/>
                  </a:lnTo>
                  <a:lnTo>
                    <a:pt x="33" y="561"/>
                  </a:lnTo>
                  <a:lnTo>
                    <a:pt x="51" y="546"/>
                  </a:lnTo>
                  <a:lnTo>
                    <a:pt x="69" y="536"/>
                  </a:lnTo>
                  <a:lnTo>
                    <a:pt x="90" y="529"/>
                  </a:lnTo>
                  <a:lnTo>
                    <a:pt x="112" y="527"/>
                  </a:lnTo>
                  <a:lnTo>
                    <a:pt x="134" y="529"/>
                  </a:lnTo>
                  <a:lnTo>
                    <a:pt x="155" y="536"/>
                  </a:lnTo>
                  <a:lnTo>
                    <a:pt x="174" y="546"/>
                  </a:lnTo>
                  <a:lnTo>
                    <a:pt x="192" y="561"/>
                  </a:lnTo>
                  <a:lnTo>
                    <a:pt x="550" y="918"/>
                  </a:lnTo>
                  <a:lnTo>
                    <a:pt x="1434" y="33"/>
                  </a:lnTo>
                  <a:lnTo>
                    <a:pt x="1452" y="19"/>
                  </a:lnTo>
                  <a:lnTo>
                    <a:pt x="1471" y="8"/>
                  </a:lnTo>
                  <a:lnTo>
                    <a:pt x="1492" y="2"/>
                  </a:lnTo>
                  <a:lnTo>
                    <a:pt x="15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lumMod val="65000"/>
                  </a:schemeClr>
                </a:solidFill>
              </a:endParaRPr>
            </a:p>
          </p:txBody>
        </p:sp>
      </p:grpSp>
      <p:sp>
        <p:nvSpPr>
          <p:cNvPr id="18" name="Inhaltsplatzhalter 4">
            <a:extLst>
              <a:ext uri="{FF2B5EF4-FFF2-40B4-BE49-F238E27FC236}">
                <a16:creationId xmlns:a16="http://schemas.microsoft.com/office/drawing/2014/main" id="{911341F2-6393-4BA3-97A2-B5E6878C22BE}"/>
              </a:ext>
            </a:extLst>
          </p:cNvPr>
          <p:cNvSpPr txBox="1">
            <a:spLocks/>
          </p:cNvSpPr>
          <p:nvPr/>
        </p:nvSpPr>
        <p:spPr>
          <a:xfrm>
            <a:off x="947001" y="3216801"/>
            <a:ext cx="4062192" cy="92833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0000"/>
              </a:lnSpc>
              <a:buNone/>
            </a:pPr>
            <a:r>
              <a:rPr lang="en-US" sz="1600" b="1" dirty="0">
                <a:solidFill>
                  <a:schemeClr val="tx1"/>
                </a:solidFill>
                <a:latin typeface="Times New Roman" panose="02020603050405020304" pitchFamily="18" charset="0"/>
                <a:cs typeface="Times New Roman" panose="02020603050405020304" pitchFamily="18" charset="0"/>
              </a:rPr>
              <a:t>Objective 3 </a:t>
            </a:r>
            <a:br>
              <a:rPr lang="en-US" sz="1600" b="1" dirty="0">
                <a:solidFill>
                  <a:schemeClr val="bg1">
                    <a:lumMod val="65000"/>
                  </a:schemeClr>
                </a:solidFill>
                <a:latin typeface="Times New Roman" panose="02020603050405020304" pitchFamily="18" charset="0"/>
                <a:cs typeface="Times New Roman" panose="02020603050405020304" pitchFamily="18" charset="0"/>
              </a:rPr>
            </a:br>
            <a:r>
              <a:rPr lang="en-US" sz="1600" dirty="0">
                <a:solidFill>
                  <a:schemeClr val="tx1"/>
                </a:solidFill>
                <a:latin typeface="Times New Roman" panose="02020603050405020304" pitchFamily="18" charset="0"/>
                <a:cs typeface="Times New Roman" panose="02020603050405020304" pitchFamily="18" charset="0"/>
              </a:rPr>
              <a:t>Enhance antenna performance with slots and feeding methods.</a:t>
            </a:r>
          </a:p>
        </p:txBody>
      </p:sp>
      <p:grpSp>
        <p:nvGrpSpPr>
          <p:cNvPr id="19" name="Group 18">
            <a:extLst>
              <a:ext uri="{FF2B5EF4-FFF2-40B4-BE49-F238E27FC236}">
                <a16:creationId xmlns:a16="http://schemas.microsoft.com/office/drawing/2014/main" id="{CA1F2812-3A75-4EA2-8FBB-2F68FAC12F6C}"/>
              </a:ext>
            </a:extLst>
          </p:cNvPr>
          <p:cNvGrpSpPr/>
          <p:nvPr/>
        </p:nvGrpSpPr>
        <p:grpSpPr>
          <a:xfrm>
            <a:off x="399618" y="3068845"/>
            <a:ext cx="474222" cy="474222"/>
            <a:chOff x="2133600" y="3181350"/>
            <a:chExt cx="1362075" cy="1362075"/>
          </a:xfrm>
          <a:solidFill>
            <a:schemeClr val="accent3"/>
          </a:solidFill>
        </p:grpSpPr>
        <p:sp>
          <p:nvSpPr>
            <p:cNvPr id="20" name="Freeform 14">
              <a:extLst>
                <a:ext uri="{FF2B5EF4-FFF2-40B4-BE49-F238E27FC236}">
                  <a16:creationId xmlns:a16="http://schemas.microsoft.com/office/drawing/2014/main" id="{E2346223-84A2-4B29-987C-F4578210EB6F}"/>
                </a:ext>
              </a:extLst>
            </p:cNvPr>
            <p:cNvSpPr>
              <a:spLocks noEditPoints="1"/>
            </p:cNvSpPr>
            <p:nvPr/>
          </p:nvSpPr>
          <p:spPr bwMode="auto">
            <a:xfrm>
              <a:off x="2133600" y="3181350"/>
              <a:ext cx="1362075" cy="1362075"/>
            </a:xfrm>
            <a:custGeom>
              <a:avLst/>
              <a:gdLst>
                <a:gd name="T0" fmla="*/ 1428 w 3432"/>
                <a:gd name="T1" fmla="*/ 253 h 3432"/>
                <a:gd name="T2" fmla="*/ 1073 w 3432"/>
                <a:gd name="T3" fmla="*/ 371 h 3432"/>
                <a:gd name="T4" fmla="*/ 763 w 3432"/>
                <a:gd name="T5" fmla="*/ 570 h 3432"/>
                <a:gd name="T6" fmla="*/ 513 w 3432"/>
                <a:gd name="T7" fmla="*/ 836 h 3432"/>
                <a:gd name="T8" fmla="*/ 334 w 3432"/>
                <a:gd name="T9" fmla="*/ 1158 h 3432"/>
                <a:gd name="T10" fmla="*/ 237 w 3432"/>
                <a:gd name="T11" fmla="*/ 1522 h 3432"/>
                <a:gd name="T12" fmla="*/ 237 w 3432"/>
                <a:gd name="T13" fmla="*/ 1910 h 3432"/>
                <a:gd name="T14" fmla="*/ 334 w 3432"/>
                <a:gd name="T15" fmla="*/ 2274 h 3432"/>
                <a:gd name="T16" fmla="*/ 513 w 3432"/>
                <a:gd name="T17" fmla="*/ 2596 h 3432"/>
                <a:gd name="T18" fmla="*/ 763 w 3432"/>
                <a:gd name="T19" fmla="*/ 2862 h 3432"/>
                <a:gd name="T20" fmla="*/ 1073 w 3432"/>
                <a:gd name="T21" fmla="*/ 3061 h 3432"/>
                <a:gd name="T22" fmla="*/ 1428 w 3432"/>
                <a:gd name="T23" fmla="*/ 3179 h 3432"/>
                <a:gd name="T24" fmla="*/ 1814 w 3432"/>
                <a:gd name="T25" fmla="*/ 3204 h 3432"/>
                <a:gd name="T26" fmla="*/ 2187 w 3432"/>
                <a:gd name="T27" fmla="*/ 3130 h 3432"/>
                <a:gd name="T28" fmla="*/ 2520 w 3432"/>
                <a:gd name="T29" fmla="*/ 2971 h 3432"/>
                <a:gd name="T30" fmla="*/ 2802 w 3432"/>
                <a:gd name="T31" fmla="*/ 2737 h 3432"/>
                <a:gd name="T32" fmla="*/ 3018 w 3432"/>
                <a:gd name="T33" fmla="*/ 2441 h 3432"/>
                <a:gd name="T34" fmla="*/ 3157 w 3432"/>
                <a:gd name="T35" fmla="*/ 2097 h 3432"/>
                <a:gd name="T36" fmla="*/ 3207 w 3432"/>
                <a:gd name="T37" fmla="*/ 1716 h 3432"/>
                <a:gd name="T38" fmla="*/ 3157 w 3432"/>
                <a:gd name="T39" fmla="*/ 1335 h 3432"/>
                <a:gd name="T40" fmla="*/ 3018 w 3432"/>
                <a:gd name="T41" fmla="*/ 991 h 3432"/>
                <a:gd name="T42" fmla="*/ 2802 w 3432"/>
                <a:gd name="T43" fmla="*/ 695 h 3432"/>
                <a:gd name="T44" fmla="*/ 2520 w 3432"/>
                <a:gd name="T45" fmla="*/ 461 h 3432"/>
                <a:gd name="T46" fmla="*/ 2187 w 3432"/>
                <a:gd name="T47" fmla="*/ 302 h 3432"/>
                <a:gd name="T48" fmla="*/ 1814 w 3432"/>
                <a:gd name="T49" fmla="*/ 228 h 3432"/>
                <a:gd name="T50" fmla="*/ 1923 w 3432"/>
                <a:gd name="T51" fmla="*/ 12 h 3432"/>
                <a:gd name="T52" fmla="*/ 2314 w 3432"/>
                <a:gd name="T53" fmla="*/ 107 h 3432"/>
                <a:gd name="T54" fmla="*/ 2664 w 3432"/>
                <a:gd name="T55" fmla="*/ 287 h 3432"/>
                <a:gd name="T56" fmla="*/ 2963 w 3432"/>
                <a:gd name="T57" fmla="*/ 538 h 3432"/>
                <a:gd name="T58" fmla="*/ 3197 w 3432"/>
                <a:gd name="T59" fmla="*/ 851 h 3432"/>
                <a:gd name="T60" fmla="*/ 3356 w 3432"/>
                <a:gd name="T61" fmla="*/ 1213 h 3432"/>
                <a:gd name="T62" fmla="*/ 3429 w 3432"/>
                <a:gd name="T63" fmla="*/ 1612 h 3432"/>
                <a:gd name="T64" fmla="*/ 3404 w 3432"/>
                <a:gd name="T65" fmla="*/ 2024 h 3432"/>
                <a:gd name="T66" fmla="*/ 3287 w 3432"/>
                <a:gd name="T67" fmla="*/ 2406 h 3432"/>
                <a:gd name="T68" fmla="*/ 3089 w 3432"/>
                <a:gd name="T69" fmla="*/ 2745 h 3432"/>
                <a:gd name="T70" fmla="*/ 2820 w 3432"/>
                <a:gd name="T71" fmla="*/ 3027 h 3432"/>
                <a:gd name="T72" fmla="*/ 2495 w 3432"/>
                <a:gd name="T73" fmla="*/ 3245 h 3432"/>
                <a:gd name="T74" fmla="*/ 2123 w 3432"/>
                <a:gd name="T75" fmla="*/ 3383 h 3432"/>
                <a:gd name="T76" fmla="*/ 1715 w 3432"/>
                <a:gd name="T77" fmla="*/ 3432 h 3432"/>
                <a:gd name="T78" fmla="*/ 1309 w 3432"/>
                <a:gd name="T79" fmla="*/ 3383 h 3432"/>
                <a:gd name="T80" fmla="*/ 937 w 3432"/>
                <a:gd name="T81" fmla="*/ 3245 h 3432"/>
                <a:gd name="T82" fmla="*/ 610 w 3432"/>
                <a:gd name="T83" fmla="*/ 3027 h 3432"/>
                <a:gd name="T84" fmla="*/ 343 w 3432"/>
                <a:gd name="T85" fmla="*/ 2745 h 3432"/>
                <a:gd name="T86" fmla="*/ 145 w 3432"/>
                <a:gd name="T87" fmla="*/ 2406 h 3432"/>
                <a:gd name="T88" fmla="*/ 28 w 3432"/>
                <a:gd name="T89" fmla="*/ 2024 h 3432"/>
                <a:gd name="T90" fmla="*/ 3 w 3432"/>
                <a:gd name="T91" fmla="*/ 1612 h 3432"/>
                <a:gd name="T92" fmla="*/ 76 w 3432"/>
                <a:gd name="T93" fmla="*/ 1213 h 3432"/>
                <a:gd name="T94" fmla="*/ 235 w 3432"/>
                <a:gd name="T95" fmla="*/ 851 h 3432"/>
                <a:gd name="T96" fmla="*/ 469 w 3432"/>
                <a:gd name="T97" fmla="*/ 538 h 3432"/>
                <a:gd name="T98" fmla="*/ 768 w 3432"/>
                <a:gd name="T99" fmla="*/ 287 h 3432"/>
                <a:gd name="T100" fmla="*/ 1118 w 3432"/>
                <a:gd name="T101" fmla="*/ 107 h 3432"/>
                <a:gd name="T102" fmla="*/ 1509 w 3432"/>
                <a:gd name="T103" fmla="*/ 12 h 3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432" h="3432">
                  <a:moveTo>
                    <a:pt x="1715" y="225"/>
                  </a:moveTo>
                  <a:lnTo>
                    <a:pt x="1618" y="228"/>
                  </a:lnTo>
                  <a:lnTo>
                    <a:pt x="1522" y="237"/>
                  </a:lnTo>
                  <a:lnTo>
                    <a:pt x="1428" y="253"/>
                  </a:lnTo>
                  <a:lnTo>
                    <a:pt x="1335" y="275"/>
                  </a:lnTo>
                  <a:lnTo>
                    <a:pt x="1245" y="302"/>
                  </a:lnTo>
                  <a:lnTo>
                    <a:pt x="1158" y="334"/>
                  </a:lnTo>
                  <a:lnTo>
                    <a:pt x="1073" y="371"/>
                  </a:lnTo>
                  <a:lnTo>
                    <a:pt x="991" y="414"/>
                  </a:lnTo>
                  <a:lnTo>
                    <a:pt x="912" y="461"/>
                  </a:lnTo>
                  <a:lnTo>
                    <a:pt x="836" y="513"/>
                  </a:lnTo>
                  <a:lnTo>
                    <a:pt x="763" y="570"/>
                  </a:lnTo>
                  <a:lnTo>
                    <a:pt x="695" y="630"/>
                  </a:lnTo>
                  <a:lnTo>
                    <a:pt x="630" y="695"/>
                  </a:lnTo>
                  <a:lnTo>
                    <a:pt x="570" y="763"/>
                  </a:lnTo>
                  <a:lnTo>
                    <a:pt x="513" y="836"/>
                  </a:lnTo>
                  <a:lnTo>
                    <a:pt x="461" y="912"/>
                  </a:lnTo>
                  <a:lnTo>
                    <a:pt x="414" y="991"/>
                  </a:lnTo>
                  <a:lnTo>
                    <a:pt x="371" y="1073"/>
                  </a:lnTo>
                  <a:lnTo>
                    <a:pt x="334" y="1158"/>
                  </a:lnTo>
                  <a:lnTo>
                    <a:pt x="302" y="1245"/>
                  </a:lnTo>
                  <a:lnTo>
                    <a:pt x="275" y="1335"/>
                  </a:lnTo>
                  <a:lnTo>
                    <a:pt x="253" y="1428"/>
                  </a:lnTo>
                  <a:lnTo>
                    <a:pt x="237" y="1522"/>
                  </a:lnTo>
                  <a:lnTo>
                    <a:pt x="228" y="1618"/>
                  </a:lnTo>
                  <a:lnTo>
                    <a:pt x="225" y="1716"/>
                  </a:lnTo>
                  <a:lnTo>
                    <a:pt x="228" y="1814"/>
                  </a:lnTo>
                  <a:lnTo>
                    <a:pt x="237" y="1910"/>
                  </a:lnTo>
                  <a:lnTo>
                    <a:pt x="253" y="2004"/>
                  </a:lnTo>
                  <a:lnTo>
                    <a:pt x="275" y="2097"/>
                  </a:lnTo>
                  <a:lnTo>
                    <a:pt x="302" y="2187"/>
                  </a:lnTo>
                  <a:lnTo>
                    <a:pt x="334" y="2274"/>
                  </a:lnTo>
                  <a:lnTo>
                    <a:pt x="371" y="2359"/>
                  </a:lnTo>
                  <a:lnTo>
                    <a:pt x="414" y="2441"/>
                  </a:lnTo>
                  <a:lnTo>
                    <a:pt x="461" y="2520"/>
                  </a:lnTo>
                  <a:lnTo>
                    <a:pt x="513" y="2596"/>
                  </a:lnTo>
                  <a:lnTo>
                    <a:pt x="570" y="2669"/>
                  </a:lnTo>
                  <a:lnTo>
                    <a:pt x="630" y="2737"/>
                  </a:lnTo>
                  <a:lnTo>
                    <a:pt x="695" y="2802"/>
                  </a:lnTo>
                  <a:lnTo>
                    <a:pt x="763" y="2862"/>
                  </a:lnTo>
                  <a:lnTo>
                    <a:pt x="836" y="2919"/>
                  </a:lnTo>
                  <a:lnTo>
                    <a:pt x="912" y="2971"/>
                  </a:lnTo>
                  <a:lnTo>
                    <a:pt x="991" y="3018"/>
                  </a:lnTo>
                  <a:lnTo>
                    <a:pt x="1073" y="3061"/>
                  </a:lnTo>
                  <a:lnTo>
                    <a:pt x="1158" y="3098"/>
                  </a:lnTo>
                  <a:lnTo>
                    <a:pt x="1245" y="3130"/>
                  </a:lnTo>
                  <a:lnTo>
                    <a:pt x="1335" y="3157"/>
                  </a:lnTo>
                  <a:lnTo>
                    <a:pt x="1428" y="3179"/>
                  </a:lnTo>
                  <a:lnTo>
                    <a:pt x="1522" y="3195"/>
                  </a:lnTo>
                  <a:lnTo>
                    <a:pt x="1618" y="3204"/>
                  </a:lnTo>
                  <a:lnTo>
                    <a:pt x="1715" y="3207"/>
                  </a:lnTo>
                  <a:lnTo>
                    <a:pt x="1814" y="3204"/>
                  </a:lnTo>
                  <a:lnTo>
                    <a:pt x="1910" y="3195"/>
                  </a:lnTo>
                  <a:lnTo>
                    <a:pt x="2004" y="3179"/>
                  </a:lnTo>
                  <a:lnTo>
                    <a:pt x="2097" y="3157"/>
                  </a:lnTo>
                  <a:lnTo>
                    <a:pt x="2187" y="3130"/>
                  </a:lnTo>
                  <a:lnTo>
                    <a:pt x="2274" y="3098"/>
                  </a:lnTo>
                  <a:lnTo>
                    <a:pt x="2359" y="3061"/>
                  </a:lnTo>
                  <a:lnTo>
                    <a:pt x="2441" y="3018"/>
                  </a:lnTo>
                  <a:lnTo>
                    <a:pt x="2520" y="2971"/>
                  </a:lnTo>
                  <a:lnTo>
                    <a:pt x="2596" y="2919"/>
                  </a:lnTo>
                  <a:lnTo>
                    <a:pt x="2669" y="2862"/>
                  </a:lnTo>
                  <a:lnTo>
                    <a:pt x="2737" y="2802"/>
                  </a:lnTo>
                  <a:lnTo>
                    <a:pt x="2802" y="2737"/>
                  </a:lnTo>
                  <a:lnTo>
                    <a:pt x="2862" y="2669"/>
                  </a:lnTo>
                  <a:lnTo>
                    <a:pt x="2919" y="2596"/>
                  </a:lnTo>
                  <a:lnTo>
                    <a:pt x="2971" y="2520"/>
                  </a:lnTo>
                  <a:lnTo>
                    <a:pt x="3018" y="2441"/>
                  </a:lnTo>
                  <a:lnTo>
                    <a:pt x="3061" y="2359"/>
                  </a:lnTo>
                  <a:lnTo>
                    <a:pt x="3098" y="2274"/>
                  </a:lnTo>
                  <a:lnTo>
                    <a:pt x="3130" y="2187"/>
                  </a:lnTo>
                  <a:lnTo>
                    <a:pt x="3157" y="2097"/>
                  </a:lnTo>
                  <a:lnTo>
                    <a:pt x="3179" y="2004"/>
                  </a:lnTo>
                  <a:lnTo>
                    <a:pt x="3195" y="1910"/>
                  </a:lnTo>
                  <a:lnTo>
                    <a:pt x="3204" y="1814"/>
                  </a:lnTo>
                  <a:lnTo>
                    <a:pt x="3207" y="1716"/>
                  </a:lnTo>
                  <a:lnTo>
                    <a:pt x="3204" y="1618"/>
                  </a:lnTo>
                  <a:lnTo>
                    <a:pt x="3195" y="1522"/>
                  </a:lnTo>
                  <a:lnTo>
                    <a:pt x="3179" y="1428"/>
                  </a:lnTo>
                  <a:lnTo>
                    <a:pt x="3157" y="1335"/>
                  </a:lnTo>
                  <a:lnTo>
                    <a:pt x="3130" y="1245"/>
                  </a:lnTo>
                  <a:lnTo>
                    <a:pt x="3098" y="1158"/>
                  </a:lnTo>
                  <a:lnTo>
                    <a:pt x="3061" y="1073"/>
                  </a:lnTo>
                  <a:lnTo>
                    <a:pt x="3018" y="991"/>
                  </a:lnTo>
                  <a:lnTo>
                    <a:pt x="2971" y="912"/>
                  </a:lnTo>
                  <a:lnTo>
                    <a:pt x="2919" y="836"/>
                  </a:lnTo>
                  <a:lnTo>
                    <a:pt x="2862" y="763"/>
                  </a:lnTo>
                  <a:lnTo>
                    <a:pt x="2802" y="695"/>
                  </a:lnTo>
                  <a:lnTo>
                    <a:pt x="2737" y="630"/>
                  </a:lnTo>
                  <a:lnTo>
                    <a:pt x="2669" y="570"/>
                  </a:lnTo>
                  <a:lnTo>
                    <a:pt x="2596" y="513"/>
                  </a:lnTo>
                  <a:lnTo>
                    <a:pt x="2520" y="461"/>
                  </a:lnTo>
                  <a:lnTo>
                    <a:pt x="2441" y="414"/>
                  </a:lnTo>
                  <a:lnTo>
                    <a:pt x="2359" y="371"/>
                  </a:lnTo>
                  <a:lnTo>
                    <a:pt x="2274" y="334"/>
                  </a:lnTo>
                  <a:lnTo>
                    <a:pt x="2187" y="302"/>
                  </a:lnTo>
                  <a:lnTo>
                    <a:pt x="2097" y="275"/>
                  </a:lnTo>
                  <a:lnTo>
                    <a:pt x="2004" y="253"/>
                  </a:lnTo>
                  <a:lnTo>
                    <a:pt x="1910" y="237"/>
                  </a:lnTo>
                  <a:lnTo>
                    <a:pt x="1814" y="228"/>
                  </a:lnTo>
                  <a:lnTo>
                    <a:pt x="1715" y="225"/>
                  </a:lnTo>
                  <a:close/>
                  <a:moveTo>
                    <a:pt x="1715" y="0"/>
                  </a:moveTo>
                  <a:lnTo>
                    <a:pt x="1820" y="3"/>
                  </a:lnTo>
                  <a:lnTo>
                    <a:pt x="1923" y="12"/>
                  </a:lnTo>
                  <a:lnTo>
                    <a:pt x="2024" y="28"/>
                  </a:lnTo>
                  <a:lnTo>
                    <a:pt x="2123" y="49"/>
                  </a:lnTo>
                  <a:lnTo>
                    <a:pt x="2219" y="76"/>
                  </a:lnTo>
                  <a:lnTo>
                    <a:pt x="2314" y="107"/>
                  </a:lnTo>
                  <a:lnTo>
                    <a:pt x="2406" y="145"/>
                  </a:lnTo>
                  <a:lnTo>
                    <a:pt x="2495" y="187"/>
                  </a:lnTo>
                  <a:lnTo>
                    <a:pt x="2581" y="235"/>
                  </a:lnTo>
                  <a:lnTo>
                    <a:pt x="2664" y="287"/>
                  </a:lnTo>
                  <a:lnTo>
                    <a:pt x="2745" y="343"/>
                  </a:lnTo>
                  <a:lnTo>
                    <a:pt x="2820" y="405"/>
                  </a:lnTo>
                  <a:lnTo>
                    <a:pt x="2894" y="469"/>
                  </a:lnTo>
                  <a:lnTo>
                    <a:pt x="2963" y="538"/>
                  </a:lnTo>
                  <a:lnTo>
                    <a:pt x="3027" y="612"/>
                  </a:lnTo>
                  <a:lnTo>
                    <a:pt x="3089" y="687"/>
                  </a:lnTo>
                  <a:lnTo>
                    <a:pt x="3145" y="768"/>
                  </a:lnTo>
                  <a:lnTo>
                    <a:pt x="3197" y="851"/>
                  </a:lnTo>
                  <a:lnTo>
                    <a:pt x="3245" y="937"/>
                  </a:lnTo>
                  <a:lnTo>
                    <a:pt x="3287" y="1026"/>
                  </a:lnTo>
                  <a:lnTo>
                    <a:pt x="3325" y="1118"/>
                  </a:lnTo>
                  <a:lnTo>
                    <a:pt x="3356" y="1213"/>
                  </a:lnTo>
                  <a:lnTo>
                    <a:pt x="3383" y="1309"/>
                  </a:lnTo>
                  <a:lnTo>
                    <a:pt x="3404" y="1408"/>
                  </a:lnTo>
                  <a:lnTo>
                    <a:pt x="3420" y="1509"/>
                  </a:lnTo>
                  <a:lnTo>
                    <a:pt x="3429" y="1612"/>
                  </a:lnTo>
                  <a:lnTo>
                    <a:pt x="3432" y="1716"/>
                  </a:lnTo>
                  <a:lnTo>
                    <a:pt x="3429" y="1820"/>
                  </a:lnTo>
                  <a:lnTo>
                    <a:pt x="3420" y="1923"/>
                  </a:lnTo>
                  <a:lnTo>
                    <a:pt x="3404" y="2024"/>
                  </a:lnTo>
                  <a:lnTo>
                    <a:pt x="3383" y="2123"/>
                  </a:lnTo>
                  <a:lnTo>
                    <a:pt x="3356" y="2219"/>
                  </a:lnTo>
                  <a:lnTo>
                    <a:pt x="3325" y="2314"/>
                  </a:lnTo>
                  <a:lnTo>
                    <a:pt x="3287" y="2406"/>
                  </a:lnTo>
                  <a:lnTo>
                    <a:pt x="3245" y="2495"/>
                  </a:lnTo>
                  <a:lnTo>
                    <a:pt x="3197" y="2581"/>
                  </a:lnTo>
                  <a:lnTo>
                    <a:pt x="3145" y="2664"/>
                  </a:lnTo>
                  <a:lnTo>
                    <a:pt x="3089" y="2745"/>
                  </a:lnTo>
                  <a:lnTo>
                    <a:pt x="3027" y="2820"/>
                  </a:lnTo>
                  <a:lnTo>
                    <a:pt x="2963" y="2894"/>
                  </a:lnTo>
                  <a:lnTo>
                    <a:pt x="2894" y="2963"/>
                  </a:lnTo>
                  <a:lnTo>
                    <a:pt x="2820" y="3027"/>
                  </a:lnTo>
                  <a:lnTo>
                    <a:pt x="2745" y="3089"/>
                  </a:lnTo>
                  <a:lnTo>
                    <a:pt x="2664" y="3145"/>
                  </a:lnTo>
                  <a:lnTo>
                    <a:pt x="2581" y="3197"/>
                  </a:lnTo>
                  <a:lnTo>
                    <a:pt x="2495" y="3245"/>
                  </a:lnTo>
                  <a:lnTo>
                    <a:pt x="2406" y="3287"/>
                  </a:lnTo>
                  <a:lnTo>
                    <a:pt x="2314" y="3325"/>
                  </a:lnTo>
                  <a:lnTo>
                    <a:pt x="2219" y="3356"/>
                  </a:lnTo>
                  <a:lnTo>
                    <a:pt x="2123" y="3383"/>
                  </a:lnTo>
                  <a:lnTo>
                    <a:pt x="2024" y="3404"/>
                  </a:lnTo>
                  <a:lnTo>
                    <a:pt x="1923" y="3420"/>
                  </a:lnTo>
                  <a:lnTo>
                    <a:pt x="1820" y="3429"/>
                  </a:lnTo>
                  <a:lnTo>
                    <a:pt x="1715" y="3432"/>
                  </a:lnTo>
                  <a:lnTo>
                    <a:pt x="1612" y="3429"/>
                  </a:lnTo>
                  <a:lnTo>
                    <a:pt x="1509" y="3420"/>
                  </a:lnTo>
                  <a:lnTo>
                    <a:pt x="1408" y="3404"/>
                  </a:lnTo>
                  <a:lnTo>
                    <a:pt x="1309" y="3383"/>
                  </a:lnTo>
                  <a:lnTo>
                    <a:pt x="1213" y="3356"/>
                  </a:lnTo>
                  <a:lnTo>
                    <a:pt x="1118" y="3325"/>
                  </a:lnTo>
                  <a:lnTo>
                    <a:pt x="1025" y="3287"/>
                  </a:lnTo>
                  <a:lnTo>
                    <a:pt x="937" y="3245"/>
                  </a:lnTo>
                  <a:lnTo>
                    <a:pt x="851" y="3197"/>
                  </a:lnTo>
                  <a:lnTo>
                    <a:pt x="768" y="3145"/>
                  </a:lnTo>
                  <a:lnTo>
                    <a:pt x="687" y="3089"/>
                  </a:lnTo>
                  <a:lnTo>
                    <a:pt x="610" y="3027"/>
                  </a:lnTo>
                  <a:lnTo>
                    <a:pt x="538" y="2963"/>
                  </a:lnTo>
                  <a:lnTo>
                    <a:pt x="469" y="2894"/>
                  </a:lnTo>
                  <a:lnTo>
                    <a:pt x="405" y="2820"/>
                  </a:lnTo>
                  <a:lnTo>
                    <a:pt x="343" y="2745"/>
                  </a:lnTo>
                  <a:lnTo>
                    <a:pt x="287" y="2664"/>
                  </a:lnTo>
                  <a:lnTo>
                    <a:pt x="235" y="2581"/>
                  </a:lnTo>
                  <a:lnTo>
                    <a:pt x="187" y="2495"/>
                  </a:lnTo>
                  <a:lnTo>
                    <a:pt x="145" y="2406"/>
                  </a:lnTo>
                  <a:lnTo>
                    <a:pt x="107" y="2314"/>
                  </a:lnTo>
                  <a:lnTo>
                    <a:pt x="76" y="2219"/>
                  </a:lnTo>
                  <a:lnTo>
                    <a:pt x="49" y="2123"/>
                  </a:lnTo>
                  <a:lnTo>
                    <a:pt x="28" y="2024"/>
                  </a:lnTo>
                  <a:lnTo>
                    <a:pt x="12" y="1923"/>
                  </a:lnTo>
                  <a:lnTo>
                    <a:pt x="3" y="1820"/>
                  </a:lnTo>
                  <a:lnTo>
                    <a:pt x="0" y="1716"/>
                  </a:lnTo>
                  <a:lnTo>
                    <a:pt x="3" y="1612"/>
                  </a:lnTo>
                  <a:lnTo>
                    <a:pt x="12" y="1509"/>
                  </a:lnTo>
                  <a:lnTo>
                    <a:pt x="28" y="1408"/>
                  </a:lnTo>
                  <a:lnTo>
                    <a:pt x="49" y="1309"/>
                  </a:lnTo>
                  <a:lnTo>
                    <a:pt x="76" y="1213"/>
                  </a:lnTo>
                  <a:lnTo>
                    <a:pt x="107" y="1118"/>
                  </a:lnTo>
                  <a:lnTo>
                    <a:pt x="145" y="1026"/>
                  </a:lnTo>
                  <a:lnTo>
                    <a:pt x="187" y="937"/>
                  </a:lnTo>
                  <a:lnTo>
                    <a:pt x="235" y="851"/>
                  </a:lnTo>
                  <a:lnTo>
                    <a:pt x="287" y="768"/>
                  </a:lnTo>
                  <a:lnTo>
                    <a:pt x="343" y="687"/>
                  </a:lnTo>
                  <a:lnTo>
                    <a:pt x="405" y="612"/>
                  </a:lnTo>
                  <a:lnTo>
                    <a:pt x="469" y="538"/>
                  </a:lnTo>
                  <a:lnTo>
                    <a:pt x="538" y="469"/>
                  </a:lnTo>
                  <a:lnTo>
                    <a:pt x="610" y="405"/>
                  </a:lnTo>
                  <a:lnTo>
                    <a:pt x="687" y="343"/>
                  </a:lnTo>
                  <a:lnTo>
                    <a:pt x="768" y="287"/>
                  </a:lnTo>
                  <a:lnTo>
                    <a:pt x="851" y="235"/>
                  </a:lnTo>
                  <a:lnTo>
                    <a:pt x="937" y="187"/>
                  </a:lnTo>
                  <a:lnTo>
                    <a:pt x="1025" y="145"/>
                  </a:lnTo>
                  <a:lnTo>
                    <a:pt x="1118" y="107"/>
                  </a:lnTo>
                  <a:lnTo>
                    <a:pt x="1213" y="76"/>
                  </a:lnTo>
                  <a:lnTo>
                    <a:pt x="1309" y="49"/>
                  </a:lnTo>
                  <a:lnTo>
                    <a:pt x="1408" y="28"/>
                  </a:lnTo>
                  <a:lnTo>
                    <a:pt x="1509" y="12"/>
                  </a:lnTo>
                  <a:lnTo>
                    <a:pt x="1612" y="3"/>
                  </a:lnTo>
                  <a:lnTo>
                    <a:pt x="17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lumMod val="65000"/>
                  </a:schemeClr>
                </a:solidFill>
              </a:endParaRPr>
            </a:p>
          </p:txBody>
        </p:sp>
        <p:sp>
          <p:nvSpPr>
            <p:cNvPr id="21" name="Freeform 15">
              <a:extLst>
                <a:ext uri="{FF2B5EF4-FFF2-40B4-BE49-F238E27FC236}">
                  <a16:creationId xmlns:a16="http://schemas.microsoft.com/office/drawing/2014/main" id="{784BC16C-F0BC-4806-84E8-6D6EE5BECE36}"/>
                </a:ext>
              </a:extLst>
            </p:cNvPr>
            <p:cNvSpPr>
              <a:spLocks/>
            </p:cNvSpPr>
            <p:nvPr/>
          </p:nvSpPr>
          <p:spPr bwMode="auto">
            <a:xfrm>
              <a:off x="2492375" y="3625850"/>
              <a:ext cx="644525" cy="473075"/>
            </a:xfrm>
            <a:custGeom>
              <a:avLst/>
              <a:gdLst>
                <a:gd name="T0" fmla="*/ 1514 w 1626"/>
                <a:gd name="T1" fmla="*/ 0 h 1190"/>
                <a:gd name="T2" fmla="*/ 1536 w 1626"/>
                <a:gd name="T3" fmla="*/ 2 h 1190"/>
                <a:gd name="T4" fmla="*/ 1557 w 1626"/>
                <a:gd name="T5" fmla="*/ 8 h 1190"/>
                <a:gd name="T6" fmla="*/ 1575 w 1626"/>
                <a:gd name="T7" fmla="*/ 19 h 1190"/>
                <a:gd name="T8" fmla="*/ 1593 w 1626"/>
                <a:gd name="T9" fmla="*/ 33 h 1190"/>
                <a:gd name="T10" fmla="*/ 1608 w 1626"/>
                <a:gd name="T11" fmla="*/ 51 h 1190"/>
                <a:gd name="T12" fmla="*/ 1618 w 1626"/>
                <a:gd name="T13" fmla="*/ 71 h 1190"/>
                <a:gd name="T14" fmla="*/ 1624 w 1626"/>
                <a:gd name="T15" fmla="*/ 92 h 1190"/>
                <a:gd name="T16" fmla="*/ 1626 w 1626"/>
                <a:gd name="T17" fmla="*/ 112 h 1190"/>
                <a:gd name="T18" fmla="*/ 1624 w 1626"/>
                <a:gd name="T19" fmla="*/ 134 h 1190"/>
                <a:gd name="T20" fmla="*/ 1618 w 1626"/>
                <a:gd name="T21" fmla="*/ 155 h 1190"/>
                <a:gd name="T22" fmla="*/ 1608 w 1626"/>
                <a:gd name="T23" fmla="*/ 175 h 1190"/>
                <a:gd name="T24" fmla="*/ 1593 w 1626"/>
                <a:gd name="T25" fmla="*/ 193 h 1190"/>
                <a:gd name="T26" fmla="*/ 629 w 1626"/>
                <a:gd name="T27" fmla="*/ 1157 h 1190"/>
                <a:gd name="T28" fmla="*/ 629 w 1626"/>
                <a:gd name="T29" fmla="*/ 1157 h 1190"/>
                <a:gd name="T30" fmla="*/ 611 w 1626"/>
                <a:gd name="T31" fmla="*/ 1171 h 1190"/>
                <a:gd name="T32" fmla="*/ 591 w 1626"/>
                <a:gd name="T33" fmla="*/ 1182 h 1190"/>
                <a:gd name="T34" fmla="*/ 571 w 1626"/>
                <a:gd name="T35" fmla="*/ 1188 h 1190"/>
                <a:gd name="T36" fmla="*/ 550 w 1626"/>
                <a:gd name="T37" fmla="*/ 1190 h 1190"/>
                <a:gd name="T38" fmla="*/ 528 w 1626"/>
                <a:gd name="T39" fmla="*/ 1188 h 1190"/>
                <a:gd name="T40" fmla="*/ 507 w 1626"/>
                <a:gd name="T41" fmla="*/ 1182 h 1190"/>
                <a:gd name="T42" fmla="*/ 487 w 1626"/>
                <a:gd name="T43" fmla="*/ 1171 h 1190"/>
                <a:gd name="T44" fmla="*/ 470 w 1626"/>
                <a:gd name="T45" fmla="*/ 1157 h 1190"/>
                <a:gd name="T46" fmla="*/ 33 w 1626"/>
                <a:gd name="T47" fmla="*/ 720 h 1190"/>
                <a:gd name="T48" fmla="*/ 18 w 1626"/>
                <a:gd name="T49" fmla="*/ 702 h 1190"/>
                <a:gd name="T50" fmla="*/ 8 w 1626"/>
                <a:gd name="T51" fmla="*/ 682 h 1190"/>
                <a:gd name="T52" fmla="*/ 2 w 1626"/>
                <a:gd name="T53" fmla="*/ 662 h 1190"/>
                <a:gd name="T54" fmla="*/ 0 w 1626"/>
                <a:gd name="T55" fmla="*/ 640 h 1190"/>
                <a:gd name="T56" fmla="*/ 2 w 1626"/>
                <a:gd name="T57" fmla="*/ 619 h 1190"/>
                <a:gd name="T58" fmla="*/ 8 w 1626"/>
                <a:gd name="T59" fmla="*/ 598 h 1190"/>
                <a:gd name="T60" fmla="*/ 18 w 1626"/>
                <a:gd name="T61" fmla="*/ 578 h 1190"/>
                <a:gd name="T62" fmla="*/ 33 w 1626"/>
                <a:gd name="T63" fmla="*/ 561 h 1190"/>
                <a:gd name="T64" fmla="*/ 51 w 1626"/>
                <a:gd name="T65" fmla="*/ 546 h 1190"/>
                <a:gd name="T66" fmla="*/ 69 w 1626"/>
                <a:gd name="T67" fmla="*/ 536 h 1190"/>
                <a:gd name="T68" fmla="*/ 90 w 1626"/>
                <a:gd name="T69" fmla="*/ 529 h 1190"/>
                <a:gd name="T70" fmla="*/ 112 w 1626"/>
                <a:gd name="T71" fmla="*/ 527 h 1190"/>
                <a:gd name="T72" fmla="*/ 134 w 1626"/>
                <a:gd name="T73" fmla="*/ 529 h 1190"/>
                <a:gd name="T74" fmla="*/ 155 w 1626"/>
                <a:gd name="T75" fmla="*/ 536 h 1190"/>
                <a:gd name="T76" fmla="*/ 174 w 1626"/>
                <a:gd name="T77" fmla="*/ 546 h 1190"/>
                <a:gd name="T78" fmla="*/ 192 w 1626"/>
                <a:gd name="T79" fmla="*/ 561 h 1190"/>
                <a:gd name="T80" fmla="*/ 550 w 1626"/>
                <a:gd name="T81" fmla="*/ 918 h 1190"/>
                <a:gd name="T82" fmla="*/ 1434 w 1626"/>
                <a:gd name="T83" fmla="*/ 33 h 1190"/>
                <a:gd name="T84" fmla="*/ 1452 w 1626"/>
                <a:gd name="T85" fmla="*/ 19 h 1190"/>
                <a:gd name="T86" fmla="*/ 1471 w 1626"/>
                <a:gd name="T87" fmla="*/ 8 h 1190"/>
                <a:gd name="T88" fmla="*/ 1492 w 1626"/>
                <a:gd name="T89" fmla="*/ 2 h 1190"/>
                <a:gd name="T90" fmla="*/ 1514 w 1626"/>
                <a:gd name="T91" fmla="*/ 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26" h="1190">
                  <a:moveTo>
                    <a:pt x="1514" y="0"/>
                  </a:moveTo>
                  <a:lnTo>
                    <a:pt x="1536" y="2"/>
                  </a:lnTo>
                  <a:lnTo>
                    <a:pt x="1557" y="8"/>
                  </a:lnTo>
                  <a:lnTo>
                    <a:pt x="1575" y="19"/>
                  </a:lnTo>
                  <a:lnTo>
                    <a:pt x="1593" y="33"/>
                  </a:lnTo>
                  <a:lnTo>
                    <a:pt x="1608" y="51"/>
                  </a:lnTo>
                  <a:lnTo>
                    <a:pt x="1618" y="71"/>
                  </a:lnTo>
                  <a:lnTo>
                    <a:pt x="1624" y="92"/>
                  </a:lnTo>
                  <a:lnTo>
                    <a:pt x="1626" y="112"/>
                  </a:lnTo>
                  <a:lnTo>
                    <a:pt x="1624" y="134"/>
                  </a:lnTo>
                  <a:lnTo>
                    <a:pt x="1618" y="155"/>
                  </a:lnTo>
                  <a:lnTo>
                    <a:pt x="1608" y="175"/>
                  </a:lnTo>
                  <a:lnTo>
                    <a:pt x="1593" y="193"/>
                  </a:lnTo>
                  <a:lnTo>
                    <a:pt x="629" y="1157"/>
                  </a:lnTo>
                  <a:lnTo>
                    <a:pt x="629" y="1157"/>
                  </a:lnTo>
                  <a:lnTo>
                    <a:pt x="611" y="1171"/>
                  </a:lnTo>
                  <a:lnTo>
                    <a:pt x="591" y="1182"/>
                  </a:lnTo>
                  <a:lnTo>
                    <a:pt x="571" y="1188"/>
                  </a:lnTo>
                  <a:lnTo>
                    <a:pt x="550" y="1190"/>
                  </a:lnTo>
                  <a:lnTo>
                    <a:pt x="528" y="1188"/>
                  </a:lnTo>
                  <a:lnTo>
                    <a:pt x="507" y="1182"/>
                  </a:lnTo>
                  <a:lnTo>
                    <a:pt x="487" y="1171"/>
                  </a:lnTo>
                  <a:lnTo>
                    <a:pt x="470" y="1157"/>
                  </a:lnTo>
                  <a:lnTo>
                    <a:pt x="33" y="720"/>
                  </a:lnTo>
                  <a:lnTo>
                    <a:pt x="18" y="702"/>
                  </a:lnTo>
                  <a:lnTo>
                    <a:pt x="8" y="682"/>
                  </a:lnTo>
                  <a:lnTo>
                    <a:pt x="2" y="662"/>
                  </a:lnTo>
                  <a:lnTo>
                    <a:pt x="0" y="640"/>
                  </a:lnTo>
                  <a:lnTo>
                    <a:pt x="2" y="619"/>
                  </a:lnTo>
                  <a:lnTo>
                    <a:pt x="8" y="598"/>
                  </a:lnTo>
                  <a:lnTo>
                    <a:pt x="18" y="578"/>
                  </a:lnTo>
                  <a:lnTo>
                    <a:pt x="33" y="561"/>
                  </a:lnTo>
                  <a:lnTo>
                    <a:pt x="51" y="546"/>
                  </a:lnTo>
                  <a:lnTo>
                    <a:pt x="69" y="536"/>
                  </a:lnTo>
                  <a:lnTo>
                    <a:pt x="90" y="529"/>
                  </a:lnTo>
                  <a:lnTo>
                    <a:pt x="112" y="527"/>
                  </a:lnTo>
                  <a:lnTo>
                    <a:pt x="134" y="529"/>
                  </a:lnTo>
                  <a:lnTo>
                    <a:pt x="155" y="536"/>
                  </a:lnTo>
                  <a:lnTo>
                    <a:pt x="174" y="546"/>
                  </a:lnTo>
                  <a:lnTo>
                    <a:pt x="192" y="561"/>
                  </a:lnTo>
                  <a:lnTo>
                    <a:pt x="550" y="918"/>
                  </a:lnTo>
                  <a:lnTo>
                    <a:pt x="1434" y="33"/>
                  </a:lnTo>
                  <a:lnTo>
                    <a:pt x="1452" y="19"/>
                  </a:lnTo>
                  <a:lnTo>
                    <a:pt x="1471" y="8"/>
                  </a:lnTo>
                  <a:lnTo>
                    <a:pt x="1492" y="2"/>
                  </a:lnTo>
                  <a:lnTo>
                    <a:pt x="15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lumMod val="65000"/>
                  </a:schemeClr>
                </a:solidFill>
              </a:endParaRPr>
            </a:p>
          </p:txBody>
        </p:sp>
      </p:grpSp>
      <p:sp>
        <p:nvSpPr>
          <p:cNvPr id="2" name="Rectangle: Rounded Corners 1">
            <a:extLst>
              <a:ext uri="{FF2B5EF4-FFF2-40B4-BE49-F238E27FC236}">
                <a16:creationId xmlns:a16="http://schemas.microsoft.com/office/drawing/2014/main" id="{5D69B45F-4E2C-75E1-FD86-D6E4716FD66F}"/>
              </a:ext>
            </a:extLst>
          </p:cNvPr>
          <p:cNvSpPr/>
          <p:nvPr/>
        </p:nvSpPr>
        <p:spPr bwMode="auto">
          <a:xfrm>
            <a:off x="0" y="46835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MAJOR PROJECT PHASE 1 (BEC685)</a:t>
            </a:r>
          </a:p>
        </p:txBody>
      </p:sp>
      <p:sp>
        <p:nvSpPr>
          <p:cNvPr id="26" name="Rectangle: Rounded Corners 1">
            <a:extLst>
              <a:ext uri="{FF2B5EF4-FFF2-40B4-BE49-F238E27FC236}">
                <a16:creationId xmlns:a16="http://schemas.microsoft.com/office/drawing/2014/main" id="{434D85A4-3AE9-8DD6-914A-EF1A4D5EB778}"/>
              </a:ext>
            </a:extLst>
          </p:cNvPr>
          <p:cNvSpPr/>
          <p:nvPr/>
        </p:nvSpPr>
        <p:spPr bwMode="auto">
          <a:xfrm>
            <a:off x="10839" y="47284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Circularly Polarized Multi-Band </a:t>
            </a:r>
            <a:r>
              <a:rPr lang="en-US" sz="1600" b="1" dirty="0" err="1">
                <a:solidFill>
                  <a:schemeClr val="bg1"/>
                </a:solidFill>
                <a:latin typeface="Times New Roman" panose="02020603050405020304" pitchFamily="18" charset="0"/>
                <a:cs typeface="Times New Roman" panose="02020603050405020304" pitchFamily="18" charset="0"/>
              </a:rPr>
              <a:t>Microstrip</a:t>
            </a:r>
            <a:r>
              <a:rPr lang="en-US" sz="1600" b="1" dirty="0">
                <a:solidFill>
                  <a:schemeClr val="bg1"/>
                </a:solidFill>
                <a:latin typeface="Times New Roman" panose="02020603050405020304" pitchFamily="18" charset="0"/>
                <a:cs typeface="Times New Roman" panose="02020603050405020304" pitchFamily="18" charset="0"/>
              </a:rPr>
              <a:t> Patch Antenna for 5G and </a:t>
            </a:r>
            <a:r>
              <a:rPr lang="en-US" sz="1600" b="1" dirty="0" err="1">
                <a:solidFill>
                  <a:schemeClr val="bg1"/>
                </a:solidFill>
                <a:latin typeface="Times New Roman" panose="02020603050405020304" pitchFamily="18" charset="0"/>
                <a:cs typeface="Times New Roman" panose="02020603050405020304" pitchFamily="18" charset="0"/>
              </a:rPr>
              <a:t>IoT</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22" name="Rectangle: Rounded Corners 1">
            <a:extLst>
              <a:ext uri="{FF2B5EF4-FFF2-40B4-BE49-F238E27FC236}">
                <a16:creationId xmlns:a16="http://schemas.microsoft.com/office/drawing/2014/main" id="{434D85A4-3AE9-8DD6-914A-EF1A4D5EB778}"/>
              </a:ext>
            </a:extLst>
          </p:cNvPr>
          <p:cNvSpPr/>
          <p:nvPr/>
        </p:nvSpPr>
        <p:spPr bwMode="auto">
          <a:xfrm>
            <a:off x="0" y="4719107"/>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876951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par>
                                <p:cTn id="10" presetID="22" presetClass="entr" presetSubtype="8"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p:cTn id="16" dur="500" fill="hold"/>
                                        <p:tgtEl>
                                          <p:spTgt spid="15"/>
                                        </p:tgtEl>
                                        <p:attrNameLst>
                                          <p:attrName>ppt_w</p:attrName>
                                        </p:attrNameLst>
                                      </p:cBhvr>
                                      <p:tavLst>
                                        <p:tav tm="0">
                                          <p:val>
                                            <p:fltVal val="0"/>
                                          </p:val>
                                        </p:tav>
                                        <p:tav tm="100000">
                                          <p:val>
                                            <p:strVal val="#ppt_w"/>
                                          </p:val>
                                        </p:tav>
                                      </p:tavLst>
                                    </p:anim>
                                    <p:anim calcmode="lin" valueType="num">
                                      <p:cBhvr>
                                        <p:cTn id="17" dur="500" fill="hold"/>
                                        <p:tgtEl>
                                          <p:spTgt spid="15"/>
                                        </p:tgtEl>
                                        <p:attrNameLst>
                                          <p:attrName>ppt_h</p:attrName>
                                        </p:attrNameLst>
                                      </p:cBhvr>
                                      <p:tavLst>
                                        <p:tav tm="0">
                                          <p:val>
                                            <p:fltVal val="0"/>
                                          </p:val>
                                        </p:tav>
                                        <p:tav tm="100000">
                                          <p:val>
                                            <p:strVal val="#ppt_h"/>
                                          </p:val>
                                        </p:tav>
                                      </p:tavLst>
                                    </p:anim>
                                    <p:animEffect transition="in" filter="fade">
                                      <p:cBhvr>
                                        <p:cTn id="18" dur="500"/>
                                        <p:tgtEl>
                                          <p:spTgt spid="1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500"/>
                                        <p:tgtEl>
                                          <p:spTgt spid="14"/>
                                        </p:tgtEl>
                                      </p:cBhvr>
                                    </p:animEffect>
                                  </p:childTnLst>
                                </p:cTn>
                              </p:par>
                            </p:childTnLst>
                          </p:cTn>
                        </p:par>
                        <p:par>
                          <p:cTn id="22" fill="hold">
                            <p:stCondLst>
                              <p:cond delay="1000"/>
                            </p:stCondLst>
                            <p:childTnLst>
                              <p:par>
                                <p:cTn id="23" presetID="53" presetClass="entr" presetSubtype="16" fill="hold" nodeType="after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p:cTn id="25" dur="500" fill="hold"/>
                                        <p:tgtEl>
                                          <p:spTgt spid="19"/>
                                        </p:tgtEl>
                                        <p:attrNameLst>
                                          <p:attrName>ppt_w</p:attrName>
                                        </p:attrNameLst>
                                      </p:cBhvr>
                                      <p:tavLst>
                                        <p:tav tm="0">
                                          <p:val>
                                            <p:fltVal val="0"/>
                                          </p:val>
                                        </p:tav>
                                        <p:tav tm="100000">
                                          <p:val>
                                            <p:strVal val="#ppt_w"/>
                                          </p:val>
                                        </p:tav>
                                      </p:tavLst>
                                    </p:anim>
                                    <p:anim calcmode="lin" valueType="num">
                                      <p:cBhvr>
                                        <p:cTn id="26" dur="500" fill="hold"/>
                                        <p:tgtEl>
                                          <p:spTgt spid="19"/>
                                        </p:tgtEl>
                                        <p:attrNameLst>
                                          <p:attrName>ppt_h</p:attrName>
                                        </p:attrNameLst>
                                      </p:cBhvr>
                                      <p:tavLst>
                                        <p:tav tm="0">
                                          <p:val>
                                            <p:fltVal val="0"/>
                                          </p:val>
                                        </p:tav>
                                        <p:tav tm="100000">
                                          <p:val>
                                            <p:strVal val="#ppt_h"/>
                                          </p:val>
                                        </p:tav>
                                      </p:tavLst>
                                    </p:anim>
                                    <p:animEffect transition="in" filter="fade">
                                      <p:cBhvr>
                                        <p:cTn id="27" dur="500"/>
                                        <p:tgtEl>
                                          <p:spTgt spid="19"/>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left)">
                                      <p:cBhvr>
                                        <p:cTn id="3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7924-D3C2-1A5B-2B4F-F730D01A0ED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EC3CCA6-B55A-B2B0-7880-92746137A7CE}"/>
              </a:ext>
            </a:extLst>
          </p:cNvPr>
          <p:cNvSpPr>
            <a:spLocks noGrp="1"/>
          </p:cNvSpPr>
          <p:nvPr>
            <p:ph type="title"/>
          </p:nvPr>
        </p:nvSpPr>
        <p:spPr>
          <a:xfrm>
            <a:off x="387819" y="282611"/>
            <a:ext cx="8368363" cy="409459"/>
          </a:xfrm>
          <a:prstGeom prst="rect">
            <a:avLst/>
          </a:prstGeom>
        </p:spPr>
        <p:txBody>
          <a:bodyPr>
            <a:normAutofit fontScale="90000"/>
          </a:bodyPr>
          <a:lstStyle/>
          <a:p>
            <a:r>
              <a:rPr lang="en-US" b="1" dirty="0">
                <a:latin typeface="Times New Roman" panose="02020603050405020304" pitchFamily="18" charset="0"/>
                <a:cs typeface="Times New Roman" panose="02020603050405020304" pitchFamily="18" charset="0"/>
              </a:rPr>
              <a:t>TOOLS REQUIRED</a:t>
            </a:r>
          </a:p>
        </p:txBody>
      </p:sp>
      <p:sp>
        <p:nvSpPr>
          <p:cNvPr id="13" name="Rounded Rectangle 1">
            <a:extLst>
              <a:ext uri="{FF2B5EF4-FFF2-40B4-BE49-F238E27FC236}">
                <a16:creationId xmlns:a16="http://schemas.microsoft.com/office/drawing/2014/main" id="{60580060-7176-247E-AB5F-936A4EA05A02}"/>
              </a:ext>
            </a:extLst>
          </p:cNvPr>
          <p:cNvSpPr/>
          <p:nvPr/>
        </p:nvSpPr>
        <p:spPr bwMode="auto">
          <a:xfrm>
            <a:off x="533400" y="736970"/>
            <a:ext cx="8610600" cy="3752397"/>
          </a:xfrm>
          <a:prstGeom prst="roundRect">
            <a:avLst>
              <a:gd name="adj" fmla="val 2440"/>
            </a:avLst>
          </a:prstGeom>
          <a:solidFill>
            <a:schemeClr val="bg2"/>
          </a:solidFill>
          <a:ln w="9525">
            <a:noFill/>
            <a:round/>
            <a:headEnd/>
            <a:tailEnd/>
          </a:ln>
        </p:spPr>
        <p:txBody>
          <a:bodyPr vert="horz" wrap="square" lIns="91440" tIns="45720" rIns="91440" bIns="45720" numCol="1" rtlCol="0" anchor="t" anchorCtr="0" compatLnSpc="1">
            <a:prstTxWarp prst="textNoShape">
              <a:avLst/>
            </a:prstTxWarp>
          </a:bodyPr>
          <a:lstStyle/>
          <a:p>
            <a:pPr algn="just">
              <a:lnSpc>
                <a:spcPct val="150000"/>
              </a:lnSpc>
            </a:pPr>
            <a:r>
              <a:rPr lang="en-US" sz="1600" dirty="0">
                <a:latin typeface="Times New Roman" panose="02020603050405020304" pitchFamily="18" charset="0"/>
                <a:cs typeface="Times New Roman" panose="02020603050405020304" pitchFamily="18" charset="0"/>
              </a:rPr>
              <a:t>These are the software tools been used</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HFSS – For design &amp; simulation.</a:t>
            </a:r>
          </a:p>
          <a:p>
            <a:pPr marL="285750" indent="-28575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Latex –for report </a:t>
            </a:r>
          </a:p>
          <a:p>
            <a:pPr algn="just">
              <a:lnSpc>
                <a:spcPct val="150000"/>
              </a:lnSpc>
            </a:pPr>
            <a:r>
              <a:rPr lang="en-US" sz="1600" dirty="0">
                <a:latin typeface="Times New Roman" panose="02020603050405020304" pitchFamily="18" charset="0"/>
                <a:cs typeface="Times New Roman" panose="02020603050405020304" pitchFamily="18" charset="0"/>
              </a:rPr>
              <a:t>These are the hardware tools to be used</a:t>
            </a:r>
          </a:p>
          <a:p>
            <a:pPr marL="285750" lvl="0" indent="-285750" algn="just" eaLnBrk="0" fontAlgn="base" hangingPunct="0">
              <a:spcBef>
                <a:spcPct val="0"/>
              </a:spcBef>
              <a:spcAft>
                <a:spcPct val="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FR4 Substrate Board (</a:t>
            </a:r>
            <a:r>
              <a:rPr lang="en-US" altLang="en-US" sz="1600" dirty="0" err="1">
                <a:latin typeface="Times New Roman" panose="02020603050405020304" pitchFamily="18" charset="0"/>
                <a:cs typeface="Times New Roman" panose="02020603050405020304" pitchFamily="18" charset="0"/>
              </a:rPr>
              <a:t>εr</a:t>
            </a:r>
            <a:r>
              <a:rPr lang="en-US" altLang="en-US" sz="1600" dirty="0">
                <a:latin typeface="Times New Roman" panose="02020603050405020304" pitchFamily="18" charset="0"/>
                <a:cs typeface="Times New Roman" panose="02020603050405020304" pitchFamily="18" charset="0"/>
              </a:rPr>
              <a:t> = 4.4, h = 3.6 mm) – Base for antenna</a:t>
            </a:r>
          </a:p>
          <a:p>
            <a:pPr marL="285750" lvl="0" indent="-285750" algn="just" eaLnBrk="0" fontAlgn="base" hangingPunct="0">
              <a:spcBef>
                <a:spcPct val="0"/>
              </a:spcBef>
              <a:spcAft>
                <a:spcPct val="0"/>
              </a:spcAft>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Copper-Clad PCB Sheet – For patch and ground plane</a:t>
            </a:r>
          </a:p>
          <a:p>
            <a:pPr lvl="0" algn="just" eaLnBrk="0" fontAlgn="base" hangingPunct="0">
              <a:spcBef>
                <a:spcPct val="0"/>
              </a:spcBef>
              <a:spcAft>
                <a:spcPct val="0"/>
              </a:spcAft>
              <a:buFontTx/>
              <a:buChar char="•"/>
            </a:pPr>
            <a:r>
              <a:rPr lang="en-IN" sz="1600" dirty="0">
                <a:latin typeface="Times New Roman" panose="02020603050405020304" pitchFamily="18" charset="0"/>
                <a:cs typeface="Times New Roman" panose="02020603050405020304" pitchFamily="18" charset="0"/>
              </a:rPr>
              <a:t>     Fabrication Tools</a:t>
            </a:r>
            <a:endParaRPr lang="en-US" altLang="en-US" sz="1600"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2" name="Rectangle: Rounded Corners 1">
            <a:extLst>
              <a:ext uri="{FF2B5EF4-FFF2-40B4-BE49-F238E27FC236}">
                <a16:creationId xmlns:a16="http://schemas.microsoft.com/office/drawing/2014/main" id="{D294D834-F0CC-FB41-F810-C2C7D776A7C5}"/>
              </a:ext>
            </a:extLst>
          </p:cNvPr>
          <p:cNvSpPr/>
          <p:nvPr/>
        </p:nvSpPr>
        <p:spPr bwMode="auto">
          <a:xfrm>
            <a:off x="0" y="46835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MAJOR PROJECT PHASE 1 (BEC685)</a:t>
            </a:r>
          </a:p>
        </p:txBody>
      </p:sp>
      <p:sp>
        <p:nvSpPr>
          <p:cNvPr id="5" name="Rectangle: Rounded Corners 1">
            <a:extLst>
              <a:ext uri="{FF2B5EF4-FFF2-40B4-BE49-F238E27FC236}">
                <a16:creationId xmlns:a16="http://schemas.microsoft.com/office/drawing/2014/main" id="{434D85A4-3AE9-8DD6-914A-EF1A4D5EB778}"/>
              </a:ext>
            </a:extLst>
          </p:cNvPr>
          <p:cNvSpPr/>
          <p:nvPr/>
        </p:nvSpPr>
        <p:spPr bwMode="auto">
          <a:xfrm>
            <a:off x="10839" y="47284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Circularly Polarized Multi-Band </a:t>
            </a:r>
            <a:r>
              <a:rPr lang="en-US" sz="1600" b="1" dirty="0" err="1">
                <a:solidFill>
                  <a:schemeClr val="bg1"/>
                </a:solidFill>
                <a:latin typeface="Times New Roman" panose="02020603050405020304" pitchFamily="18" charset="0"/>
                <a:cs typeface="Times New Roman" panose="02020603050405020304" pitchFamily="18" charset="0"/>
              </a:rPr>
              <a:t>Microstrip</a:t>
            </a:r>
            <a:r>
              <a:rPr lang="en-US" sz="1600" b="1" dirty="0">
                <a:solidFill>
                  <a:schemeClr val="bg1"/>
                </a:solidFill>
                <a:latin typeface="Times New Roman" panose="02020603050405020304" pitchFamily="18" charset="0"/>
                <a:cs typeface="Times New Roman" panose="02020603050405020304" pitchFamily="18" charset="0"/>
              </a:rPr>
              <a:t> Patch Antenna for 5G and </a:t>
            </a:r>
            <a:r>
              <a:rPr lang="en-US" sz="1600" b="1" dirty="0" err="1">
                <a:solidFill>
                  <a:schemeClr val="bg1"/>
                </a:solidFill>
                <a:latin typeface="Times New Roman" panose="02020603050405020304" pitchFamily="18" charset="0"/>
                <a:cs typeface="Times New Roman" panose="02020603050405020304" pitchFamily="18" charset="0"/>
              </a:rPr>
              <a:t>IoT</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6" name="Rectangle: Rounded Corners 1">
            <a:extLst>
              <a:ext uri="{FF2B5EF4-FFF2-40B4-BE49-F238E27FC236}">
                <a16:creationId xmlns:a16="http://schemas.microsoft.com/office/drawing/2014/main" id="{434D85A4-3AE9-8DD6-914A-EF1A4D5EB778}"/>
              </a:ext>
            </a:extLst>
          </p:cNvPr>
          <p:cNvSpPr/>
          <p:nvPr/>
        </p:nvSpPr>
        <p:spPr bwMode="auto">
          <a:xfrm>
            <a:off x="10839" y="470602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45228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18000" decel="8200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HFSS Project Setup &amp; Basic Modeling</a:t>
            </a:r>
            <a:br>
              <a:rPr lang="en-US" dirty="0"/>
            </a:br>
            <a:endParaRPr lang="en-IN" dirty="0"/>
          </a:p>
        </p:txBody>
      </p:sp>
      <p:sp>
        <p:nvSpPr>
          <p:cNvPr id="5" name="Rectangle: Rounded Corners 1">
            <a:extLst>
              <a:ext uri="{FF2B5EF4-FFF2-40B4-BE49-F238E27FC236}">
                <a16:creationId xmlns:a16="http://schemas.microsoft.com/office/drawing/2014/main" id="{434D85A4-3AE9-8DD6-914A-EF1A4D5EB778}"/>
              </a:ext>
            </a:extLst>
          </p:cNvPr>
          <p:cNvSpPr/>
          <p:nvPr/>
        </p:nvSpPr>
        <p:spPr bwMode="auto">
          <a:xfrm>
            <a:off x="10839" y="47284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Circularly Polarized Multi-Band </a:t>
            </a:r>
            <a:r>
              <a:rPr lang="en-US" sz="1600" b="1" dirty="0" err="1">
                <a:solidFill>
                  <a:schemeClr val="bg1"/>
                </a:solidFill>
                <a:latin typeface="Times New Roman" panose="02020603050405020304" pitchFamily="18" charset="0"/>
                <a:cs typeface="Times New Roman" panose="02020603050405020304" pitchFamily="18" charset="0"/>
              </a:rPr>
              <a:t>Microstrip</a:t>
            </a:r>
            <a:r>
              <a:rPr lang="en-US" sz="1600" b="1" dirty="0">
                <a:solidFill>
                  <a:schemeClr val="bg1"/>
                </a:solidFill>
                <a:latin typeface="Times New Roman" panose="02020603050405020304" pitchFamily="18" charset="0"/>
                <a:cs typeface="Times New Roman" panose="02020603050405020304" pitchFamily="18" charset="0"/>
              </a:rPr>
              <a:t> Patch Antenna for 5G and </a:t>
            </a:r>
            <a:r>
              <a:rPr lang="en-US" sz="1600" b="1" dirty="0" err="1">
                <a:solidFill>
                  <a:schemeClr val="bg1"/>
                </a:solidFill>
                <a:latin typeface="Times New Roman" panose="02020603050405020304" pitchFamily="18" charset="0"/>
                <a:cs typeface="Times New Roman" panose="02020603050405020304" pitchFamily="18" charset="0"/>
              </a:rPr>
              <a:t>IoT</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 t="18367" r="33598" b="5443"/>
          <a:stretch/>
        </p:blipFill>
        <p:spPr>
          <a:xfrm>
            <a:off x="152400" y="692069"/>
            <a:ext cx="2830380" cy="3126127"/>
          </a:xfrm>
          <a:prstGeom prst="rect">
            <a:avLst/>
          </a:prstGeom>
        </p:spPr>
      </p:pic>
      <p:sp>
        <p:nvSpPr>
          <p:cNvPr id="8" name="TextBox 7"/>
          <p:cNvSpPr txBox="1"/>
          <p:nvPr/>
        </p:nvSpPr>
        <p:spPr>
          <a:xfrm>
            <a:off x="2743200" y="3818197"/>
            <a:ext cx="2209800" cy="261610"/>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Fig: Circular Patch On Substrate </a:t>
            </a:r>
            <a:endParaRPr lang="en-IN" sz="110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rotWithShape="1">
          <a:blip r:embed="rId3">
            <a:extLst>
              <a:ext uri="{28A0092B-C50C-407E-A947-70E740481C1C}">
                <a14:useLocalDpi xmlns:a14="http://schemas.microsoft.com/office/drawing/2010/main" val="0"/>
              </a:ext>
            </a:extLst>
          </a:blip>
          <a:srcRect l="-482" t="16493" r="18645" b="3789"/>
          <a:stretch/>
        </p:blipFill>
        <p:spPr>
          <a:xfrm>
            <a:off x="2952563" y="705864"/>
            <a:ext cx="2804229" cy="2971758"/>
          </a:xfrm>
          <a:prstGeom prst="rect">
            <a:avLst/>
          </a:prstGeom>
        </p:spPr>
      </p:pic>
      <p:pic>
        <p:nvPicPr>
          <p:cNvPr id="10" name="Picture 9"/>
          <p:cNvPicPr>
            <a:picLocks noChangeAspect="1"/>
          </p:cNvPicPr>
          <p:nvPr/>
        </p:nvPicPr>
        <p:blipFill rotWithShape="1">
          <a:blip r:embed="rId4">
            <a:extLst>
              <a:ext uri="{28A0092B-C50C-407E-A947-70E740481C1C}">
                <a14:useLocalDpi xmlns:a14="http://schemas.microsoft.com/office/drawing/2010/main" val="0"/>
              </a:ext>
            </a:extLst>
          </a:blip>
          <a:srcRect t="18889" r="36084" b="4074"/>
          <a:stretch/>
        </p:blipFill>
        <p:spPr>
          <a:xfrm>
            <a:off x="5777813" y="590550"/>
            <a:ext cx="2927232" cy="3012704"/>
          </a:xfrm>
          <a:prstGeom prst="rect">
            <a:avLst/>
          </a:prstGeom>
        </p:spPr>
      </p:pic>
      <p:pic>
        <p:nvPicPr>
          <p:cNvPr id="3074" name="Picture 2" descr="Generated imag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2120" y="692068"/>
            <a:ext cx="2539663" cy="3126128"/>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Rounded Corners 1">
            <a:extLst>
              <a:ext uri="{FF2B5EF4-FFF2-40B4-BE49-F238E27FC236}">
                <a16:creationId xmlns:a16="http://schemas.microsoft.com/office/drawing/2014/main" id="{434D85A4-3AE9-8DD6-914A-EF1A4D5EB778}"/>
              </a:ext>
            </a:extLst>
          </p:cNvPr>
          <p:cNvSpPr/>
          <p:nvPr/>
        </p:nvSpPr>
        <p:spPr bwMode="auto">
          <a:xfrm>
            <a:off x="0" y="4735753"/>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42894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Results </a:t>
            </a:r>
            <a:endParaRPr lang="en-IN" dirty="0"/>
          </a:p>
        </p:txBody>
      </p:sp>
      <p:sp>
        <p:nvSpPr>
          <p:cNvPr id="4" name="Rectangle: Rounded Corners 1">
            <a:extLst>
              <a:ext uri="{FF2B5EF4-FFF2-40B4-BE49-F238E27FC236}">
                <a16:creationId xmlns:a16="http://schemas.microsoft.com/office/drawing/2014/main" id="{434D85A4-3AE9-8DD6-914A-EF1A4D5EB778}"/>
              </a:ext>
            </a:extLst>
          </p:cNvPr>
          <p:cNvSpPr/>
          <p:nvPr/>
        </p:nvSpPr>
        <p:spPr bwMode="auto">
          <a:xfrm>
            <a:off x="0" y="4735753"/>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4D4B7DC-A881-25C5-37A1-54E2CC5D4162}"/>
              </a:ext>
            </a:extLst>
          </p:cNvPr>
          <p:cNvPicPr>
            <a:picLocks noChangeAspect="1"/>
          </p:cNvPicPr>
          <p:nvPr/>
        </p:nvPicPr>
        <p:blipFill>
          <a:blip r:embed="rId2">
            <a:extLst>
              <a:ext uri="{28A0092B-C50C-407E-A947-70E740481C1C}">
                <a14:useLocalDpi xmlns:a14="http://schemas.microsoft.com/office/drawing/2010/main" val="0"/>
              </a:ext>
            </a:extLst>
          </a:blip>
          <a:srcRect t="4550"/>
          <a:stretch>
            <a:fillRect/>
          </a:stretch>
        </p:blipFill>
        <p:spPr>
          <a:xfrm>
            <a:off x="122420" y="892143"/>
            <a:ext cx="4420447" cy="3309664"/>
          </a:xfrm>
          <a:prstGeom prst="rect">
            <a:avLst/>
          </a:prstGeom>
        </p:spPr>
      </p:pic>
      <p:sp>
        <p:nvSpPr>
          <p:cNvPr id="11" name="TextBox 10">
            <a:extLst>
              <a:ext uri="{FF2B5EF4-FFF2-40B4-BE49-F238E27FC236}">
                <a16:creationId xmlns:a16="http://schemas.microsoft.com/office/drawing/2014/main" id="{43787871-AAE7-29C9-CB82-05B9F56D752E}"/>
              </a:ext>
            </a:extLst>
          </p:cNvPr>
          <p:cNvSpPr txBox="1"/>
          <p:nvPr/>
        </p:nvSpPr>
        <p:spPr>
          <a:xfrm>
            <a:off x="457200" y="4215236"/>
            <a:ext cx="4703164" cy="338554"/>
          </a:xfrm>
          <a:prstGeom prst="rect">
            <a:avLst/>
          </a:prstGeom>
          <a:noFill/>
        </p:spPr>
        <p:txBody>
          <a:bodyPr wrap="square">
            <a:spAutoFit/>
          </a:bodyPr>
          <a:lstStyle/>
          <a:p>
            <a:r>
              <a:rPr lang="en-IN" sz="1600" b="0" i="0" u="none" strike="noStrike" baseline="0" dirty="0">
                <a:latin typeface="Times New Roman" panose="02020603050405020304" pitchFamily="18" charset="0"/>
                <a:cs typeface="Times New Roman" panose="02020603050405020304" pitchFamily="18" charset="0"/>
              </a:rPr>
              <a:t>Figure : circular microstrip patch antenna</a:t>
            </a:r>
            <a:endParaRPr lang="en-IN" sz="16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913F0DD3-DBFC-125B-CECB-99D4EC8BCA1C}"/>
              </a:ext>
            </a:extLst>
          </p:cNvPr>
          <p:cNvPicPr>
            <a:picLocks noChangeAspect="1"/>
          </p:cNvPicPr>
          <p:nvPr/>
        </p:nvPicPr>
        <p:blipFill>
          <a:blip r:embed="rId3">
            <a:extLst>
              <a:ext uri="{28A0092B-C50C-407E-A947-70E740481C1C}">
                <a14:useLocalDpi xmlns:a14="http://schemas.microsoft.com/office/drawing/2010/main" val="0"/>
              </a:ext>
            </a:extLst>
          </a:blip>
          <a:srcRect l="14823" r="43565"/>
          <a:stretch>
            <a:fillRect/>
          </a:stretch>
        </p:blipFill>
        <p:spPr>
          <a:xfrm>
            <a:off x="4724400" y="781852"/>
            <a:ext cx="3805003" cy="3236119"/>
          </a:xfrm>
          <a:prstGeom prst="rect">
            <a:avLst/>
          </a:prstGeom>
          <a:ln>
            <a:noFill/>
          </a:ln>
          <a:effectLst>
            <a:softEdge rad="112500"/>
          </a:effectLst>
        </p:spPr>
      </p:pic>
      <p:sp>
        <p:nvSpPr>
          <p:cNvPr id="15" name="TextBox 14">
            <a:extLst>
              <a:ext uri="{FF2B5EF4-FFF2-40B4-BE49-F238E27FC236}">
                <a16:creationId xmlns:a16="http://schemas.microsoft.com/office/drawing/2014/main" id="{AA44D351-9EE4-1843-35A9-F541724778AE}"/>
              </a:ext>
            </a:extLst>
          </p:cNvPr>
          <p:cNvSpPr txBox="1"/>
          <p:nvPr/>
        </p:nvSpPr>
        <p:spPr>
          <a:xfrm>
            <a:off x="4637361" y="4168392"/>
            <a:ext cx="4583242" cy="461665"/>
          </a:xfrm>
          <a:prstGeom prst="rect">
            <a:avLst/>
          </a:prstGeom>
          <a:noFill/>
        </p:spPr>
        <p:txBody>
          <a:bodyPr wrap="square">
            <a:spAutoFit/>
          </a:bodyPr>
          <a:lstStyle/>
          <a:p>
            <a:pPr algn="l"/>
            <a:r>
              <a:rPr lang="en-US" sz="1200" b="0" i="0" u="none" strike="noStrike" baseline="0" dirty="0">
                <a:latin typeface="Times New Roman" panose="02020603050405020304" pitchFamily="18" charset="0"/>
                <a:cs typeface="Times New Roman" panose="02020603050405020304" pitchFamily="18" charset="0"/>
              </a:rPr>
              <a:t>Figure :3D total gain </a:t>
            </a:r>
            <a:r>
              <a:rPr lang="en-US" sz="1200" b="0" i="0" u="none" strike="noStrike" baseline="0" dirty="0" err="1">
                <a:latin typeface="Times New Roman" panose="02020603050405020304" pitchFamily="18" charset="0"/>
                <a:cs typeface="Times New Roman" panose="02020603050405020304" pitchFamily="18" charset="0"/>
              </a:rPr>
              <a:t>radition</a:t>
            </a:r>
            <a:r>
              <a:rPr lang="en-US" sz="1200" b="0" i="0" u="none" strike="noStrike" baseline="0" dirty="0">
                <a:latin typeface="Times New Roman" panose="02020603050405020304" pitchFamily="18" charset="0"/>
                <a:cs typeface="Times New Roman" panose="02020603050405020304" pitchFamily="18" charset="0"/>
              </a:rPr>
              <a:t> pattern of circular microstrip antenna at</a:t>
            </a:r>
          </a:p>
          <a:p>
            <a:pPr algn="l"/>
            <a:r>
              <a:rPr lang="en-US" sz="1200" b="0" i="0" u="none" strike="noStrike" baseline="0" dirty="0">
                <a:latin typeface="Times New Roman" panose="02020603050405020304" pitchFamily="18" charset="0"/>
                <a:cs typeface="Times New Roman" panose="02020603050405020304" pitchFamily="18" charset="0"/>
              </a:rPr>
              <a:t>2.45GHz showing the maximum gain of approximately 4.36dB</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8849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60907CA-8236-7284-067A-095B6F7708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2343149"/>
          </a:xfrm>
          <a:prstGeom prst="rect">
            <a:avLst/>
          </a:prstGeom>
          <a:ln>
            <a:noFill/>
          </a:ln>
          <a:effectLst>
            <a:softEdge rad="112500"/>
          </a:effectLst>
        </p:spPr>
      </p:pic>
      <p:pic>
        <p:nvPicPr>
          <p:cNvPr id="7" name="Picture 6">
            <a:extLst>
              <a:ext uri="{FF2B5EF4-FFF2-40B4-BE49-F238E27FC236}">
                <a16:creationId xmlns:a16="http://schemas.microsoft.com/office/drawing/2014/main" id="{ECA063BC-D076-719B-7491-235143EDFE24}"/>
              </a:ext>
            </a:extLst>
          </p:cNvPr>
          <p:cNvPicPr>
            <a:picLocks noChangeAspect="1"/>
          </p:cNvPicPr>
          <p:nvPr/>
        </p:nvPicPr>
        <p:blipFill>
          <a:blip r:embed="rId3">
            <a:extLst>
              <a:ext uri="{28A0092B-C50C-407E-A947-70E740481C1C}">
                <a14:useLocalDpi xmlns:a14="http://schemas.microsoft.com/office/drawing/2010/main" val="0"/>
              </a:ext>
            </a:extLst>
          </a:blip>
          <a:srcRect t="5257"/>
          <a:stretch>
            <a:fillRect/>
          </a:stretch>
        </p:blipFill>
        <p:spPr>
          <a:xfrm>
            <a:off x="0" y="2419349"/>
            <a:ext cx="9144000" cy="2172597"/>
          </a:xfrm>
          <a:prstGeom prst="rect">
            <a:avLst/>
          </a:prstGeom>
        </p:spPr>
      </p:pic>
      <p:sp>
        <p:nvSpPr>
          <p:cNvPr id="9" name="TextBox 8">
            <a:extLst>
              <a:ext uri="{FF2B5EF4-FFF2-40B4-BE49-F238E27FC236}">
                <a16:creationId xmlns:a16="http://schemas.microsoft.com/office/drawing/2014/main" id="{2A70AF7E-8485-0D80-31F1-60DDA2D8D011}"/>
              </a:ext>
            </a:extLst>
          </p:cNvPr>
          <p:cNvSpPr txBox="1"/>
          <p:nvPr/>
        </p:nvSpPr>
        <p:spPr>
          <a:xfrm>
            <a:off x="2133600" y="4624738"/>
            <a:ext cx="4575746" cy="369332"/>
          </a:xfrm>
          <a:prstGeom prst="rect">
            <a:avLst/>
          </a:prstGeom>
          <a:noFill/>
        </p:spPr>
        <p:txBody>
          <a:bodyPr wrap="square">
            <a:spAutoFit/>
          </a:bodyPr>
          <a:lstStyle/>
          <a:p>
            <a:r>
              <a:rPr lang="en-US" sz="1800" b="0" i="0" u="none" strike="noStrike" baseline="0" dirty="0">
                <a:latin typeface="CMR12"/>
              </a:rPr>
              <a:t>Figure 5.25: S11 (return loss) Vs frequency plot</a:t>
            </a:r>
            <a:endParaRPr lang="en-IN" dirty="0"/>
          </a:p>
        </p:txBody>
      </p:sp>
    </p:spTree>
    <p:extLst>
      <p:ext uri="{BB962C8B-B14F-4D97-AF65-F5344CB8AC3E}">
        <p14:creationId xmlns:p14="http://schemas.microsoft.com/office/powerpoint/2010/main" val="38522452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74E6DB-F059-5D0E-74E9-D0FB7D07E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93265"/>
            <a:ext cx="4533900" cy="3181350"/>
          </a:xfrm>
          <a:prstGeom prst="rect">
            <a:avLst/>
          </a:prstGeom>
        </p:spPr>
      </p:pic>
      <p:sp>
        <p:nvSpPr>
          <p:cNvPr id="7" name="TextBox 6">
            <a:extLst>
              <a:ext uri="{FF2B5EF4-FFF2-40B4-BE49-F238E27FC236}">
                <a16:creationId xmlns:a16="http://schemas.microsoft.com/office/drawing/2014/main" id="{1334AAE9-18E8-0ABA-233C-395F0ACE938D}"/>
              </a:ext>
            </a:extLst>
          </p:cNvPr>
          <p:cNvSpPr txBox="1"/>
          <p:nvPr/>
        </p:nvSpPr>
        <p:spPr>
          <a:xfrm>
            <a:off x="304800" y="3714750"/>
            <a:ext cx="4575746" cy="338554"/>
          </a:xfrm>
          <a:prstGeom prst="rect">
            <a:avLst/>
          </a:prstGeom>
          <a:noFill/>
        </p:spPr>
        <p:txBody>
          <a:bodyPr wrap="square">
            <a:spAutoFit/>
          </a:bodyPr>
          <a:lstStyle/>
          <a:p>
            <a:r>
              <a:rPr lang="en-US" sz="1600" b="0" i="0" u="none" strike="noStrike" baseline="0" dirty="0">
                <a:latin typeface="Times New Roman" panose="02020603050405020304" pitchFamily="18" charset="0"/>
                <a:cs typeface="Times New Roman" panose="02020603050405020304" pitchFamily="18" charset="0"/>
              </a:rPr>
              <a:t>Figure :2D polar plot of total gain</a:t>
            </a:r>
            <a:endParaRPr lang="en-IN" sz="1600" dirty="0">
              <a:latin typeface="Times New Roman" panose="02020603050405020304" pitchFamily="18" charset="0"/>
              <a:cs typeface="Times New Roman" panose="02020603050405020304" pitchFamily="18" charset="0"/>
            </a:endParaRPr>
          </a:p>
        </p:txBody>
      </p:sp>
      <p:sp>
        <p:nvSpPr>
          <p:cNvPr id="8" name="Rectangle: Rounded Corners 1">
            <a:extLst>
              <a:ext uri="{FF2B5EF4-FFF2-40B4-BE49-F238E27FC236}">
                <a16:creationId xmlns:a16="http://schemas.microsoft.com/office/drawing/2014/main" id="{046B85B2-D439-6491-2A3E-A8F708E91708}"/>
              </a:ext>
            </a:extLst>
          </p:cNvPr>
          <p:cNvSpPr/>
          <p:nvPr/>
        </p:nvSpPr>
        <p:spPr bwMode="auto">
          <a:xfrm>
            <a:off x="0" y="4735753"/>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437B5269-BD4E-9C01-9A61-96671BA9754A}"/>
              </a:ext>
            </a:extLst>
          </p:cNvPr>
          <p:cNvPicPr>
            <a:picLocks noChangeAspect="1"/>
          </p:cNvPicPr>
          <p:nvPr/>
        </p:nvPicPr>
        <p:blipFill>
          <a:blip r:embed="rId3">
            <a:extLst>
              <a:ext uri="{28A0092B-C50C-407E-A947-70E740481C1C}">
                <a14:useLocalDpi xmlns:a14="http://schemas.microsoft.com/office/drawing/2010/main" val="0"/>
              </a:ext>
            </a:extLst>
          </a:blip>
          <a:srcRect l="7575" r="44167"/>
          <a:stretch>
            <a:fillRect/>
          </a:stretch>
        </p:blipFill>
        <p:spPr>
          <a:xfrm>
            <a:off x="4038600" y="287139"/>
            <a:ext cx="4420446" cy="3207544"/>
          </a:xfrm>
          <a:prstGeom prst="rect">
            <a:avLst/>
          </a:prstGeom>
        </p:spPr>
      </p:pic>
      <p:sp>
        <p:nvSpPr>
          <p:cNvPr id="11" name="TextBox 10">
            <a:extLst>
              <a:ext uri="{FF2B5EF4-FFF2-40B4-BE49-F238E27FC236}">
                <a16:creationId xmlns:a16="http://schemas.microsoft.com/office/drawing/2014/main" id="{4F6F7877-80A7-AB43-3744-4CF1CAEBF4F9}"/>
              </a:ext>
            </a:extLst>
          </p:cNvPr>
          <p:cNvSpPr txBox="1"/>
          <p:nvPr/>
        </p:nvSpPr>
        <p:spPr>
          <a:xfrm>
            <a:off x="4343400" y="3591998"/>
            <a:ext cx="4583242" cy="523220"/>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Figure:3D directivity plot of circular microstrip antenna at 2.45GHz ,illustrating a peak directivity of about 6.58dB</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04163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7818" y="75588"/>
            <a:ext cx="8368363" cy="409459"/>
          </a:xfrm>
          <a:prstGeom prst="rect">
            <a:avLst/>
          </a:prstGeom>
        </p:spPr>
        <p:txBody>
          <a:bodyPr>
            <a:normAutofit fontScale="90000"/>
          </a:bodyPr>
          <a:lstStyle/>
          <a:p>
            <a:r>
              <a:rPr lang="en-US" b="1" dirty="0">
                <a:latin typeface="Times New Roman" panose="02020603050405020304" pitchFamily="18" charset="0"/>
                <a:cs typeface="Times New Roman" panose="02020603050405020304" pitchFamily="18" charset="0"/>
              </a:rPr>
              <a:t>CONCLUSIONS</a:t>
            </a:r>
          </a:p>
        </p:txBody>
      </p:sp>
      <p:sp>
        <p:nvSpPr>
          <p:cNvPr id="2" name="Rectangle: Rounded Corners 1">
            <a:extLst>
              <a:ext uri="{FF2B5EF4-FFF2-40B4-BE49-F238E27FC236}">
                <a16:creationId xmlns:a16="http://schemas.microsoft.com/office/drawing/2014/main" id="{E22D5BA1-457C-61E0-E787-8C987A2BB43B}"/>
              </a:ext>
            </a:extLst>
          </p:cNvPr>
          <p:cNvSpPr/>
          <p:nvPr/>
        </p:nvSpPr>
        <p:spPr bwMode="auto">
          <a:xfrm>
            <a:off x="0" y="46835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MAJOR PROJECT PHASE 1 (BEC685)</a:t>
            </a:r>
          </a:p>
        </p:txBody>
      </p:sp>
      <p:sp>
        <p:nvSpPr>
          <p:cNvPr id="4" name="Rounded Rectangle 1">
            <a:extLst>
              <a:ext uri="{FF2B5EF4-FFF2-40B4-BE49-F238E27FC236}">
                <a16:creationId xmlns:a16="http://schemas.microsoft.com/office/drawing/2014/main" id="{49885B7C-0BC6-9E33-3645-EDC3EA2E1911}"/>
              </a:ext>
            </a:extLst>
          </p:cNvPr>
          <p:cNvSpPr/>
          <p:nvPr/>
        </p:nvSpPr>
        <p:spPr bwMode="auto">
          <a:xfrm>
            <a:off x="145582" y="489311"/>
            <a:ext cx="8610600" cy="3603085"/>
          </a:xfrm>
          <a:prstGeom prst="roundRect">
            <a:avLst>
              <a:gd name="adj" fmla="val 2440"/>
            </a:avLst>
          </a:prstGeom>
          <a:solidFill>
            <a:schemeClr val="bg2"/>
          </a:solidFill>
          <a:ln w="9525">
            <a:noFill/>
            <a:round/>
            <a:headEnd/>
            <a:tailEnd/>
          </a:ln>
        </p:spPr>
        <p:txBody>
          <a:bodyPr vert="horz" wrap="square" lIns="91440" tIns="45720" rIns="91440" bIns="45720" numCol="1" rtlCol="0" anchor="t" anchorCtr="0" compatLnSpc="1">
            <a:prstTxWarp prst="textNoShape">
              <a:avLst/>
            </a:prstTxWarp>
          </a:bodyPr>
          <a:lstStyle/>
          <a:p>
            <a:pPr algn="just">
              <a:lnSpc>
                <a:spcPct val="150000"/>
              </a:lnSpc>
            </a:pPr>
            <a:r>
              <a:rPr lang="en-US" sz="1400" dirty="0">
                <a:latin typeface="Times New Roman" panose="02020603050405020304" pitchFamily="18" charset="0"/>
                <a:cs typeface="Times New Roman" panose="02020603050405020304" pitchFamily="18" charset="0"/>
              </a:rPr>
              <a:t>Following the theoretical calculations, the antenna was modeled and simulated in ANSYS HFSS, which provided a visual and numerical verification of the design. The simulation setup included defining the circular patch geometry, coaxial probe feed, and appropriate radiation boundaries to mimic free space conditions. Adaptive meshing was applied to improve the accuracy of the results. The S-parameter analysis demonstrated a resonant frequency at 2.45 GHz, with a return loss (S11) of less than-20 dB, indicating excellent impedance matching. The VSWR was observed to be approximately 1.2, confirming low reflection and high efficiency of the antenna. The simulated radiation patterns revealed the expected omnidirectional characteristics in the horizontal plane, which is characteristic of circular patch antennas. The gain was observed to be in the range of 3–5 dBi, which is typical for FR4-based </a:t>
            </a:r>
            <a:r>
              <a:rPr lang="en-US" sz="1400" dirty="0" err="1">
                <a:latin typeface="Times New Roman" panose="02020603050405020304" pitchFamily="18" charset="0"/>
                <a:cs typeface="Times New Roman" panose="02020603050405020304" pitchFamily="18" charset="0"/>
              </a:rPr>
              <a:t>microstrip</a:t>
            </a:r>
            <a:r>
              <a:rPr lang="en-US" sz="1400" dirty="0">
                <a:latin typeface="Times New Roman" panose="02020603050405020304" pitchFamily="18" charset="0"/>
                <a:cs typeface="Times New Roman" panose="02020603050405020304" pitchFamily="18" charset="0"/>
              </a:rPr>
              <a:t> antennas. The bandwidth, measured from the S11 curve, closely matched the theoretical estimate, demonstrating that the analytical design equations provide accurate predictions for antenna performance. The comparison of Design and implementation of Circular </a:t>
            </a:r>
            <a:r>
              <a:rPr lang="en-US" sz="1400" dirty="0" err="1">
                <a:latin typeface="Times New Roman" panose="02020603050405020304" pitchFamily="18" charset="0"/>
                <a:cs typeface="Times New Roman" panose="02020603050405020304" pitchFamily="18" charset="0"/>
              </a:rPr>
              <a:t>Microstrip</a:t>
            </a:r>
            <a:r>
              <a:rPr lang="en-US" sz="1400" dirty="0">
                <a:latin typeface="Times New Roman" panose="02020603050405020304" pitchFamily="18" charset="0"/>
                <a:cs typeface="Times New Roman" panose="02020603050405020304" pitchFamily="18" charset="0"/>
              </a:rPr>
              <a:t> patch Antenna and simulation results validates the design methodology, confirming that the chosen parameters successfully meet the design objectives</a:t>
            </a:r>
          </a:p>
        </p:txBody>
      </p:sp>
      <p:sp>
        <p:nvSpPr>
          <p:cNvPr id="5" name="Rectangle: Rounded Corners 1">
            <a:extLst>
              <a:ext uri="{FF2B5EF4-FFF2-40B4-BE49-F238E27FC236}">
                <a16:creationId xmlns:a16="http://schemas.microsoft.com/office/drawing/2014/main" id="{434D85A4-3AE9-8DD6-914A-EF1A4D5EB778}"/>
              </a:ext>
            </a:extLst>
          </p:cNvPr>
          <p:cNvSpPr/>
          <p:nvPr/>
        </p:nvSpPr>
        <p:spPr bwMode="auto">
          <a:xfrm>
            <a:off x="10839" y="47284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Circularly Polarized Multi-Band </a:t>
            </a:r>
            <a:r>
              <a:rPr lang="en-US" sz="1600" b="1" dirty="0" err="1">
                <a:solidFill>
                  <a:schemeClr val="bg1"/>
                </a:solidFill>
                <a:latin typeface="Times New Roman" panose="02020603050405020304" pitchFamily="18" charset="0"/>
                <a:cs typeface="Times New Roman" panose="02020603050405020304" pitchFamily="18" charset="0"/>
              </a:rPr>
              <a:t>Microstrip</a:t>
            </a:r>
            <a:r>
              <a:rPr lang="en-US" sz="1600" b="1" dirty="0">
                <a:solidFill>
                  <a:schemeClr val="bg1"/>
                </a:solidFill>
                <a:latin typeface="Times New Roman" panose="02020603050405020304" pitchFamily="18" charset="0"/>
                <a:cs typeface="Times New Roman" panose="02020603050405020304" pitchFamily="18" charset="0"/>
              </a:rPr>
              <a:t> Patch Antenna for 5G and </a:t>
            </a:r>
            <a:r>
              <a:rPr lang="en-US" sz="1600" b="1" dirty="0" err="1">
                <a:solidFill>
                  <a:schemeClr val="bg1"/>
                </a:solidFill>
                <a:latin typeface="Times New Roman" panose="02020603050405020304" pitchFamily="18" charset="0"/>
                <a:cs typeface="Times New Roman" panose="02020603050405020304" pitchFamily="18" charset="0"/>
              </a:rPr>
              <a:t>IoT</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6" name="Rectangle: Rounded Corners 1">
            <a:extLst>
              <a:ext uri="{FF2B5EF4-FFF2-40B4-BE49-F238E27FC236}">
                <a16:creationId xmlns:a16="http://schemas.microsoft.com/office/drawing/2014/main" id="{434D85A4-3AE9-8DD6-914A-EF1A4D5EB778}"/>
              </a:ext>
            </a:extLst>
          </p:cNvPr>
          <p:cNvSpPr/>
          <p:nvPr/>
        </p:nvSpPr>
        <p:spPr bwMode="auto">
          <a:xfrm>
            <a:off x="0" y="4735753"/>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31962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18000" decel="8200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7819" y="282611"/>
            <a:ext cx="8368363" cy="409459"/>
          </a:xfrm>
          <a:prstGeom prst="rect">
            <a:avLst/>
          </a:prstGeom>
        </p:spPr>
        <p:txBody>
          <a:bodyPr>
            <a:normAutofit fontScale="9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tx1">
                    <a:lumMod val="90000"/>
                    <a:lumOff val="10000"/>
                  </a:schemeClr>
                </a:solidFill>
                <a:latin typeface="Times New Roman" panose="02020603050405020304" pitchFamily="18" charset="0"/>
                <a:ea typeface="+mn-ea"/>
                <a:cs typeface="Times New Roman" panose="02020603050405020304" pitchFamily="18" charset="0"/>
              </a:rPr>
              <a:t>BIBLIOGRAPHY</a:t>
            </a:r>
          </a:p>
        </p:txBody>
      </p:sp>
      <p:sp>
        <p:nvSpPr>
          <p:cNvPr id="2" name="Rectangle: Rounded Corners 1">
            <a:extLst>
              <a:ext uri="{FF2B5EF4-FFF2-40B4-BE49-F238E27FC236}">
                <a16:creationId xmlns:a16="http://schemas.microsoft.com/office/drawing/2014/main" id="{98D15914-FE60-C202-B169-A8866777B4B4}"/>
              </a:ext>
            </a:extLst>
          </p:cNvPr>
          <p:cNvSpPr/>
          <p:nvPr/>
        </p:nvSpPr>
        <p:spPr bwMode="auto">
          <a:xfrm>
            <a:off x="0" y="46835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MAJOR PROJECT PHASE 1 (BEC685)</a:t>
            </a:r>
          </a:p>
        </p:txBody>
      </p:sp>
      <p:sp>
        <p:nvSpPr>
          <p:cNvPr id="5" name="TextBox 4">
            <a:extLst>
              <a:ext uri="{FF2B5EF4-FFF2-40B4-BE49-F238E27FC236}">
                <a16:creationId xmlns:a16="http://schemas.microsoft.com/office/drawing/2014/main" id="{83C49B6C-79C6-8F5E-8EB7-F420B3831E61}"/>
              </a:ext>
            </a:extLst>
          </p:cNvPr>
          <p:cNvSpPr txBox="1"/>
          <p:nvPr/>
        </p:nvSpPr>
        <p:spPr>
          <a:xfrm>
            <a:off x="228600" y="692070"/>
            <a:ext cx="8610600" cy="5447645"/>
          </a:xfrm>
          <a:prstGeom prst="rect">
            <a:avLst/>
          </a:prstGeom>
          <a:noFill/>
        </p:spPr>
        <p:txBody>
          <a:bodyPr wrap="square">
            <a:spAutoFit/>
          </a:bodyPr>
          <a:lstStyle/>
          <a:p>
            <a:pPr marL="342900" indent="-342900" algn="just">
              <a:buFontTx/>
              <a:buAutoNum type="arabicPeriod"/>
            </a:pPr>
            <a:r>
              <a:rPr lang="en-IN" sz="1200" dirty="0" err="1">
                <a:latin typeface="Times New Roman" panose="02020603050405020304" pitchFamily="18" charset="0"/>
                <a:cs typeface="Times New Roman" panose="02020603050405020304" pitchFamily="18" charset="0"/>
              </a:rPr>
              <a:t>Rashmi</a:t>
            </a:r>
            <a:r>
              <a:rPr lang="en-IN" sz="1200" dirty="0">
                <a:latin typeface="Times New Roman" panose="02020603050405020304" pitchFamily="18" charset="0"/>
                <a:cs typeface="Times New Roman" panose="02020603050405020304" pitchFamily="18" charset="0"/>
              </a:rPr>
              <a:t> N ,</a:t>
            </a:r>
            <a:r>
              <a:rPr lang="en-IN" sz="1200" dirty="0" err="1">
                <a:latin typeface="Times New Roman" panose="02020603050405020304" pitchFamily="18" charset="0"/>
                <a:cs typeface="Times New Roman" panose="02020603050405020304" pitchFamily="18" charset="0"/>
              </a:rPr>
              <a:t>Vaidyanathan</a:t>
            </a:r>
            <a:r>
              <a:rPr lang="en-IN" sz="1200" dirty="0">
                <a:latin typeface="Times New Roman" panose="02020603050405020304" pitchFamily="18" charset="0"/>
                <a:cs typeface="Times New Roman" panose="02020603050405020304" pitchFamily="18" charset="0"/>
              </a:rPr>
              <a:t> K , </a:t>
            </a:r>
            <a:r>
              <a:rPr lang="en-IN" sz="1200" dirty="0" err="1">
                <a:latin typeface="Times New Roman" panose="02020603050405020304" pitchFamily="18" charset="0"/>
                <a:cs typeface="Times New Roman" panose="02020603050405020304" pitchFamily="18" charset="0"/>
              </a:rPr>
              <a:t>Raghavendra</a:t>
            </a:r>
            <a:r>
              <a:rPr lang="en-IN" sz="1200" dirty="0">
                <a:latin typeface="Times New Roman" panose="02020603050405020304" pitchFamily="18" charset="0"/>
                <a:cs typeface="Times New Roman" panose="02020603050405020304" pitchFamily="18" charset="0"/>
              </a:rPr>
              <a:t> DS ,</a:t>
            </a:r>
            <a:r>
              <a:rPr lang="en-IN" sz="1200" dirty="0" err="1">
                <a:latin typeface="Times New Roman" panose="02020603050405020304" pitchFamily="18" charset="0"/>
                <a:cs typeface="Times New Roman" panose="02020603050405020304" pitchFamily="18" charset="0"/>
              </a:rPr>
              <a:t>Akanksha</a:t>
            </a:r>
            <a:r>
              <a:rPr lang="en-IN" sz="1200" dirty="0">
                <a:latin typeface="Times New Roman" panose="02020603050405020304" pitchFamily="18" charset="0"/>
                <a:cs typeface="Times New Roman" panose="02020603050405020304" pitchFamily="18" charset="0"/>
              </a:rPr>
              <a:t> A, "</a:t>
            </a:r>
            <a:r>
              <a:rPr lang="en-US" sz="1200" dirty="0">
                <a:latin typeface="Times New Roman" panose="02020603050405020304" pitchFamily="18" charset="0"/>
                <a:cs typeface="Times New Roman" panose="02020603050405020304" pitchFamily="18" charset="0"/>
              </a:rPr>
              <a:t>Design and Implementation of Multiband </a:t>
            </a:r>
            <a:r>
              <a:rPr lang="en-US" sz="1200" dirty="0" err="1">
                <a:latin typeface="Times New Roman" panose="02020603050405020304" pitchFamily="18" charset="0"/>
                <a:cs typeface="Times New Roman" panose="02020603050405020304" pitchFamily="18" charset="0"/>
              </a:rPr>
              <a:t>Microstrip</a:t>
            </a:r>
            <a:r>
              <a:rPr lang="en-US" sz="1200" dirty="0">
                <a:latin typeface="Times New Roman" panose="02020603050405020304" pitchFamily="18" charset="0"/>
                <a:cs typeface="Times New Roman" panose="02020603050405020304" pitchFamily="18" charset="0"/>
              </a:rPr>
              <a:t> Patch Antenna for 5G-IOT Communication System</a:t>
            </a:r>
            <a:r>
              <a:rPr lang="en-IN" sz="1200" dirty="0">
                <a:latin typeface="Times New Roman" panose="02020603050405020304" pitchFamily="18" charset="0"/>
                <a:cs typeface="Times New Roman" panose="02020603050405020304" pitchFamily="18" charset="0"/>
              </a:rPr>
              <a:t>," </a:t>
            </a:r>
          </a:p>
          <a:p>
            <a:pPr marL="342900" indent="-342900" algn="just">
              <a:buFontTx/>
              <a:buAutoNum type="arabicPeriod"/>
            </a:pPr>
            <a:r>
              <a:rPr lang="en-US" sz="1200" dirty="0">
                <a:latin typeface="Times New Roman" panose="02020603050405020304" pitchFamily="18" charset="0"/>
                <a:cs typeface="Times New Roman" panose="02020603050405020304" pitchFamily="18" charset="0"/>
              </a:rPr>
              <a:t>John </a:t>
            </a:r>
            <a:r>
              <a:rPr lang="en-US" sz="1200" dirty="0" err="1">
                <a:latin typeface="Times New Roman" panose="02020603050405020304" pitchFamily="18" charset="0"/>
                <a:cs typeface="Times New Roman" panose="02020603050405020304" pitchFamily="18" charset="0"/>
              </a:rPr>
              <a:t>Colaco</a:t>
            </a:r>
            <a:r>
              <a:rPr lang="en-US" sz="1200" dirty="0">
                <a:latin typeface="Times New Roman" panose="02020603050405020304" pitchFamily="18" charset="0"/>
                <a:cs typeface="Times New Roman" panose="02020603050405020304" pitchFamily="18" charset="0"/>
              </a:rPr>
              <a:t> and Rajesh </a:t>
            </a:r>
            <a:r>
              <a:rPr lang="en-US" sz="1200" dirty="0" err="1">
                <a:latin typeface="Times New Roman" panose="02020603050405020304" pitchFamily="18" charset="0"/>
                <a:cs typeface="Times New Roman" panose="02020603050405020304" pitchFamily="18" charset="0"/>
              </a:rPr>
              <a:t>Lohani</a:t>
            </a:r>
            <a:r>
              <a:rPr lang="en-US" sz="120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Design and Implementation of </a:t>
            </a:r>
            <a:r>
              <a:rPr lang="en-US" sz="1200" dirty="0" err="1">
                <a:latin typeface="Times New Roman" panose="02020603050405020304" pitchFamily="18" charset="0"/>
                <a:cs typeface="Times New Roman" panose="02020603050405020304" pitchFamily="18" charset="0"/>
              </a:rPr>
              <a:t>Microstrip</a:t>
            </a:r>
            <a:r>
              <a:rPr lang="en-US" sz="1200" dirty="0">
                <a:latin typeface="Times New Roman" panose="02020603050405020304" pitchFamily="18" charset="0"/>
                <a:cs typeface="Times New Roman" panose="02020603050405020304" pitchFamily="18" charset="0"/>
              </a:rPr>
              <a:t> Circular Patch Antenna for 5G </a:t>
            </a:r>
            <a:r>
              <a:rPr lang="en-IN" sz="1200" dirty="0">
                <a:latin typeface="Times New Roman" panose="02020603050405020304" pitchFamily="18" charset="0"/>
                <a:cs typeface="Times New Roman" panose="02020603050405020304" pitchFamily="18" charset="0"/>
              </a:rPr>
              <a:t>Applications.</a:t>
            </a:r>
          </a:p>
          <a:p>
            <a:pPr marL="342900" indent="-342900" algn="just">
              <a:buFontTx/>
              <a:buAutoNum type="arabicPeriod"/>
            </a:pPr>
            <a:r>
              <a:rPr lang="en-IN" sz="1200" dirty="0" err="1">
                <a:latin typeface="Times New Roman" panose="02020603050405020304" pitchFamily="18" charset="0"/>
                <a:cs typeface="Times New Roman" panose="02020603050405020304" pitchFamily="18" charset="0"/>
              </a:rPr>
              <a:t>Pasupuleti</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Swarnalatha</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VivekRajpoot</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R.V.V.Krishna“Design</a:t>
            </a:r>
            <a:r>
              <a:rPr lang="en-IN" sz="1200" dirty="0">
                <a:latin typeface="Times New Roman" panose="02020603050405020304" pitchFamily="18" charset="0"/>
                <a:cs typeface="Times New Roman" panose="02020603050405020304" pitchFamily="18" charset="0"/>
              </a:rPr>
              <a:t> and Implementation of Circular </a:t>
            </a:r>
            <a:r>
              <a:rPr lang="en-IN" sz="1200" dirty="0" err="1">
                <a:latin typeface="Times New Roman" panose="02020603050405020304" pitchFamily="18" charset="0"/>
                <a:cs typeface="Times New Roman" panose="02020603050405020304" pitchFamily="18" charset="0"/>
              </a:rPr>
              <a:t>Microstrip</a:t>
            </a:r>
            <a:r>
              <a:rPr lang="en-IN" sz="1200" dirty="0">
                <a:latin typeface="Times New Roman" panose="02020603050405020304" pitchFamily="18" charset="0"/>
                <a:cs typeface="Times New Roman" panose="02020603050405020304" pitchFamily="18" charset="0"/>
              </a:rPr>
              <a:t> Patch Array Antenna for 5G Communication using Rogers RT 5880”</a:t>
            </a:r>
          </a:p>
          <a:p>
            <a:pPr marL="342900" indent="-342900" algn="just">
              <a:buFontTx/>
              <a:buAutoNum type="arabicPeriod"/>
            </a:pPr>
            <a:r>
              <a:rPr lang="en-IN" sz="1200" dirty="0">
                <a:latin typeface="Times New Roman" panose="02020603050405020304" pitchFamily="18" charset="0"/>
                <a:cs typeface="Times New Roman" panose="02020603050405020304" pitchFamily="18" charset="0"/>
              </a:rPr>
              <a:t>Liang-Yong Yi, An-</a:t>
            </a:r>
            <a:r>
              <a:rPr lang="en-IN" sz="1200" dirty="0" err="1">
                <a:latin typeface="Times New Roman" panose="02020603050405020304" pitchFamily="18" charset="0"/>
                <a:cs typeface="Times New Roman" panose="02020603050405020304" pitchFamily="18" charset="0"/>
              </a:rPr>
              <a:t>Zi</a:t>
            </a:r>
            <a:r>
              <a:rPr lang="en-IN" sz="1200" dirty="0">
                <a:latin typeface="Times New Roman" panose="02020603050405020304" pitchFamily="18" charset="0"/>
                <a:cs typeface="Times New Roman" panose="02020603050405020304" pitchFamily="18" charset="0"/>
              </a:rPr>
              <a:t> Wang, Li Zhang, Shi Fang, </a:t>
            </a:r>
            <a:r>
              <a:rPr lang="en-IN" sz="1200" dirty="0" err="1">
                <a:latin typeface="Times New Roman" panose="02020603050405020304" pitchFamily="18" charset="0"/>
                <a:cs typeface="Times New Roman" panose="02020603050405020304" pitchFamily="18" charset="0"/>
              </a:rPr>
              <a:t>Cai</a:t>
            </a:r>
            <a:r>
              <a:rPr lang="en-IN" sz="1200" dirty="0">
                <a:latin typeface="Times New Roman" panose="02020603050405020304" pitchFamily="18" charset="0"/>
                <a:cs typeface="Times New Roman" panose="02020603050405020304" pitchFamily="18" charset="0"/>
              </a:rPr>
              <a:t>-Tao Hui “A circularly polarized </a:t>
            </a:r>
            <a:r>
              <a:rPr lang="en-IN" sz="1200" dirty="0" err="1">
                <a:latin typeface="Times New Roman" panose="02020603050405020304" pitchFamily="18" charset="0"/>
                <a:cs typeface="Times New Roman" panose="02020603050405020304" pitchFamily="18" charset="0"/>
              </a:rPr>
              <a:t>microstrip</a:t>
            </a:r>
            <a:r>
              <a:rPr lang="en-IN" sz="1200" dirty="0">
                <a:latin typeface="Times New Roman" panose="02020603050405020304" pitchFamily="18" charset="0"/>
                <a:cs typeface="Times New Roman" panose="02020603050405020304" pitchFamily="18" charset="0"/>
              </a:rPr>
              <a:t> phased array antenna for 5G communication”</a:t>
            </a:r>
          </a:p>
          <a:p>
            <a:pPr marL="342900" indent="-342900" algn="just">
              <a:buFontTx/>
              <a:buAutoNum type="arabicPeriod"/>
            </a:pPr>
            <a:r>
              <a:rPr lang="en-IN" sz="1200" dirty="0">
                <a:latin typeface="Times New Roman" panose="02020603050405020304" pitchFamily="18" charset="0"/>
                <a:cs typeface="Times New Roman" panose="02020603050405020304" pitchFamily="18" charset="0"/>
              </a:rPr>
              <a:t>Lili </a:t>
            </a:r>
            <a:r>
              <a:rPr lang="en-IN" sz="1200" dirty="0" err="1">
                <a:latin typeface="Times New Roman" panose="02020603050405020304" pitchFamily="18" charset="0"/>
                <a:cs typeface="Times New Roman" panose="02020603050405020304" pitchFamily="18" charset="0"/>
              </a:rPr>
              <a:t>Wan,Shenghai</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Chen,Ni</a:t>
            </a:r>
            <a:r>
              <a:rPr lang="en-IN" sz="1200" dirty="0">
                <a:latin typeface="Times New Roman" panose="02020603050405020304" pitchFamily="18" charset="0"/>
                <a:cs typeface="Times New Roman" panose="02020603050405020304" pitchFamily="18" charset="0"/>
              </a:rPr>
              <a:t> Zhou”</a:t>
            </a:r>
            <a:r>
              <a:rPr lang="en-US" sz="1200" dirty="0">
                <a:latin typeface="Times New Roman" panose="02020603050405020304" pitchFamily="18" charset="0"/>
                <a:cs typeface="Times New Roman" panose="02020603050405020304" pitchFamily="18" charset="0"/>
              </a:rPr>
              <a:t> Broadband Circularly Polarized Antenna Design and Simulation for 5G </a:t>
            </a:r>
            <a:r>
              <a:rPr lang="en-US" sz="1200" dirty="0" err="1">
                <a:latin typeface="Times New Roman" panose="02020603050405020304" pitchFamily="18" charset="0"/>
                <a:cs typeface="Times New Roman" panose="02020603050405020304" pitchFamily="18" charset="0"/>
              </a:rPr>
              <a:t>loTApplication</a:t>
            </a:r>
            <a:r>
              <a:rPr lang="en-US" sz="1200" dirty="0">
                <a:latin typeface="Times New Roman" panose="02020603050405020304" pitchFamily="18" charset="0"/>
                <a:cs typeface="Times New Roman" panose="02020603050405020304" pitchFamily="18" charset="0"/>
              </a:rPr>
              <a:t>”.</a:t>
            </a:r>
          </a:p>
          <a:p>
            <a:pPr marL="342900" indent="-342900" algn="just">
              <a:buFontTx/>
              <a:buAutoNum type="arabicPeriod"/>
            </a:pPr>
            <a:r>
              <a:rPr lang="en-IN" sz="1200" dirty="0" err="1">
                <a:latin typeface="Times New Roman" panose="02020603050405020304" pitchFamily="18" charset="0"/>
                <a:cs typeface="Times New Roman" panose="02020603050405020304" pitchFamily="18" charset="0"/>
              </a:rPr>
              <a:t>Syam</a:t>
            </a:r>
            <a:r>
              <a:rPr lang="en-IN" sz="1200" dirty="0">
                <a:latin typeface="Times New Roman" panose="02020603050405020304" pitchFamily="18" charset="0"/>
                <a:cs typeface="Times New Roman" panose="02020603050405020304" pitchFamily="18" charset="0"/>
              </a:rPr>
              <a:t> Sai G, </a:t>
            </a:r>
            <a:r>
              <a:rPr lang="en-IN" sz="1200" dirty="0" err="1">
                <a:latin typeface="Times New Roman" panose="02020603050405020304" pitchFamily="18" charset="0"/>
                <a:cs typeface="Times New Roman" panose="02020603050405020304" pitchFamily="18" charset="0"/>
              </a:rPr>
              <a:t>Sesha</a:t>
            </a:r>
            <a:r>
              <a:rPr lang="en-IN" sz="1200" dirty="0">
                <a:latin typeface="Times New Roman" panose="02020603050405020304" pitchFamily="18" charset="0"/>
                <a:cs typeface="Times New Roman" panose="02020603050405020304" pitchFamily="18" charset="0"/>
              </a:rPr>
              <a:t> Sai </a:t>
            </a:r>
            <a:r>
              <a:rPr lang="en-IN" sz="1200" dirty="0" err="1">
                <a:latin typeface="Times New Roman" panose="02020603050405020304" pitchFamily="18" charset="0"/>
                <a:cs typeface="Times New Roman" panose="02020603050405020304" pitchFamily="18" charset="0"/>
              </a:rPr>
              <a:t>Harshitha</a:t>
            </a:r>
            <a:r>
              <a:rPr lang="en-IN" sz="1200" dirty="0">
                <a:latin typeface="Times New Roman" panose="02020603050405020304" pitchFamily="18" charset="0"/>
                <a:cs typeface="Times New Roman" panose="02020603050405020304" pitchFamily="18" charset="0"/>
              </a:rPr>
              <a:t> K, </a:t>
            </a:r>
            <a:r>
              <a:rPr lang="en-IN" sz="1200" dirty="0" err="1">
                <a:latin typeface="Times New Roman" panose="02020603050405020304" pitchFamily="18" charset="0"/>
                <a:cs typeface="Times New Roman" panose="02020603050405020304" pitchFamily="18" charset="0"/>
              </a:rPr>
              <a:t>Praneeth</a:t>
            </a:r>
            <a:r>
              <a:rPr lang="en-IN" sz="1200" dirty="0">
                <a:latin typeface="Times New Roman" panose="02020603050405020304" pitchFamily="18" charset="0"/>
                <a:cs typeface="Times New Roman" panose="02020603050405020304" pitchFamily="18" charset="0"/>
              </a:rPr>
              <a:t> Kumar P, </a:t>
            </a:r>
            <a:r>
              <a:rPr lang="en-IN" sz="1200" dirty="0" err="1">
                <a:latin typeface="Times New Roman" panose="02020603050405020304" pitchFamily="18" charset="0"/>
                <a:cs typeface="Times New Roman" panose="02020603050405020304" pitchFamily="18" charset="0"/>
              </a:rPr>
              <a:t>Damodhar</a:t>
            </a:r>
            <a:r>
              <a:rPr lang="en-IN" sz="1200" dirty="0">
                <a:latin typeface="Times New Roman" panose="02020603050405020304" pitchFamily="18" charset="0"/>
                <a:cs typeface="Times New Roman" panose="02020603050405020304" pitchFamily="18" charset="0"/>
              </a:rPr>
              <a:t> Reddy P and </a:t>
            </a:r>
            <a:r>
              <a:rPr lang="en-IN" sz="1200" dirty="0" err="1">
                <a:latin typeface="Times New Roman" panose="02020603050405020304" pitchFamily="18" charset="0"/>
                <a:cs typeface="Times New Roman" panose="02020603050405020304" pitchFamily="18" charset="0"/>
              </a:rPr>
              <a:t>Mekaladevi</a:t>
            </a:r>
            <a:r>
              <a:rPr lang="en-IN" sz="1200" dirty="0">
                <a:latin typeface="Times New Roman" panose="02020603050405020304" pitchFamily="18" charset="0"/>
                <a:cs typeface="Times New Roman" panose="02020603050405020304" pitchFamily="18" charset="0"/>
              </a:rPr>
              <a:t> V”</a:t>
            </a:r>
            <a:r>
              <a:rPr lang="en-US" sz="1200" dirty="0">
                <a:latin typeface="Times New Roman" panose="02020603050405020304" pitchFamily="18" charset="0"/>
                <a:cs typeface="Times New Roman" panose="02020603050405020304" pitchFamily="18" charset="0"/>
              </a:rPr>
              <a:t> DGS-Based Circularly Polarized Patch Antenna with enhanced Bandwidth for 5G Application”</a:t>
            </a:r>
          </a:p>
          <a:p>
            <a:pPr marL="342900" indent="-342900" algn="just">
              <a:buFontTx/>
              <a:buAutoNum type="arabicPeriod"/>
            </a:pPr>
            <a:r>
              <a:rPr lang="en-IN" sz="1200" dirty="0" err="1">
                <a:latin typeface="Times New Roman" panose="02020603050405020304" pitchFamily="18" charset="0"/>
                <a:cs typeface="Times New Roman" panose="02020603050405020304" pitchFamily="18" charset="0"/>
              </a:rPr>
              <a:t>Rameshwar</a:t>
            </a:r>
            <a:r>
              <a:rPr lang="en-IN" sz="1200" dirty="0">
                <a:latin typeface="Times New Roman" panose="02020603050405020304" pitchFamily="18" charset="0"/>
                <a:cs typeface="Times New Roman" panose="02020603050405020304" pitchFamily="18" charset="0"/>
              </a:rPr>
              <a:t> A.’’</a:t>
            </a:r>
            <a:r>
              <a:rPr lang="en-US" sz="1200" dirty="0" err="1">
                <a:latin typeface="Times New Roman" panose="02020603050405020304" pitchFamily="18" charset="0"/>
                <a:ea typeface="Times New Roman" panose="02020603050405020304" pitchFamily="18" charset="0"/>
                <a:cs typeface="Times New Roman" panose="02020603050405020304" pitchFamily="18" charset="0"/>
              </a:rPr>
              <a:t>Microstrip</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 Patch Antenna Design and Analysis </a:t>
            </a:r>
            <a:r>
              <a:rPr lang="en-US" sz="1200" dirty="0" err="1">
                <a:latin typeface="Times New Roman" panose="02020603050405020304" pitchFamily="18" charset="0"/>
                <a:ea typeface="Times New Roman" panose="02020603050405020304" pitchFamily="18" charset="0"/>
                <a:cs typeface="Times New Roman" panose="02020603050405020304" pitchFamily="18" charset="0"/>
              </a:rPr>
              <a:t>withVarying</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 Substrates For 5G.”</a:t>
            </a:r>
          </a:p>
          <a:p>
            <a:pPr marL="342900" indent="-342900" algn="just">
              <a:buFontTx/>
              <a:buAutoNum type="arabicPeriod"/>
            </a:pPr>
            <a:r>
              <a:rPr lang="en-IN" sz="1200" dirty="0" err="1">
                <a:latin typeface="Times New Roman" panose="02020603050405020304" pitchFamily="18" charset="0"/>
                <a:cs typeface="Times New Roman" panose="02020603050405020304" pitchFamily="18" charset="0"/>
              </a:rPr>
              <a:t>Hongxin,Chenwei</a:t>
            </a:r>
            <a:r>
              <a:rPr lang="en-IN" sz="1200" dirty="0">
                <a:latin typeface="Times New Roman" panose="02020603050405020304" pitchFamily="18" charset="0"/>
                <a:cs typeface="Times New Roman" panose="02020603050405020304" pitchFamily="18" charset="0"/>
              </a:rPr>
              <a:t> Wu,</a:t>
            </a:r>
            <a:r>
              <a:rPr lang="en-IN" sz="1200" b="1" dirty="0">
                <a:latin typeface="Times New Roman" panose="02020603050405020304" pitchFamily="18" charset="0"/>
                <a:cs typeface="Times New Roman" panose="02020603050405020304" pitchFamily="18" charset="0"/>
              </a:rPr>
              <a:t> : ‘’</a:t>
            </a:r>
            <a:r>
              <a:rPr lang="en-US" sz="1200" dirty="0">
                <a:latin typeface="Times New Roman" panose="02020603050405020304" pitchFamily="18" charset="0"/>
                <a:cs typeface="Times New Roman" panose="02020603050405020304" pitchFamily="18" charset="0"/>
              </a:rPr>
              <a:t>Design and simulation of rectangular </a:t>
            </a:r>
            <a:r>
              <a:rPr lang="en-US" sz="1200" dirty="0" err="1">
                <a:latin typeface="Times New Roman" panose="02020603050405020304" pitchFamily="18" charset="0"/>
                <a:cs typeface="Times New Roman" panose="02020603050405020304" pitchFamily="18" charset="0"/>
              </a:rPr>
              <a:t>microstrip</a:t>
            </a:r>
            <a:r>
              <a:rPr lang="en-US" sz="1200" dirty="0">
                <a:latin typeface="Times New Roman" panose="02020603050405020304" pitchFamily="18" charset="0"/>
                <a:cs typeface="Times New Roman" panose="02020603050405020304" pitchFamily="18" charset="0"/>
              </a:rPr>
              <a:t> patch antenna with 5Gmm-wave Coaxial Line Back-feed and </a:t>
            </a:r>
            <a:r>
              <a:rPr lang="en-US" sz="1200" dirty="0" err="1">
                <a:latin typeface="Times New Roman" panose="02020603050405020304" pitchFamily="18" charset="0"/>
                <a:cs typeface="Times New Roman" panose="02020603050405020304" pitchFamily="18" charset="0"/>
              </a:rPr>
              <a:t>Microstrip</a:t>
            </a:r>
            <a:r>
              <a:rPr lang="en-US" sz="1200" dirty="0">
                <a:latin typeface="Times New Roman" panose="02020603050405020304" pitchFamily="18" charset="0"/>
                <a:cs typeface="Times New Roman" panose="02020603050405020304" pitchFamily="18" charset="0"/>
              </a:rPr>
              <a:t> Line side-feeds”.</a:t>
            </a:r>
          </a:p>
          <a:p>
            <a:pPr marL="342900" lvl="0" indent="-342900" algn="just">
              <a:buFontTx/>
              <a:buAutoNum type="arabicPeriod"/>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Rajeev </a:t>
            </a:r>
            <a:r>
              <a:rPr lang="en-US" sz="1200" dirty="0" err="1">
                <a:latin typeface="Times New Roman" panose="02020603050405020304" pitchFamily="18" charset="0"/>
                <a:ea typeface="Times New Roman" panose="02020603050405020304" pitchFamily="18" charset="0"/>
                <a:cs typeface="Times New Roman" panose="02020603050405020304" pitchFamily="18" charset="0"/>
              </a:rPr>
              <a:t>Verma</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ea typeface="Times New Roman" panose="02020603050405020304" pitchFamily="18" charset="0"/>
                <a:cs typeface="Times New Roman" panose="02020603050405020304" pitchFamily="18" charset="0"/>
              </a:rPr>
              <a:t>Srikant</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 Satya Sai, and Dr. Ajay Kumar Sharma, “Circularly polarized wideband Aperture Antenna for Wireless Communication”.</a:t>
            </a:r>
          </a:p>
          <a:p>
            <a:pPr marL="342900" indent="-342900" algn="just">
              <a:buFontTx/>
              <a:buAutoNum type="arabicPeriod"/>
            </a:pPr>
            <a:r>
              <a:rPr lang="en-IN" sz="1200" dirty="0" err="1">
                <a:latin typeface="Times New Roman" panose="02020603050405020304" pitchFamily="18" charset="0"/>
                <a:cs typeface="Times New Roman" panose="02020603050405020304" pitchFamily="18" charset="0"/>
              </a:rPr>
              <a:t>shuai</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Gao,wan</a:t>
            </a:r>
            <a:r>
              <a:rPr lang="en-IN" sz="1200" dirty="0">
                <a:latin typeface="Times New Roman" panose="02020603050405020304" pitchFamily="18" charset="0"/>
                <a:cs typeface="Times New Roman" panose="02020603050405020304" pitchFamily="18" charset="0"/>
              </a:rPr>
              <a:t> Jun Yang, Xin </a:t>
            </a:r>
            <a:r>
              <a:rPr lang="en-IN" sz="1200" dirty="0" err="1">
                <a:latin typeface="Times New Roman" panose="02020603050405020304" pitchFamily="18" charset="0"/>
                <a:cs typeface="Times New Roman" panose="02020603050405020304" pitchFamily="18" charset="0"/>
              </a:rPr>
              <a:t>dai</a:t>
            </a:r>
            <a:r>
              <a:rPr lang="en-IN" sz="1200" dirty="0">
                <a:latin typeface="Times New Roman" panose="02020603050405020304" pitchFamily="18" charset="0"/>
                <a:cs typeface="Times New Roman" panose="02020603050405020304" pitchFamily="18" charset="0"/>
              </a:rPr>
              <a:t> and Dong Tang</a:t>
            </a:r>
            <a:r>
              <a:rPr lang="en-IN" sz="1200" b="1"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A Self-Decoupling circularly polarized MIMO </a:t>
            </a:r>
            <a:r>
              <a:rPr lang="en-IN" sz="1200" dirty="0" err="1">
                <a:latin typeface="Times New Roman" panose="02020603050405020304" pitchFamily="18" charset="0"/>
                <a:cs typeface="Times New Roman" panose="02020603050405020304" pitchFamily="18" charset="0"/>
              </a:rPr>
              <a:t>microstrip</a:t>
            </a:r>
            <a:r>
              <a:rPr lang="en-IN" sz="1200" dirty="0">
                <a:latin typeface="Times New Roman" panose="02020603050405020304" pitchFamily="18" charset="0"/>
                <a:cs typeface="Times New Roman" panose="02020603050405020304" pitchFamily="18" charset="0"/>
              </a:rPr>
              <a:t> patch Antenna Array.”</a:t>
            </a:r>
            <a:endParaRPr lang="en-IN" sz="1200" b="1" dirty="0">
              <a:latin typeface="Times New Roman" panose="02020603050405020304" pitchFamily="18" charset="0"/>
              <a:cs typeface="Times New Roman" panose="02020603050405020304" pitchFamily="18" charset="0"/>
            </a:endParaRPr>
          </a:p>
          <a:p>
            <a:pPr marL="342900" indent="-342900" algn="just">
              <a:buFontTx/>
              <a:buAutoNum type="arabicPeriod"/>
            </a:pPr>
            <a:endParaRPr lang="en-US" sz="12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buFontTx/>
              <a:buAutoNum type="arabicPeriod"/>
            </a:pPr>
            <a:endParaRPr lang="en-US" sz="12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just">
              <a:buFontTx/>
              <a:buAutoNum type="arabicPeriod"/>
            </a:pPr>
            <a:endParaRPr lang="en-IN" sz="1200" dirty="0">
              <a:latin typeface="Times New Roman" panose="02020603050405020304" pitchFamily="18" charset="0"/>
              <a:cs typeface="Times New Roman" panose="02020603050405020304" pitchFamily="18" charset="0"/>
            </a:endParaRPr>
          </a:p>
          <a:p>
            <a:pPr marL="342900" indent="-342900" algn="just">
              <a:buFontTx/>
              <a:buAutoNum type="arabicPeriod"/>
            </a:pPr>
            <a:endParaRPr lang="en-IN" sz="1200" b="1" dirty="0">
              <a:latin typeface="Times New Roman" panose="02020603050405020304" pitchFamily="18" charset="0"/>
              <a:cs typeface="Times New Roman" panose="02020603050405020304" pitchFamily="18" charset="0"/>
            </a:endParaRPr>
          </a:p>
          <a:p>
            <a:pPr marL="342900" indent="-342900" algn="just">
              <a:buFontTx/>
              <a:buAutoNum type="arabicPeriod"/>
            </a:pPr>
            <a:endParaRPr lang="en-US" sz="12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just">
              <a:buFontTx/>
              <a:buAutoNum type="arabicPeriod"/>
            </a:pPr>
            <a:endParaRPr lang="en-US" sz="1200" b="1" dirty="0">
              <a:latin typeface="Times New Roman" panose="02020603050405020304" pitchFamily="18" charset="0"/>
              <a:cs typeface="Times New Roman" panose="02020603050405020304" pitchFamily="18" charset="0"/>
            </a:endParaRPr>
          </a:p>
          <a:p>
            <a:pPr marL="342900" lvl="0" indent="-342900" algn="just">
              <a:buFontTx/>
              <a:buAutoNum type="arabicPeriod"/>
            </a:pPr>
            <a:endParaRPr lang="en-IN" sz="1200" b="1" dirty="0">
              <a:latin typeface="Times New Roman" panose="02020603050405020304" pitchFamily="18" charset="0"/>
              <a:cs typeface="Times New Roman" panose="02020603050405020304" pitchFamily="18" charset="0"/>
            </a:endParaRPr>
          </a:p>
          <a:p>
            <a:pPr marL="342900" indent="-342900" algn="just">
              <a:buFontTx/>
              <a:buAutoNum type="arabicPeriod"/>
            </a:pPr>
            <a:endParaRPr lang="en-US" sz="1200" dirty="0">
              <a:latin typeface="Times New Roman" panose="02020603050405020304" pitchFamily="18" charset="0"/>
              <a:cs typeface="Times New Roman" panose="02020603050405020304" pitchFamily="18" charset="0"/>
            </a:endParaRPr>
          </a:p>
          <a:p>
            <a:pPr marL="342900" indent="-342900" algn="just">
              <a:buFontTx/>
              <a:buAutoNum type="arabicPeriod"/>
            </a:pPr>
            <a:endParaRPr lang="en-IN" sz="1200" dirty="0">
              <a:latin typeface="Times New Roman" panose="02020603050405020304" pitchFamily="18" charset="0"/>
              <a:cs typeface="Times New Roman" panose="02020603050405020304" pitchFamily="18" charset="0"/>
            </a:endParaRPr>
          </a:p>
          <a:p>
            <a:pPr marL="342900" indent="-342900" algn="just">
              <a:buFontTx/>
              <a:buAutoNum type="arabicPeriod"/>
            </a:pPr>
            <a:endParaRPr lang="en-US" sz="1200" dirty="0">
              <a:latin typeface="Times New Roman" panose="02020603050405020304" pitchFamily="18" charset="0"/>
              <a:cs typeface="Times New Roman" panose="02020603050405020304" pitchFamily="18" charset="0"/>
            </a:endParaRPr>
          </a:p>
          <a:p>
            <a:pPr marL="342900" indent="-342900" algn="just">
              <a:buFontTx/>
              <a:buAutoNum type="arabicPeriod"/>
            </a:pPr>
            <a:endParaRPr lang="en-IN" sz="1200" dirty="0">
              <a:latin typeface="Times New Roman" panose="02020603050405020304" pitchFamily="18" charset="0"/>
              <a:cs typeface="Times New Roman" panose="02020603050405020304" pitchFamily="18" charset="0"/>
            </a:endParaRPr>
          </a:p>
          <a:p>
            <a:pPr marL="342900" indent="-342900" algn="just">
              <a:buFontTx/>
              <a:buAutoNum type="arabicPeriod"/>
            </a:pPr>
            <a:endParaRPr lang="en-IN" sz="1200" dirty="0">
              <a:latin typeface="Times New Roman" panose="02020603050405020304" pitchFamily="18" charset="0"/>
              <a:cs typeface="Times New Roman" panose="02020603050405020304" pitchFamily="18" charset="0"/>
            </a:endParaRPr>
          </a:p>
          <a:p>
            <a:pPr marL="342900" indent="-342900" algn="just">
              <a:buFontTx/>
              <a:buAutoNum type="arabicPeriod"/>
            </a:pPr>
            <a:endParaRPr lang="en-IN" sz="1200" dirty="0">
              <a:latin typeface="Times New Roman" panose="02020603050405020304" pitchFamily="18" charset="0"/>
              <a:cs typeface="Times New Roman" panose="02020603050405020304" pitchFamily="18" charset="0"/>
            </a:endParaRPr>
          </a:p>
        </p:txBody>
      </p:sp>
      <p:sp>
        <p:nvSpPr>
          <p:cNvPr id="6" name="Rectangle: Rounded Corners 1">
            <a:extLst>
              <a:ext uri="{FF2B5EF4-FFF2-40B4-BE49-F238E27FC236}">
                <a16:creationId xmlns:a16="http://schemas.microsoft.com/office/drawing/2014/main" id="{434D85A4-3AE9-8DD6-914A-EF1A4D5EB778}"/>
              </a:ext>
            </a:extLst>
          </p:cNvPr>
          <p:cNvSpPr/>
          <p:nvPr/>
        </p:nvSpPr>
        <p:spPr bwMode="auto">
          <a:xfrm>
            <a:off x="10839" y="47284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Circularly Polarized Multi-Band </a:t>
            </a:r>
            <a:r>
              <a:rPr lang="en-US" sz="1600" b="1" dirty="0" err="1">
                <a:solidFill>
                  <a:schemeClr val="bg1"/>
                </a:solidFill>
                <a:latin typeface="Times New Roman" panose="02020603050405020304" pitchFamily="18" charset="0"/>
                <a:cs typeface="Times New Roman" panose="02020603050405020304" pitchFamily="18" charset="0"/>
              </a:rPr>
              <a:t>Microstrip</a:t>
            </a:r>
            <a:r>
              <a:rPr lang="en-US" sz="1600" b="1" dirty="0">
                <a:solidFill>
                  <a:schemeClr val="bg1"/>
                </a:solidFill>
                <a:latin typeface="Times New Roman" panose="02020603050405020304" pitchFamily="18" charset="0"/>
                <a:cs typeface="Times New Roman" panose="02020603050405020304" pitchFamily="18" charset="0"/>
              </a:rPr>
              <a:t> Patch Antenna for 5G and </a:t>
            </a:r>
            <a:r>
              <a:rPr lang="en-US" sz="1600" b="1" dirty="0" err="1">
                <a:solidFill>
                  <a:schemeClr val="bg1"/>
                </a:solidFill>
                <a:latin typeface="Times New Roman" panose="02020603050405020304" pitchFamily="18" charset="0"/>
                <a:cs typeface="Times New Roman" panose="02020603050405020304" pitchFamily="18" charset="0"/>
              </a:rPr>
              <a:t>IoT</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7" name="Rectangle: Rounded Corners 1">
            <a:extLst>
              <a:ext uri="{FF2B5EF4-FFF2-40B4-BE49-F238E27FC236}">
                <a16:creationId xmlns:a16="http://schemas.microsoft.com/office/drawing/2014/main" id="{434D85A4-3AE9-8DD6-914A-EF1A4D5EB778}"/>
              </a:ext>
            </a:extLst>
          </p:cNvPr>
          <p:cNvSpPr/>
          <p:nvPr/>
        </p:nvSpPr>
        <p:spPr bwMode="auto">
          <a:xfrm>
            <a:off x="0" y="47284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dirty="0">
                <a:solidFill>
                  <a:schemeClr val="bg1"/>
                </a:solidFill>
              </a:rPr>
              <a:t>DESIGN AND IMPLEMENTATION OF CIRCULAR MICROSTRIP PATCH ANTENNA</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3747907"/>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BABF1-015E-89CE-B36D-BDDB9F0263FB}"/>
            </a:ext>
          </a:extLst>
        </p:cNvPr>
        <p:cNvGrpSpPr/>
        <p:nvPr/>
      </p:nvGrpSpPr>
      <p:grpSpPr>
        <a:xfrm>
          <a:off x="0" y="0"/>
          <a:ext cx="0" cy="0"/>
          <a:chOff x="0" y="0"/>
          <a:chExt cx="0" cy="0"/>
        </a:xfrm>
      </p:grpSpPr>
      <p:sp>
        <p:nvSpPr>
          <p:cNvPr id="5" name="Footer Text">
            <a:extLst>
              <a:ext uri="{FF2B5EF4-FFF2-40B4-BE49-F238E27FC236}">
                <a16:creationId xmlns:a16="http://schemas.microsoft.com/office/drawing/2014/main" id="{42F88592-4703-42A6-D841-D3A2544D51F6}"/>
              </a:ext>
            </a:extLst>
          </p:cNvPr>
          <p:cNvSpPr txBox="1"/>
          <p:nvPr/>
        </p:nvSpPr>
        <p:spPr>
          <a:xfrm>
            <a:off x="2133600" y="2190750"/>
            <a:ext cx="4632960" cy="738664"/>
          </a:xfrm>
          <a:prstGeom prst="rect">
            <a:avLst/>
          </a:prstGeom>
          <a:noFill/>
        </p:spPr>
        <p:txBody>
          <a:bodyPr wrap="square" lIns="0" tIns="0" rIns="0" bIns="0" rtlCol="0">
            <a:spAutoFit/>
          </a:bodyPr>
          <a:lstStyle/>
          <a:p>
            <a:pPr algn="ctr"/>
            <a:r>
              <a:rPr lang="en-US" sz="4800" b="1" dirty="0">
                <a:latin typeface="Times New Roman" panose="02020603050405020304" pitchFamily="18" charset="0"/>
                <a:cs typeface="Times New Roman" panose="02020603050405020304" pitchFamily="18" charset="0"/>
              </a:rPr>
              <a:t>THANK YOU !</a:t>
            </a:r>
          </a:p>
        </p:txBody>
      </p:sp>
      <p:sp>
        <p:nvSpPr>
          <p:cNvPr id="2" name="Rectangle: Rounded Corners 1">
            <a:extLst>
              <a:ext uri="{FF2B5EF4-FFF2-40B4-BE49-F238E27FC236}">
                <a16:creationId xmlns:a16="http://schemas.microsoft.com/office/drawing/2014/main" id="{0E900B58-8C47-D5C6-2F02-E7A52BB7B4A0}"/>
              </a:ext>
            </a:extLst>
          </p:cNvPr>
          <p:cNvSpPr/>
          <p:nvPr/>
        </p:nvSpPr>
        <p:spPr bwMode="auto">
          <a:xfrm>
            <a:off x="0" y="46835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MAJOR PROJECT PHASE 1 (BEC685)</a:t>
            </a:r>
          </a:p>
        </p:txBody>
      </p:sp>
      <p:sp>
        <p:nvSpPr>
          <p:cNvPr id="4" name="Rectangle: Rounded Corners 1">
            <a:extLst>
              <a:ext uri="{FF2B5EF4-FFF2-40B4-BE49-F238E27FC236}">
                <a16:creationId xmlns:a16="http://schemas.microsoft.com/office/drawing/2014/main" id="{434D85A4-3AE9-8DD6-914A-EF1A4D5EB778}"/>
              </a:ext>
            </a:extLst>
          </p:cNvPr>
          <p:cNvSpPr/>
          <p:nvPr/>
        </p:nvSpPr>
        <p:spPr bwMode="auto">
          <a:xfrm>
            <a:off x="10839" y="4728479"/>
            <a:ext cx="9144000" cy="459921"/>
          </a:xfrm>
          <a:prstGeom prst="roundRect">
            <a:avLst/>
          </a:prstGeom>
          <a:solidFill>
            <a:schemeClr val="accent2"/>
          </a:solidFill>
          <a:ln w="9525">
            <a:noFill/>
            <a:round/>
            <a:headEnd/>
            <a:tailEnd/>
          </a:ln>
        </p:spPr>
        <p:txBody>
          <a:bodyPr vert="horz" wrap="square" lIns="91440" tIns="45720" rIns="91440" bIns="45720" numCol="1" rtlCol="0" anchor="t" anchorCtr="0" compatLnSpc="1">
            <a:prstTxWarp prst="textNoShape">
              <a:avLst/>
            </a:prstTxWarp>
          </a:bodyPr>
          <a:lstStyle/>
          <a:p>
            <a:r>
              <a:rPr lang="en-US" sz="1600" b="1" dirty="0">
                <a:solidFill>
                  <a:schemeClr val="bg1"/>
                </a:solidFill>
                <a:latin typeface="Times New Roman" panose="02020603050405020304" pitchFamily="18" charset="0"/>
                <a:cs typeface="Times New Roman" panose="02020603050405020304" pitchFamily="18" charset="0"/>
              </a:rPr>
              <a:t>Circularly Polarized Multi-Band </a:t>
            </a:r>
            <a:r>
              <a:rPr lang="en-US" sz="1600" b="1" dirty="0" err="1">
                <a:solidFill>
                  <a:schemeClr val="bg1"/>
                </a:solidFill>
                <a:latin typeface="Times New Roman" panose="02020603050405020304" pitchFamily="18" charset="0"/>
                <a:cs typeface="Times New Roman" panose="02020603050405020304" pitchFamily="18" charset="0"/>
              </a:rPr>
              <a:t>Microstrip</a:t>
            </a:r>
            <a:r>
              <a:rPr lang="en-US" sz="1600" b="1" dirty="0">
                <a:solidFill>
                  <a:schemeClr val="bg1"/>
                </a:solidFill>
                <a:latin typeface="Times New Roman" panose="02020603050405020304" pitchFamily="18" charset="0"/>
                <a:cs typeface="Times New Roman" panose="02020603050405020304" pitchFamily="18" charset="0"/>
              </a:rPr>
              <a:t> Patch Antenna for 5G and </a:t>
            </a:r>
            <a:r>
              <a:rPr lang="en-US" sz="1600" b="1" dirty="0" err="1">
                <a:solidFill>
                  <a:schemeClr val="bg1"/>
                </a:solidFill>
                <a:latin typeface="Times New Roman" panose="02020603050405020304" pitchFamily="18" charset="0"/>
                <a:cs typeface="Times New Roman" panose="02020603050405020304" pitchFamily="18" charset="0"/>
              </a:rPr>
              <a:t>IoT</a:t>
            </a:r>
            <a:endParaRPr lang="en-IN"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16530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80000" fill="hold" grpId="0" nodeType="afterEffect">
                                  <p:stCondLst>
                                    <p:cond delay="0"/>
                                  </p:stCondLst>
                                  <p:iterate type="wd">
                                    <p:tmPct val="10000"/>
                                  </p:iterate>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Default Theme">
  <a:themeElements>
    <a:clrScheme name="08_Key">
      <a:dk1>
        <a:srgbClr val="262626"/>
      </a:dk1>
      <a:lt1>
        <a:srgbClr val="FFFFFF"/>
      </a:lt1>
      <a:dk2>
        <a:srgbClr val="262626"/>
      </a:dk2>
      <a:lt2>
        <a:srgbClr val="FFFFFF"/>
      </a:lt2>
      <a:accent1>
        <a:srgbClr val="494B69"/>
      </a:accent1>
      <a:accent2>
        <a:srgbClr val="695D7A"/>
      </a:accent2>
      <a:accent3>
        <a:srgbClr val="9F5B72"/>
      </a:accent3>
      <a:accent4>
        <a:srgbClr val="D8707C"/>
      </a:accent4>
      <a:accent5>
        <a:srgbClr val="FDA85A"/>
      </a:accent5>
      <a:accent6>
        <a:srgbClr val="FDCD5A"/>
      </a:accent6>
      <a:hlink>
        <a:srgbClr val="FFFFFF"/>
      </a:hlink>
      <a:folHlink>
        <a:srgbClr val="595959"/>
      </a:folHlink>
    </a:clrScheme>
    <a:fontScheme name="Custom 84">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tx1"/>
        </a:solidFill>
        <a:ln w="9525">
          <a:noFill/>
          <a:round/>
          <a:headEnd/>
          <a:tailEnd/>
        </a:ln>
      </a:spPr>
      <a:bodyPr vert="horz" wrap="square" lIns="91440" tIns="45720" rIns="91440" bIns="45720" numCol="1" anchor="t" anchorCtr="0" compatLnSpc="1">
        <a:prstTxWarp prst="textNoShape">
          <a:avLst/>
        </a:prstTxWarp>
      </a:bodyPr>
      <a:lstStyle>
        <a:defPPr>
          <a:defRPr/>
        </a:defPPr>
      </a:lstStyle>
    </a:spDef>
  </a:objectDefaults>
  <a:extraClrSchemeLst/>
</a:theme>
</file>

<file path=ppt/theme/theme2.xml><?xml version="1.0" encoding="utf-8"?>
<a:theme xmlns:a="http://schemas.openxmlformats.org/drawingml/2006/main" name="Custom Design">
  <a:themeElements>
    <a:clrScheme name="08_Key">
      <a:dk1>
        <a:srgbClr val="262626"/>
      </a:dk1>
      <a:lt1>
        <a:srgbClr val="FFFFFF"/>
      </a:lt1>
      <a:dk2>
        <a:srgbClr val="262626"/>
      </a:dk2>
      <a:lt2>
        <a:srgbClr val="FFFFFF"/>
      </a:lt2>
      <a:accent1>
        <a:srgbClr val="494B69"/>
      </a:accent1>
      <a:accent2>
        <a:srgbClr val="695D7A"/>
      </a:accent2>
      <a:accent3>
        <a:srgbClr val="9F5B72"/>
      </a:accent3>
      <a:accent4>
        <a:srgbClr val="D8707C"/>
      </a:accent4>
      <a:accent5>
        <a:srgbClr val="FDA85A"/>
      </a:accent5>
      <a:accent6>
        <a:srgbClr val="FDCD5A"/>
      </a:accent6>
      <a:hlink>
        <a:srgbClr val="FFFFFF"/>
      </a:hlink>
      <a:folHlink>
        <a:srgbClr val="595959"/>
      </a:folHlink>
    </a:clrScheme>
    <a:fontScheme name="Custom 76">
      <a:majorFont>
        <a:latin typeface="Roboto"/>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20665</TotalTime>
  <Words>3789</Words>
  <Application>Microsoft Office PowerPoint</Application>
  <PresentationFormat>On-screen Show (16:9)</PresentationFormat>
  <Paragraphs>311</Paragraphs>
  <Slides>28</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28</vt:i4>
      </vt:variant>
    </vt:vector>
  </HeadingPairs>
  <TitlesOfParts>
    <vt:vector size="36" baseType="lpstr">
      <vt:lpstr>Arial</vt:lpstr>
      <vt:lpstr>Calibri</vt:lpstr>
      <vt:lpstr>Calibri Light</vt:lpstr>
      <vt:lpstr>CMR12</vt:lpstr>
      <vt:lpstr>Times New Roman</vt:lpstr>
      <vt:lpstr>Wingdings</vt:lpstr>
      <vt:lpstr>Default Theme</vt:lpstr>
      <vt:lpstr>Custom Design</vt:lpstr>
      <vt:lpstr>PowerPoint Presentation</vt:lpstr>
      <vt:lpstr>PowerPoint Presentation</vt:lpstr>
      <vt:lpstr>PowerPoint Presentation</vt:lpstr>
      <vt:lpstr>PowerPoint Presentation</vt:lpstr>
      <vt:lpstr>INTRODUCTION</vt:lpstr>
      <vt:lpstr>PowerPoint Presentation</vt:lpstr>
      <vt:lpstr>LITERATURE SURVEY</vt:lpstr>
      <vt:lpstr>LITERATURE SURVEY</vt:lpstr>
      <vt:lpstr>LITERATURE SURVEY</vt:lpstr>
      <vt:lpstr>PowerPoint Presentation</vt:lpstr>
      <vt:lpstr>LITERATURE SURVEY</vt:lpstr>
      <vt:lpstr>LITERATURE SURVEY</vt:lpstr>
      <vt:lpstr>LITERATURE SURVEY</vt:lpstr>
      <vt:lpstr>LITERATURE SURVEY</vt:lpstr>
      <vt:lpstr>LITERATURE SURVEY</vt:lpstr>
      <vt:lpstr>LITERATURE SURVEY</vt:lpstr>
      <vt:lpstr>LITERATURE SURVEY</vt:lpstr>
      <vt:lpstr>RESEARCH GAP</vt:lpstr>
      <vt:lpstr>PROBLEM STATEMENT</vt:lpstr>
      <vt:lpstr>RESEARCH OBJECTIVES</vt:lpstr>
      <vt:lpstr>TOOLS REQUIRED</vt:lpstr>
      <vt:lpstr>HFSS Project Setup &amp; Basic Modeling </vt:lpstr>
      <vt:lpstr>Results </vt:lpstr>
      <vt:lpstr>PowerPoint Presentation</vt:lpstr>
      <vt:lpstr>PowerPoint Presentation</vt:lpstr>
      <vt:lpstr>CONCLUSIONS</vt:lpstr>
      <vt:lpstr>BIBLIOGRAPHY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High Tech</dc:creator>
  <cp:lastModifiedBy>diwakarkk76@gmail.com</cp:lastModifiedBy>
  <cp:revision>1703</cp:revision>
  <dcterms:created xsi:type="dcterms:W3CDTF">2015-09-08T18:46:55Z</dcterms:created>
  <dcterms:modified xsi:type="dcterms:W3CDTF">2025-11-27T10:08:23Z</dcterms:modified>
</cp:coreProperties>
</file>